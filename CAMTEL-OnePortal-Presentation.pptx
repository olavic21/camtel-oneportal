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(1-2 min). Se présenter, présenter le projet CAMTEL-OnePortal. Poser le ton : cette présentation décrit ce qui existe RÉELLEMENT dans le code, analysé directement depuis le dépôt — pas une intention ni un cahier des charges théorique. Insister sur le double logo : le projet porte l'identité CAMTEL tout en étant un produit numérique autonome. Transition : « Pour comprendre pourquoi OnePortal existe, revenons au contexte de CAMTEL.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Situer CAMTEL comme opérateur historique. Expliquer que l'offre est aujourd'hui répartie entre plusieurs marques et portails (Blue pour le mobile, Hosting et Carrier pour l'entreprise/data center, Fiber Connect pour la fibre) — ce qui crée une expérience fragmentée. Souligner la discipline du projet : aucune statistique n'a été inventée, tout ce qui suit vient du code ou de sources publiques. Transition vers la problématique.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Dérouler les 6 irritants sans lire les cartes mot à mot — les regrouper en 2 idées : (1) le client a du mal à trouver et comparer l'offre CAMTEL, (2) les équipes internes manquent d'un outil de gestion unifié. Ces deux angles justifient directement les deux espaces d'OnePortal présentés à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que la vision se traduit en deux chaînes de valeur parallèles : côté client, du besoin jusqu'à l'assistance ; côté interne, la gestion via le back-office. C'est la même plateforme, deux points d'entrée. Transition : « Voyons qui utilise réellement ces deux espaces.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important à clarifier à l'oral : il n'y a PAS de rôle 'Visitor' au sens RBAC — c'est une requête anonyme. Le rôle minimum pour un compte est CUSTOMER. Côté back-office, insister sur la hiérarchie : SUPER_ADMIN et ADMIN ont un accès large, PRODUCT_MANAGER et EDITOR sont limités à leur domaine. VIEWER est un rôle hérité, plus jamais attribué. Ces rôles viennent directement du modèle User du code, pas d'une supposition.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4 univers sont codés en dur dans la taxonomie backend, pas une invention de présentation. Attention : 'Entreprise' n'est PAS un 5e univers — c'est un segment client transversal (on le voit à la slide segments/RBAC). Donner un exemple concret par univers si le temps le permet (ex : IP/MPLS pour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réelle prise sur l'environnement de démonstration (backend + frontend démarrés, catalogue officiel importé). Montrer la cohérence visuelle avec le logo OnePortal. Souligner que le header est le même sur tout le portail public (cohérence de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seul composant React (ServicePage) génère les 4 pages d'univers à partir des mêmes données de service — pas 4 pages codées séparément. C'est un bon exemple de qualité d'architecture frontend à souligner devant des ingénieurs.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produits réellement en base, importés depuis un snapshot officiel daté (2026-08-25) — pas des données de démonstration inventées. Le prix 'Prix sur demande' est volontaire pour les offres Carrier sans tarif public (jamais 0 FCFA).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fort à mettre en avant devant le jury : chaque fiche affiche sa source officielle et sa date de vérification (ex. CAMTEL Carrier official website, vérifié le 25 août 2026), avec un badge 'Officiel'. C'est une exigence de traçabilité des données commerciales, pas un détail cosmétique.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comparateur n'autorise que des offres du même univers — un choix produit assumé pour éviter des comparaisons non pertinentes (ex. comparer un forfait mobile à une offre data center). Les colonnes sont générées depuis un schéma de spécifications, pas des colonnes figées en 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numéro de dossier réel généré pendant l'analyse est SUB-2026-000001 (pas SUB-AAAA-NNNN comme un exemple générique) — le format vient du code generate_request_number(). Insister sur la matrice de transitions serveur : un client ne peut pas 'halluciner' un statut, chaque changement passe par une règle métier vérifiée côté Django, avec historique complet.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sensible : être très précis. Le code des providers Orange Money et MTN MoMo existe réellement (flow OAuth, appels API) — ce n'est pas du vent — mais il ne peut pas s'activer sans identifiants marchands réels, qui n'ont pas été fournis. Le provider actif par défaut est 'mock', qui simule tout le cycle. Insister sur la sécurité : le montant n'est jamais envoyé par le frontend, il est recalculé côté serveur depuis le prix du produit en base — ça évite qu'un client falsifie un montant.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fonctionnalités liées à la confiance : (1) l'assistant IA répond aux prix depuis la vraie base produit, jamais en les inventant, et signale si une source a plus de 90 jours ; (2) la vérification d'éligibilité est clairement affichée comme une simulation indicative, pas une vérification réseau réelle. C'est exactement la distinction 🟢/🔵 demandée pour les fonctionnalités sensibles.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chiffres affichés ne sont pas figés dans une maquette : 42 produits publiés, 1 souscription et 1 ticket créés pendant cette analyse apparaissent réellement ici. Le back-office central couvre catalogue, clients, souscriptions, paiements, support et qualité des données — bien au-delà d'un simple CRUD produit.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clé pour les ingénieurs présents : le RBAC n'est pas qu'un habillage d'interface. Chaque endpoint Django vérifie le rôle indépendamment de ce que montre le frontend. CUSTOMER n'a par définition aucun accès back-office. PRODUCT_MANAGER peut créer/éditer mais pas publier ni gérer les utilisateurs.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de correction important par rapport à une supposition initiale : il n'existe pas d'éditeur graphique de permissions. Le vrai mécanisme est plus sobre et plus sûr : les permissions par rôle sont figées dans le code (source de vérité unique), et le Super Admin ne fait que réassigner un rôle existant à un utilisateur via la page Utilisateurs. La page Rôles sert à consulter, pas à modifier les droits.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bouton 'Portail' en haut à droite sur la capture. Le switch est réservé aux comptes ayant accès au back-office (SUPER_ADMIN, ADMIN, PRODUCT_MANAGER, EDITOR) — un client ne voit jamais ce bouton puisqu'il n'entre jamais dans le back-office.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schéma n'est pas théorique : j'ai réellement démarré le backend Django et le frontend Vite pendant l'analyse pour vérifier que cette chaîne fonctionne de bout en bout (capture d'écrans à l'appui dans les slides précédentes). Docker Compose orchestre exactement ces 4 services, ni plus ni moins.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app Django correspond à un domaine métier isolé (bonne pratique). Le module core/ regroupe les services transverses réutilisés par plusieurs apps : permissions RBAC, paiement, IA, analytics. Utile à mentionner devant des ingénieurs : ça montre une séparation claire des responsabilités.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 plus importante pour un profil Backend/Data : le pipeline n'est pas un simple script one-shot. Il y a un vrai historique de snapshots datés, un outil de diff entre versions, une commande de validation qualité, et surtout une règle de gouvernance stricte : pas de source = pas d'import en tant qu'offre officielle. C'est ce qui garantit que les 42 produits affichés sont 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MCD volontairement simplifié pour rester lisible en soutenance — reconstruit entité par entité depuis les vrais fichiers models.py du projet (products, subscriptions, core, categories, news, promotions, contacts). Le détail complet (23 entités) est en annexe B pour qui veut creuser.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s'appuie directement sur docs/SECURITY.md et docs/PRODUCTION_READINESS.md, un tableau de bord sécurité tenu par le projet lui-même avec preuves (fichier, ligne). Le seul point non coché concerne la signature de webhook de paiement — logique puisqu'aucun provider réel n'est branché pour le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Souligner deux détails de maturité produit : (1) le choix explicite de ne jamais afficher un champ vide comme 0 ou N/A — un vrai souci de qualité perçue ; (2) la présence de composants Skeleton/EmptyState dans le code, preuve qu'on a pensé aux états intermédiaires, pas seulement au cas nominal.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Terminer sur une note honnête et confiante : le socle est solide et déjà testé (57 tests, CI complète, sécurité documentée), les prochaines étapes sont concrètes et déjà identifiées par l'équipe elle-même dans PRODUCTION_READINESS.md — ce n'est pas une roadmap vague, ce sont les cases non cochées du propre tableau de bord du projet. Ouvrir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transition — à utiliser seulement si le temps ou les questions du jury le justifient.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extraite directement des fichiers urls.py de chaque app. À utiliser si un ingénieur demande le détail des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exhaustive des 23 modèles Django du projet, avec leur app d'origine — pour répondre à une question de détail sur une entité précise.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complète des 16 permissions granulaires définies côté frontend, avec leurs rôles autorisés — reflet direct du fichier permissions.ts. Rappeler que c'est une aide à l'affichage ; la décision finale d'autorisation est toujours revérifiée côté serveur.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Arborescence simplifiée mais fidèle à la structure réelle du dépôt (dossier backend/apps/...). Utile si un ingénieur demande où se trouve telle logique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chiffres sont ceux obtenus en exécutant réellement la commande d'import pendant l'analyse du projet (pas une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versions viennent des fichiers de dépendances réels (requirements.txt, package.json), pas de mémoire générique. Utile pour une question précise sur le choix technique (ex. pourquoi Celery/Redis sont présents : tâches asynchrones, pas encore détaillées dans cette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8595360" y="-2194560"/>
            <a:ext cx="6217920" cy="6217920"/>
          </a:xfrm>
          <a:prstGeom prst="ellipse">
            <a:avLst/>
          </a:prstGeom>
          <a:solidFill>
            <a:srgbClr val="0A2C54"/>
          </a:solidFill>
          <a:ln/>
        </p:spPr>
      </p:sp>
      <p:sp>
        <p:nvSpPr>
          <p:cNvPr id="3" name="Shape 1"/>
          <p:cNvSpPr/>
          <p:nvPr/>
        </p:nvSpPr>
        <p:spPr>
          <a:xfrm>
            <a:off x="10241280" y="3108960"/>
            <a:ext cx="4023360" cy="4023360"/>
          </a:xfrm>
          <a:prstGeom prst="ellipse">
            <a:avLst/>
          </a:prstGeom>
          <a:solidFill>
            <a:srgbClr val="0B57A4"/>
          </a:solidFill>
          <a:ln/>
        </p:spPr>
      </p:sp>
      <p:pic>
        <p:nvPicPr>
          <p:cNvPr id="4" name="Image 0" descr="/home/claude/onportal_deck/assets/oneportal_logo_crop.png">    </p:cNvPr>
          <p:cNvPicPr>
            <a:picLocks noChangeAspect="1"/>
          </p:cNvPicPr>
          <p:nvPr/>
        </p:nvPicPr>
        <p:blipFill>
          <a:blip r:embed="rId1"/>
          <a:stretch>
            <a:fillRect/>
          </a:stretch>
        </p:blipFill>
        <p:spPr>
          <a:xfrm>
            <a:off x="685800" y="502920"/>
            <a:ext cx="3246120" cy="1147618"/>
          </a:xfrm>
          <a:prstGeom prst="rect">
            <a:avLst/>
          </a:prstGeom>
        </p:spPr>
      </p:pic>
      <p:sp>
        <p:nvSpPr>
          <p:cNvPr id="5" name="Text 2"/>
          <p:cNvSpPr/>
          <p:nvPr/>
        </p:nvSpPr>
        <p:spPr>
          <a:xfrm>
            <a:off x="685800" y="2331720"/>
            <a:ext cx="8412480" cy="502920"/>
          </a:xfrm>
          <a:prstGeom prst="rect">
            <a:avLst/>
          </a:prstGeom>
          <a:noFill/>
          <a:ln/>
        </p:spPr>
        <p:txBody>
          <a:bodyPr wrap="square" rtlCol="0" anchor="ctr"/>
          <a:lstStyle/>
          <a:p>
            <a:pPr indent="0" marL="0">
              <a:buNone/>
            </a:pPr>
            <a:r>
              <a:rPr lang="en-US" sz="1700" i="1" dirty="0">
                <a:solidFill>
                  <a:srgbClr val="CFE6F7"/>
                </a:solidFill>
                <a:latin typeface="Calibri" pitchFamily="34" charset="0"/>
                <a:ea typeface="Calibri" pitchFamily="34" charset="-122"/>
                <a:cs typeface="Calibri" pitchFamily="34" charset="-120"/>
              </a:rPr>
              <a:t>Le portail numérique unifié des services CAMTEL</a:t>
            </a:r>
            <a:endParaRPr lang="en-US" sz="1700" dirty="0"/>
          </a:p>
        </p:txBody>
      </p:sp>
      <p:sp>
        <p:nvSpPr>
          <p:cNvPr id="6" name="Shape 3"/>
          <p:cNvSpPr/>
          <p:nvPr/>
        </p:nvSpPr>
        <p:spPr>
          <a:xfrm>
            <a:off x="713232" y="2999232"/>
            <a:ext cx="2194560" cy="0"/>
          </a:xfrm>
          <a:prstGeom prst="line">
            <a:avLst/>
          </a:prstGeom>
          <a:noFill/>
          <a:ln w="25400">
            <a:solidFill>
              <a:srgbClr val="3E6BB0"/>
            </a:solidFill>
            <a:prstDash val="solid"/>
          </a:ln>
        </p:spPr>
      </p:sp>
      <p:sp>
        <p:nvSpPr>
          <p:cNvPr id="7" name="Text 4"/>
          <p:cNvSpPr/>
          <p:nvPr/>
        </p:nvSpPr>
        <p:spPr>
          <a:xfrm>
            <a:off x="685800" y="3182112"/>
            <a:ext cx="8686800" cy="50292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Centraliser.  Découvrir.  Souscrire.  Gérer.</a:t>
            </a:r>
            <a:endParaRPr lang="en-US" sz="2200" dirty="0"/>
          </a:p>
        </p:txBody>
      </p:sp>
      <p:sp>
        <p:nvSpPr>
          <p:cNvPr id="8" name="Text 5"/>
          <p:cNvSpPr/>
          <p:nvPr/>
        </p:nvSpPr>
        <p:spPr>
          <a:xfrm>
            <a:off x="685800" y="3977640"/>
            <a:ext cx="8869680" cy="365760"/>
          </a:xfrm>
          <a:prstGeom prst="rect">
            <a:avLst/>
          </a:prstGeom>
          <a:noFill/>
          <a:ln/>
        </p:spPr>
        <p:txBody>
          <a:bodyPr wrap="square" rtlCol="0" anchor="ctr"/>
          <a:lstStyle/>
          <a:p>
            <a:pPr indent="0" marL="0">
              <a:buNone/>
            </a:pPr>
            <a:r>
              <a:rPr lang="en-US" sz="1200" dirty="0">
                <a:solidFill>
                  <a:srgbClr val="9FB4D6"/>
                </a:solidFill>
                <a:latin typeface="Calibri" pitchFamily="34" charset="0"/>
                <a:ea typeface="Calibri" pitchFamily="34" charset="-122"/>
                <a:cs typeface="Calibri" pitchFamily="34" charset="-120"/>
              </a:rPr>
              <a:t>Soutenance technique et institutionnelle — plateforme réelle, analysée depuis le code source</a:t>
            </a:r>
            <a:endParaRPr lang="en-US" sz="1200" dirty="0"/>
          </a:p>
        </p:txBody>
      </p:sp>
      <p:sp>
        <p:nvSpPr>
          <p:cNvPr id="9" name="Shape 6"/>
          <p:cNvSpPr/>
          <p:nvPr/>
        </p:nvSpPr>
        <p:spPr>
          <a:xfrm>
            <a:off x="685800" y="4892040"/>
            <a:ext cx="10835640" cy="0"/>
          </a:xfrm>
          <a:prstGeom prst="line">
            <a:avLst/>
          </a:prstGeom>
          <a:noFill/>
          <a:ln w="12700">
            <a:solidFill>
              <a:srgbClr val="1C3F6E"/>
            </a:solidFill>
            <a:prstDash val="solid"/>
          </a:ln>
        </p:spPr>
      </p:sp>
      <p:sp>
        <p:nvSpPr>
          <p:cNvPr id="10" name="Text 7"/>
          <p:cNvSpPr/>
          <p:nvPr/>
        </p:nvSpPr>
        <p:spPr>
          <a:xfrm>
            <a:off x="685800" y="5074920"/>
            <a:ext cx="6400800" cy="274320"/>
          </a:xfrm>
          <a:prstGeom prst="rect">
            <a:avLst/>
          </a:prstGeom>
          <a:noFill/>
          <a:ln/>
        </p:spPr>
        <p:txBody>
          <a:bodyPr wrap="square" rtlCol="0" anchor="ctr"/>
          <a:lstStyle/>
          <a:p>
            <a:pPr indent="0" marL="0">
              <a:buNone/>
            </a:pPr>
            <a:r>
              <a:rPr lang="en-US" sz="1100" b="1" dirty="0">
                <a:solidFill>
                  <a:srgbClr val="9FB4D6"/>
                </a:solidFill>
                <a:latin typeface="Calibri" pitchFamily="34" charset="0"/>
                <a:ea typeface="Calibri" pitchFamily="34" charset="-122"/>
                <a:cs typeface="Calibri" pitchFamily="34" charset="-120"/>
              </a:rPr>
              <a:t>CAMTEL — Cameroon Telecommunications</a:t>
            </a:r>
            <a:endParaRPr lang="en-US" sz="1100" dirty="0"/>
          </a:p>
        </p:txBody>
      </p:sp>
      <p:sp>
        <p:nvSpPr>
          <p:cNvPr id="11" name="Text 8"/>
          <p:cNvSpPr/>
          <p:nvPr/>
        </p:nvSpPr>
        <p:spPr>
          <a:xfrm>
            <a:off x="685800" y="5349240"/>
            <a:ext cx="6400800" cy="274320"/>
          </a:xfrm>
          <a:prstGeom prst="rect">
            <a:avLst/>
          </a:prstGeom>
          <a:noFill/>
          <a:ln/>
        </p:spPr>
        <p:txBody>
          <a:bodyPr wrap="square" rtlCol="0" anchor="ctr"/>
          <a:lstStyle/>
          <a:p>
            <a:pPr indent="0" marL="0">
              <a:buNone/>
            </a:pPr>
            <a:r>
              <a:rPr lang="en-US" sz="1050" dirty="0">
                <a:solidFill>
                  <a:srgbClr val="7E97C0"/>
                </a:solidFill>
                <a:latin typeface="Calibri" pitchFamily="34" charset="0"/>
                <a:ea typeface="Calibri" pitchFamily="34" charset="-122"/>
                <a:cs typeface="Calibri" pitchFamily="34" charset="-120"/>
              </a:rPr>
              <a:t>Opérateur historique des télécommunications du Cameroun</a:t>
            </a:r>
            <a:endParaRPr lang="en-US" sz="1050" dirty="0"/>
          </a:p>
        </p:txBody>
      </p:sp>
      <p:sp>
        <p:nvSpPr>
          <p:cNvPr id="12" name="Shape 9"/>
          <p:cNvSpPr/>
          <p:nvPr/>
        </p:nvSpPr>
        <p:spPr>
          <a:xfrm>
            <a:off x="9646920" y="5074920"/>
            <a:ext cx="1874520" cy="1234440"/>
          </a:xfrm>
          <a:prstGeom prst="roundRect">
            <a:avLst>
              <a:gd name="adj" fmla="val 5926"/>
            </a:avLst>
          </a:prstGeom>
          <a:solidFill>
            <a:srgbClr val="FFFFFF"/>
          </a:solidFill>
          <a:ln/>
        </p:spPr>
      </p:sp>
      <p:pic>
        <p:nvPicPr>
          <p:cNvPr id="13" name="Image 1" descr="/home/claude/onportal_deck/assets/camtel_logo_crop.png">    </p:cNvPr>
          <p:cNvPicPr>
            <a:picLocks noChangeAspect="1"/>
          </p:cNvPicPr>
          <p:nvPr/>
        </p:nvPicPr>
        <p:blipFill>
          <a:blip r:embed="rId2"/>
          <a:stretch>
            <a:fillRect/>
          </a:stretch>
        </p:blipFill>
        <p:spPr>
          <a:xfrm>
            <a:off x="9966960" y="5230368"/>
            <a:ext cx="1234440" cy="1003420"/>
          </a:xfrm>
          <a:prstGeom prst="rect">
            <a:avLst/>
          </a:prstGeom>
        </p:spPr>
      </p:pic>
      <p:sp>
        <p:nvSpPr>
          <p:cNvPr id="14" name="Text 10"/>
          <p:cNvSpPr/>
          <p:nvPr/>
        </p:nvSpPr>
        <p:spPr>
          <a:xfrm>
            <a:off x="457200" y="6492240"/>
            <a:ext cx="6400800" cy="274320"/>
          </a:xfrm>
          <a:prstGeom prst="rect">
            <a:avLst/>
          </a:prstGeom>
          <a:noFill/>
          <a:ln/>
        </p:spPr>
        <p:txBody>
          <a:bodyPr wrap="square" rtlCol="0" anchor="ctr"/>
          <a:lstStyle/>
          <a:p>
            <a:pPr indent="0" marL="0">
              <a:buNone/>
            </a:pPr>
            <a:endParaRPr lang="en-US" sz="900" dirty="0"/>
          </a:p>
        </p:txBody>
      </p:sp>
      <p:sp>
        <p:nvSpPr>
          <p:cNvPr id="15" name="Text 11"/>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16" name="Text 12"/>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CONTEXTE</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CAMTEL et la transformation numérique</a:t>
            </a:r>
            <a:endParaRPr lang="en-US" sz="2800" dirty="0"/>
          </a:p>
        </p:txBody>
      </p:sp>
      <p:sp>
        <p:nvSpPr>
          <p:cNvPr id="4" name="Shape 2"/>
          <p:cNvSpPr/>
          <p:nvPr/>
        </p:nvSpPr>
        <p:spPr>
          <a:xfrm>
            <a:off x="548640" y="1417320"/>
            <a:ext cx="5394960" cy="4754880"/>
          </a:xfrm>
          <a:prstGeom prst="roundRect">
            <a:avLst>
              <a:gd name="adj" fmla="val 1538"/>
            </a:avLst>
          </a:prstGeom>
          <a:solidFill>
            <a:srgbClr val="F4F6F8"/>
          </a:solidFill>
          <a:ln/>
        </p:spPr>
      </p:sp>
      <p:sp>
        <p:nvSpPr>
          <p:cNvPr id="5" name="Text 3"/>
          <p:cNvSpPr/>
          <p:nvPr/>
        </p:nvSpPr>
        <p:spPr>
          <a:xfrm>
            <a:off x="868680" y="1691640"/>
            <a:ext cx="5486400" cy="274320"/>
          </a:xfrm>
          <a:prstGeom prst="rect">
            <a:avLst/>
          </a:prstGeom>
          <a:noFill/>
          <a:ln/>
        </p:spPr>
        <p:txBody>
          <a:bodyPr wrap="square" rtlCol="0" anchor="ctr"/>
          <a:lstStyle/>
          <a:p>
            <a:pPr indent="0" marL="0">
              <a:buNone/>
            </a:pPr>
            <a:r>
              <a:rPr lang="en-US" sz="1050" b="1" spc="120" kern="0" dirty="0">
                <a:solidFill>
                  <a:srgbClr val="0B57A4"/>
                </a:solidFill>
                <a:latin typeface="Calibri" pitchFamily="34" charset="0"/>
                <a:ea typeface="Calibri" pitchFamily="34" charset="-122"/>
                <a:cs typeface="Calibri" pitchFamily="34" charset="-120"/>
              </a:rPr>
              <a:t>CAMTEL AUJOURD'HUI</a:t>
            </a:r>
            <a:endParaRPr lang="en-US" sz="1050" dirty="0"/>
          </a:p>
        </p:txBody>
      </p:sp>
      <p:sp>
        <p:nvSpPr>
          <p:cNvPr id="6" name="Text 4"/>
          <p:cNvSpPr/>
          <p:nvPr/>
        </p:nvSpPr>
        <p:spPr>
          <a:xfrm>
            <a:off x="868680" y="2057400"/>
            <a:ext cx="4754880" cy="3931920"/>
          </a:xfrm>
          <a:prstGeom prst="rect">
            <a:avLst/>
          </a:prstGeom>
          <a:noFill/>
          <a:ln/>
        </p:spPr>
        <p:txBody>
          <a:bodyPr wrap="square" rtlCol="0" anchor="t"/>
          <a:lstStyle/>
          <a:p>
            <a:pPr marL="177800" indent="-177800">
              <a:spcAft>
                <a:spcPts val="1200"/>
              </a:spcAft>
              <a:buSzPct val="100000"/>
              <a:buChar char="•"/>
            </a:pPr>
            <a:r>
              <a:rPr lang="en-US" sz="1300" dirty="0">
                <a:solidFill>
                  <a:srgbClr val="1F2937"/>
                </a:solidFill>
                <a:latin typeface="Calibri" pitchFamily="34" charset="0"/>
                <a:ea typeface="Calibri" pitchFamily="34" charset="-122"/>
                <a:cs typeface="Calibri" pitchFamily="34" charset="-120"/>
              </a:rPr>
              <a:t>Opérateur historique des télécommunications du Cameroun</a:t>
            </a:r>
            <a:endParaRPr lang="en-US" sz="1300" dirty="0"/>
          </a:p>
          <a:p>
            <a:pPr marL="177800" indent="-177800">
              <a:spcAft>
                <a:spcPts val="1200"/>
              </a:spcAft>
              <a:buSzPct val="100000"/>
              <a:buChar char="•"/>
            </a:pPr>
            <a:r>
              <a:rPr lang="en-US" sz="1300" dirty="0">
                <a:solidFill>
                  <a:srgbClr val="1F2937"/>
                </a:solidFill>
                <a:latin typeface="Calibri" pitchFamily="34" charset="0"/>
                <a:ea typeface="Calibri" pitchFamily="34" charset="-122"/>
                <a:cs typeface="Calibri" pitchFamily="34" charset="-120"/>
              </a:rPr>
              <a:t>Présent sur les segments fixe, mobile, internet, et backbone national (fibre optique / transport)</a:t>
            </a:r>
            <a:endParaRPr lang="en-US" sz="1300" dirty="0"/>
          </a:p>
          <a:p>
            <a:pPr marL="177800" indent="-177800">
              <a:spcAft>
                <a:spcPts val="1200"/>
              </a:spcAft>
              <a:buSzPct val="100000"/>
              <a:buChar char="•"/>
            </a:pPr>
            <a:r>
              <a:rPr lang="en-US" sz="1300" dirty="0">
                <a:solidFill>
                  <a:srgbClr val="1F2937"/>
                </a:solidFill>
                <a:latin typeface="Calibri" pitchFamily="34" charset="0"/>
                <a:ea typeface="Calibri" pitchFamily="34" charset="-122"/>
                <a:cs typeface="Calibri" pitchFamily="34" charset="-120"/>
              </a:rPr>
              <a:t>Offre historiquement présentée sur plusieurs sites et supports distincts (portails par marque : Blue, Hosting, Carrier, Fiber Connect)</a:t>
            </a:r>
            <a:endParaRPr lang="en-US" sz="1300" dirty="0"/>
          </a:p>
        </p:txBody>
      </p:sp>
      <p:sp>
        <p:nvSpPr>
          <p:cNvPr id="7" name="Shape 5"/>
          <p:cNvSpPr/>
          <p:nvPr/>
        </p:nvSpPr>
        <p:spPr>
          <a:xfrm>
            <a:off x="6263640" y="1417320"/>
            <a:ext cx="5394960" cy="4754880"/>
          </a:xfrm>
          <a:prstGeom prst="roundRect">
            <a:avLst>
              <a:gd name="adj" fmla="val 1538"/>
            </a:avLst>
          </a:prstGeom>
          <a:solidFill>
            <a:srgbClr val="EAF3FC"/>
          </a:solidFill>
          <a:ln/>
        </p:spPr>
      </p:sp>
      <p:sp>
        <p:nvSpPr>
          <p:cNvPr id="8" name="Text 6"/>
          <p:cNvSpPr/>
          <p:nvPr/>
        </p:nvSpPr>
        <p:spPr>
          <a:xfrm>
            <a:off x="6583680" y="1691640"/>
            <a:ext cx="5486400" cy="274320"/>
          </a:xfrm>
          <a:prstGeom prst="rect">
            <a:avLst/>
          </a:prstGeom>
          <a:noFill/>
          <a:ln/>
        </p:spPr>
        <p:txBody>
          <a:bodyPr wrap="square" rtlCol="0" anchor="ctr"/>
          <a:lstStyle/>
          <a:p>
            <a:pPr indent="0" marL="0">
              <a:buNone/>
            </a:pPr>
            <a:r>
              <a:rPr lang="en-US" sz="1050" b="1" spc="120" kern="0" dirty="0">
                <a:solidFill>
                  <a:srgbClr val="0B57A4"/>
                </a:solidFill>
                <a:latin typeface="Calibri" pitchFamily="34" charset="0"/>
                <a:ea typeface="Calibri" pitchFamily="34" charset="-122"/>
                <a:cs typeface="Calibri" pitchFamily="34" charset="-120"/>
              </a:rPr>
              <a:t>ENJEUX DE LA TRANSFORMATION NUMÉRIQUE</a:t>
            </a:r>
            <a:endParaRPr lang="en-US" sz="1050" dirty="0"/>
          </a:p>
        </p:txBody>
      </p:sp>
      <p:sp>
        <p:nvSpPr>
          <p:cNvPr id="9" name="Text 7"/>
          <p:cNvSpPr/>
          <p:nvPr/>
        </p:nvSpPr>
        <p:spPr>
          <a:xfrm>
            <a:off x="6583680" y="2057400"/>
            <a:ext cx="4754880" cy="3931920"/>
          </a:xfrm>
          <a:prstGeom prst="rect">
            <a:avLst/>
          </a:prstGeom>
          <a:noFill/>
          <a:ln/>
        </p:spPr>
        <p:txBody>
          <a:bodyPr wrap="square" rtlCol="0" anchor="t"/>
          <a:lstStyle/>
          <a:p>
            <a:pPr marL="177800" indent="-177800">
              <a:spcAft>
                <a:spcPts val="1200"/>
              </a:spcAft>
              <a:buSzPct val="100000"/>
              <a:buChar char="•"/>
            </a:pPr>
            <a:r>
              <a:rPr lang="en-US" sz="1300" dirty="0">
                <a:solidFill>
                  <a:srgbClr val="1F2937"/>
                </a:solidFill>
                <a:latin typeface="Calibri" pitchFamily="34" charset="0"/>
                <a:ea typeface="Calibri" pitchFamily="34" charset="-122"/>
                <a:cs typeface="Calibri" pitchFamily="34" charset="-120"/>
              </a:rPr>
              <a:t>Multiplication des offres (fixe, mobile, transport, data center) sur des canaux séparés</a:t>
            </a:r>
            <a:endParaRPr lang="en-US" sz="1300" dirty="0"/>
          </a:p>
          <a:p>
            <a:pPr marL="177800" indent="-177800">
              <a:spcAft>
                <a:spcPts val="1200"/>
              </a:spcAft>
              <a:buSzPct val="100000"/>
              <a:buChar char="•"/>
            </a:pPr>
            <a:r>
              <a:rPr lang="en-US" sz="1300" dirty="0">
                <a:solidFill>
                  <a:srgbClr val="1F2937"/>
                </a:solidFill>
                <a:latin typeface="Calibri" pitchFamily="34" charset="0"/>
                <a:ea typeface="Calibri" pitchFamily="34" charset="-122"/>
                <a:cs typeface="Calibri" pitchFamily="34" charset="-120"/>
              </a:rPr>
              <a:t>Attente croissante d'un accès rapide, centralisé et comparable à l'information commerciale</a:t>
            </a:r>
            <a:endParaRPr lang="en-US" sz="1300" dirty="0"/>
          </a:p>
          <a:p>
            <a:pPr marL="177800" indent="-177800">
              <a:spcAft>
                <a:spcPts val="1200"/>
              </a:spcAft>
              <a:buSzPct val="100000"/>
              <a:buChar char="•"/>
            </a:pPr>
            <a:r>
              <a:rPr lang="en-US" sz="1300" dirty="0">
                <a:solidFill>
                  <a:srgbClr val="1F2937"/>
                </a:solidFill>
                <a:latin typeface="Calibri" pitchFamily="34" charset="0"/>
                <a:ea typeface="Calibri" pitchFamily="34" charset="-122"/>
                <a:cs typeface="Calibri" pitchFamily="34" charset="-120"/>
              </a:rPr>
              <a:t>Besoin d'un espace de gestion interne unifié pour les équipes produit, support et administration</a:t>
            </a:r>
            <a:endParaRPr lang="en-US" sz="1300" dirty="0"/>
          </a:p>
          <a:p>
            <a:pPr marL="177800" indent="-177800">
              <a:spcAft>
                <a:spcPts val="1200"/>
              </a:spcAft>
              <a:buSzPct val="100000"/>
              <a:buChar char="•"/>
            </a:pPr>
            <a:r>
              <a:rPr lang="en-US" sz="1300" dirty="0">
                <a:solidFill>
                  <a:srgbClr val="1F2937"/>
                </a:solidFill>
                <a:latin typeface="Calibri" pitchFamily="34" charset="0"/>
                <a:ea typeface="Calibri" pitchFamily="34" charset="-122"/>
                <a:cs typeface="Calibri" pitchFamily="34" charset="-120"/>
              </a:rPr>
              <a:t>Standard désormais attendu chez les opérateurs télécoms : catalogue en ligne, souscription et suivi digitalisés</a:t>
            </a:r>
            <a:endParaRPr lang="en-US" sz="1300" dirty="0"/>
          </a:p>
        </p:txBody>
      </p:sp>
      <p:sp>
        <p:nvSpPr>
          <p:cNvPr id="10" name="Text 8"/>
          <p:cNvSpPr/>
          <p:nvPr/>
        </p:nvSpPr>
        <p:spPr>
          <a:xfrm>
            <a:off x="548640" y="6309360"/>
            <a:ext cx="11064240" cy="365760"/>
          </a:xfrm>
          <a:prstGeom prst="rect">
            <a:avLst/>
          </a:prstGeom>
          <a:noFill/>
          <a:ln/>
        </p:spPr>
        <p:txBody>
          <a:bodyPr wrap="square"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Aucune statistique commerciale (chiffre d'affaires, nombre de clients, d'agences) n'est avancée ici : seules des données vérifiables dans le projet ou publiques sont utilisées dans cette présentation.</a:t>
            </a:r>
            <a:endParaRPr lang="en-US" sz="1000" dirty="0"/>
          </a:p>
        </p:txBody>
      </p:sp>
      <p:sp>
        <p:nvSpPr>
          <p:cNvPr id="11" name="Text 9"/>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Contexte</a:t>
            </a:r>
            <a:endParaRPr lang="en-US" sz="900" dirty="0"/>
          </a:p>
        </p:txBody>
      </p:sp>
      <p:sp>
        <p:nvSpPr>
          <p:cNvPr id="12" name="Text 10"/>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13" name="Text 11"/>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PROBLÉMATIQUE</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Les irritants auxquels OnePortal répond</a:t>
            </a:r>
            <a:endParaRPr lang="en-US" sz="2800" dirty="0"/>
          </a:p>
        </p:txBody>
      </p:sp>
      <p:sp>
        <p:nvSpPr>
          <p:cNvPr id="4" name="Shape 2"/>
          <p:cNvSpPr/>
          <p:nvPr/>
        </p:nvSpPr>
        <p:spPr>
          <a:xfrm>
            <a:off x="548640" y="1508760"/>
            <a:ext cx="3611880" cy="1783080"/>
          </a:xfrm>
          <a:prstGeom prst="roundRect">
            <a:avLst>
              <a:gd name="adj" fmla="val 4103"/>
            </a:avLst>
          </a:prstGeom>
          <a:solidFill>
            <a:srgbClr val="EAF3FC"/>
          </a:solidFill>
          <a:ln/>
        </p:spPr>
      </p:sp>
      <p:sp>
        <p:nvSpPr>
          <p:cNvPr id="5" name="Shape 3"/>
          <p:cNvSpPr/>
          <p:nvPr/>
        </p:nvSpPr>
        <p:spPr>
          <a:xfrm>
            <a:off x="777240" y="1737360"/>
            <a:ext cx="502920" cy="502920"/>
          </a:xfrm>
          <a:prstGeom prst="ellipse">
            <a:avLst/>
          </a:prstGeom>
          <a:solidFill>
            <a:srgbClr val="0A2C54"/>
          </a:solidFill>
          <a:ln/>
        </p:spPr>
      </p:sp>
      <p:sp>
        <p:nvSpPr>
          <p:cNvPr id="6" name="Text 4"/>
          <p:cNvSpPr/>
          <p:nvPr/>
        </p:nvSpPr>
        <p:spPr>
          <a:xfrm>
            <a:off x="777240" y="17373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417320" y="1691640"/>
            <a:ext cx="2560320" cy="594360"/>
          </a:xfrm>
          <a:prstGeom prst="rect">
            <a:avLst/>
          </a:prstGeom>
          <a:noFill/>
          <a:ln/>
        </p:spPr>
        <p:txBody>
          <a:bodyPr wrap="square" rtlCol="0" anchor="t"/>
          <a:lstStyle/>
          <a:p>
            <a:pPr indent="0" marL="0">
              <a:buNone/>
            </a:pPr>
            <a:r>
              <a:rPr lang="en-US" sz="1250" b="1" dirty="0">
                <a:solidFill>
                  <a:srgbClr val="0A2C54"/>
                </a:solidFill>
                <a:latin typeface="Calibri" pitchFamily="34" charset="0"/>
                <a:ea typeface="Calibri" pitchFamily="34" charset="-122"/>
                <a:cs typeface="Calibri" pitchFamily="34" charset="-120"/>
              </a:rPr>
              <a:t>Dispersion de l'information</a:t>
            </a:r>
            <a:endParaRPr lang="en-US" sz="1250" dirty="0"/>
          </a:p>
        </p:txBody>
      </p:sp>
      <p:sp>
        <p:nvSpPr>
          <p:cNvPr id="8" name="Text 6"/>
          <p:cNvSpPr/>
          <p:nvPr/>
        </p:nvSpPr>
        <p:spPr>
          <a:xfrm>
            <a:off x="777240" y="2377440"/>
            <a:ext cx="3154680" cy="822960"/>
          </a:xfrm>
          <a:prstGeom prst="rect">
            <a:avLst/>
          </a:prstGeom>
          <a:noFill/>
          <a:ln/>
        </p:spPr>
        <p:txBody>
          <a:bodyPr wrap="square"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Offres réparties entre plusieurs portails de marque (Blue, Hosting, Carrier, Fiber Connect)</a:t>
            </a:r>
            <a:endParaRPr lang="en-US" sz="1000" dirty="0"/>
          </a:p>
        </p:txBody>
      </p:sp>
      <p:sp>
        <p:nvSpPr>
          <p:cNvPr id="9" name="Shape 7"/>
          <p:cNvSpPr/>
          <p:nvPr/>
        </p:nvSpPr>
        <p:spPr>
          <a:xfrm>
            <a:off x="4389120" y="1508760"/>
            <a:ext cx="3611880" cy="1783080"/>
          </a:xfrm>
          <a:prstGeom prst="roundRect">
            <a:avLst>
              <a:gd name="adj" fmla="val 4103"/>
            </a:avLst>
          </a:prstGeom>
          <a:solidFill>
            <a:srgbClr val="EAF3FC"/>
          </a:solidFill>
          <a:ln/>
        </p:spPr>
      </p:sp>
      <p:sp>
        <p:nvSpPr>
          <p:cNvPr id="10" name="Shape 8"/>
          <p:cNvSpPr/>
          <p:nvPr/>
        </p:nvSpPr>
        <p:spPr>
          <a:xfrm>
            <a:off x="4617720" y="1737360"/>
            <a:ext cx="502920" cy="502920"/>
          </a:xfrm>
          <a:prstGeom prst="ellipse">
            <a:avLst/>
          </a:prstGeom>
          <a:solidFill>
            <a:srgbClr val="0A2C54"/>
          </a:solidFill>
          <a:ln/>
        </p:spPr>
      </p:sp>
      <p:sp>
        <p:nvSpPr>
          <p:cNvPr id="11" name="Text 9"/>
          <p:cNvSpPr/>
          <p:nvPr/>
        </p:nvSpPr>
        <p:spPr>
          <a:xfrm>
            <a:off x="4617720" y="17373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5257800" y="1691640"/>
            <a:ext cx="2560320" cy="594360"/>
          </a:xfrm>
          <a:prstGeom prst="rect">
            <a:avLst/>
          </a:prstGeom>
          <a:noFill/>
          <a:ln/>
        </p:spPr>
        <p:txBody>
          <a:bodyPr wrap="square" rtlCol="0" anchor="t"/>
          <a:lstStyle/>
          <a:p>
            <a:pPr indent="0" marL="0">
              <a:buNone/>
            </a:pPr>
            <a:r>
              <a:rPr lang="en-US" sz="1250" b="1" dirty="0">
                <a:solidFill>
                  <a:srgbClr val="0A2C54"/>
                </a:solidFill>
                <a:latin typeface="Calibri" pitchFamily="34" charset="0"/>
                <a:ea typeface="Calibri" pitchFamily="34" charset="-122"/>
                <a:cs typeface="Calibri" pitchFamily="34" charset="-120"/>
              </a:rPr>
              <a:t>Découverte difficile</a:t>
            </a:r>
            <a:endParaRPr lang="en-US" sz="1250" dirty="0"/>
          </a:p>
        </p:txBody>
      </p:sp>
      <p:sp>
        <p:nvSpPr>
          <p:cNvPr id="13" name="Text 11"/>
          <p:cNvSpPr/>
          <p:nvPr/>
        </p:nvSpPr>
        <p:spPr>
          <a:xfrm>
            <a:off x="4617720" y="2377440"/>
            <a:ext cx="3154680" cy="822960"/>
          </a:xfrm>
          <a:prstGeom prst="rect">
            <a:avLst/>
          </a:prstGeom>
          <a:noFill/>
          <a:ln/>
        </p:spPr>
        <p:txBody>
          <a:bodyPr wrap="square"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Pas de vue d'ensemble ni de recherche transverse à tous les univers de services</a:t>
            </a:r>
            <a:endParaRPr lang="en-US" sz="1000" dirty="0"/>
          </a:p>
        </p:txBody>
      </p:sp>
      <p:sp>
        <p:nvSpPr>
          <p:cNvPr id="14" name="Shape 12"/>
          <p:cNvSpPr/>
          <p:nvPr/>
        </p:nvSpPr>
        <p:spPr>
          <a:xfrm>
            <a:off x="8229600" y="1508760"/>
            <a:ext cx="3611880" cy="1783080"/>
          </a:xfrm>
          <a:prstGeom prst="roundRect">
            <a:avLst>
              <a:gd name="adj" fmla="val 4103"/>
            </a:avLst>
          </a:prstGeom>
          <a:solidFill>
            <a:srgbClr val="EAF3FC"/>
          </a:solidFill>
          <a:ln/>
        </p:spPr>
      </p:sp>
      <p:sp>
        <p:nvSpPr>
          <p:cNvPr id="15" name="Shape 13"/>
          <p:cNvSpPr/>
          <p:nvPr/>
        </p:nvSpPr>
        <p:spPr>
          <a:xfrm>
            <a:off x="8458200" y="1737360"/>
            <a:ext cx="502920" cy="502920"/>
          </a:xfrm>
          <a:prstGeom prst="ellipse">
            <a:avLst/>
          </a:prstGeom>
          <a:solidFill>
            <a:srgbClr val="0A2C54"/>
          </a:solidFill>
          <a:ln/>
        </p:spPr>
      </p:sp>
      <p:sp>
        <p:nvSpPr>
          <p:cNvPr id="16" name="Text 14"/>
          <p:cNvSpPr/>
          <p:nvPr/>
        </p:nvSpPr>
        <p:spPr>
          <a:xfrm>
            <a:off x="8458200" y="17373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9098280" y="1691640"/>
            <a:ext cx="2560320" cy="594360"/>
          </a:xfrm>
          <a:prstGeom prst="rect">
            <a:avLst/>
          </a:prstGeom>
          <a:noFill/>
          <a:ln/>
        </p:spPr>
        <p:txBody>
          <a:bodyPr wrap="square" rtlCol="0" anchor="t"/>
          <a:lstStyle/>
          <a:p>
            <a:pPr indent="0" marL="0">
              <a:buNone/>
            </a:pPr>
            <a:r>
              <a:rPr lang="en-US" sz="1250" b="1" dirty="0">
                <a:solidFill>
                  <a:srgbClr val="0A2C54"/>
                </a:solidFill>
                <a:latin typeface="Calibri" pitchFamily="34" charset="0"/>
                <a:ea typeface="Calibri" pitchFamily="34" charset="-122"/>
                <a:cs typeface="Calibri" pitchFamily="34" charset="-120"/>
              </a:rPr>
              <a:t>Comparaison limitée</a:t>
            </a:r>
            <a:endParaRPr lang="en-US" sz="1250" dirty="0"/>
          </a:p>
        </p:txBody>
      </p:sp>
      <p:sp>
        <p:nvSpPr>
          <p:cNvPr id="18" name="Text 16"/>
          <p:cNvSpPr/>
          <p:nvPr/>
        </p:nvSpPr>
        <p:spPr>
          <a:xfrm>
            <a:off x="8458200" y="2377440"/>
            <a:ext cx="3154680" cy="822960"/>
          </a:xfrm>
          <a:prstGeom prst="rect">
            <a:avLst/>
          </a:prstGeom>
          <a:noFill/>
          <a:ln/>
        </p:spPr>
        <p:txBody>
          <a:bodyPr wrap="square"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Aucun outil pour comparer plusieurs offres côte à côte avant de choisir</a:t>
            </a:r>
            <a:endParaRPr lang="en-US" sz="1000" dirty="0"/>
          </a:p>
        </p:txBody>
      </p:sp>
      <p:sp>
        <p:nvSpPr>
          <p:cNvPr id="19" name="Shape 17"/>
          <p:cNvSpPr/>
          <p:nvPr/>
        </p:nvSpPr>
        <p:spPr>
          <a:xfrm>
            <a:off x="548640" y="3520440"/>
            <a:ext cx="3611880" cy="1783080"/>
          </a:xfrm>
          <a:prstGeom prst="roundRect">
            <a:avLst>
              <a:gd name="adj" fmla="val 4103"/>
            </a:avLst>
          </a:prstGeom>
          <a:solidFill>
            <a:srgbClr val="F4F6F8"/>
          </a:solidFill>
          <a:ln/>
        </p:spPr>
      </p:sp>
      <p:sp>
        <p:nvSpPr>
          <p:cNvPr id="20" name="Shape 18"/>
          <p:cNvSpPr/>
          <p:nvPr/>
        </p:nvSpPr>
        <p:spPr>
          <a:xfrm>
            <a:off x="777240" y="3749040"/>
            <a:ext cx="502920" cy="502920"/>
          </a:xfrm>
          <a:prstGeom prst="ellipse">
            <a:avLst/>
          </a:prstGeom>
          <a:solidFill>
            <a:srgbClr val="0A2C54"/>
          </a:solidFill>
          <a:ln/>
        </p:spPr>
      </p:sp>
      <p:sp>
        <p:nvSpPr>
          <p:cNvPr id="21" name="Text 19"/>
          <p:cNvSpPr/>
          <p:nvPr/>
        </p:nvSpPr>
        <p:spPr>
          <a:xfrm>
            <a:off x="777240" y="37490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1417320" y="3703320"/>
            <a:ext cx="2560320" cy="594360"/>
          </a:xfrm>
          <a:prstGeom prst="rect">
            <a:avLst/>
          </a:prstGeom>
          <a:noFill/>
          <a:ln/>
        </p:spPr>
        <p:txBody>
          <a:bodyPr wrap="square" rtlCol="0" anchor="t"/>
          <a:lstStyle/>
          <a:p>
            <a:pPr indent="0" marL="0">
              <a:buNone/>
            </a:pPr>
            <a:r>
              <a:rPr lang="en-US" sz="1250" b="1" dirty="0">
                <a:solidFill>
                  <a:srgbClr val="0A2C54"/>
                </a:solidFill>
                <a:latin typeface="Calibri" pitchFamily="34" charset="0"/>
                <a:ea typeface="Calibri" pitchFamily="34" charset="-122"/>
                <a:cs typeface="Calibri" pitchFamily="34" charset="-120"/>
              </a:rPr>
              <a:t>Souscription peu structurée</a:t>
            </a:r>
            <a:endParaRPr lang="en-US" sz="1250" dirty="0"/>
          </a:p>
        </p:txBody>
      </p:sp>
      <p:sp>
        <p:nvSpPr>
          <p:cNvPr id="23" name="Text 21"/>
          <p:cNvSpPr/>
          <p:nvPr/>
        </p:nvSpPr>
        <p:spPr>
          <a:xfrm>
            <a:off x="777240" y="4389120"/>
            <a:ext cx="3154680" cy="822960"/>
          </a:xfrm>
          <a:prstGeom prst="rect">
            <a:avLst/>
          </a:prstGeom>
          <a:noFill/>
          <a:ln/>
        </p:spPr>
        <p:txBody>
          <a:bodyPr wrap="square"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Parcours de souscription et de suivi de dossier non centralisés ni traçables</a:t>
            </a:r>
            <a:endParaRPr lang="en-US" sz="1000" dirty="0"/>
          </a:p>
        </p:txBody>
      </p:sp>
      <p:sp>
        <p:nvSpPr>
          <p:cNvPr id="24" name="Shape 22"/>
          <p:cNvSpPr/>
          <p:nvPr/>
        </p:nvSpPr>
        <p:spPr>
          <a:xfrm>
            <a:off x="4389120" y="3520440"/>
            <a:ext cx="3611880" cy="1783080"/>
          </a:xfrm>
          <a:prstGeom prst="roundRect">
            <a:avLst>
              <a:gd name="adj" fmla="val 4103"/>
            </a:avLst>
          </a:prstGeom>
          <a:solidFill>
            <a:srgbClr val="F4F6F8"/>
          </a:solidFill>
          <a:ln/>
        </p:spPr>
      </p:sp>
      <p:sp>
        <p:nvSpPr>
          <p:cNvPr id="25" name="Shape 23"/>
          <p:cNvSpPr/>
          <p:nvPr/>
        </p:nvSpPr>
        <p:spPr>
          <a:xfrm>
            <a:off x="4617720" y="3749040"/>
            <a:ext cx="502920" cy="502920"/>
          </a:xfrm>
          <a:prstGeom prst="ellipse">
            <a:avLst/>
          </a:prstGeom>
          <a:solidFill>
            <a:srgbClr val="0A2C54"/>
          </a:solidFill>
          <a:ln/>
        </p:spPr>
      </p:sp>
      <p:sp>
        <p:nvSpPr>
          <p:cNvPr id="26" name="Text 24"/>
          <p:cNvSpPr/>
          <p:nvPr/>
        </p:nvSpPr>
        <p:spPr>
          <a:xfrm>
            <a:off x="4617720" y="37490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5257800" y="3703320"/>
            <a:ext cx="2560320" cy="594360"/>
          </a:xfrm>
          <a:prstGeom prst="rect">
            <a:avLst/>
          </a:prstGeom>
          <a:noFill/>
          <a:ln/>
        </p:spPr>
        <p:txBody>
          <a:bodyPr wrap="square" rtlCol="0" anchor="t"/>
          <a:lstStyle/>
          <a:p>
            <a:pPr indent="0" marL="0">
              <a:buNone/>
            </a:pPr>
            <a:r>
              <a:rPr lang="en-US" sz="1250" b="1" dirty="0">
                <a:solidFill>
                  <a:srgbClr val="0A2C54"/>
                </a:solidFill>
                <a:latin typeface="Calibri" pitchFamily="34" charset="0"/>
                <a:ea typeface="Calibri" pitchFamily="34" charset="-122"/>
                <a:cs typeface="Calibri" pitchFamily="34" charset="-120"/>
              </a:rPr>
              <a:t>Gestion interne cloisonnée</a:t>
            </a:r>
            <a:endParaRPr lang="en-US" sz="1250" dirty="0"/>
          </a:p>
        </p:txBody>
      </p:sp>
      <p:sp>
        <p:nvSpPr>
          <p:cNvPr id="28" name="Text 26"/>
          <p:cNvSpPr/>
          <p:nvPr/>
        </p:nvSpPr>
        <p:spPr>
          <a:xfrm>
            <a:off x="4617720" y="4389120"/>
            <a:ext cx="3154680" cy="822960"/>
          </a:xfrm>
          <a:prstGeom prst="rect">
            <a:avLst/>
          </a:prstGeom>
          <a:noFill/>
          <a:ln/>
        </p:spPr>
        <p:txBody>
          <a:bodyPr wrap="square"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Pas d'outil unique pour que les équipes gèrent catalogue, clients et support</a:t>
            </a:r>
            <a:endParaRPr lang="en-US" sz="1000" dirty="0"/>
          </a:p>
        </p:txBody>
      </p:sp>
      <p:sp>
        <p:nvSpPr>
          <p:cNvPr id="29" name="Shape 27"/>
          <p:cNvSpPr/>
          <p:nvPr/>
        </p:nvSpPr>
        <p:spPr>
          <a:xfrm>
            <a:off x="8229600" y="3520440"/>
            <a:ext cx="3611880" cy="1783080"/>
          </a:xfrm>
          <a:prstGeom prst="roundRect">
            <a:avLst>
              <a:gd name="adj" fmla="val 4103"/>
            </a:avLst>
          </a:prstGeom>
          <a:solidFill>
            <a:srgbClr val="F4F6F8"/>
          </a:solidFill>
          <a:ln/>
        </p:spPr>
      </p:sp>
      <p:sp>
        <p:nvSpPr>
          <p:cNvPr id="30" name="Shape 28"/>
          <p:cNvSpPr/>
          <p:nvPr/>
        </p:nvSpPr>
        <p:spPr>
          <a:xfrm>
            <a:off x="8458200" y="3749040"/>
            <a:ext cx="502920" cy="502920"/>
          </a:xfrm>
          <a:prstGeom prst="ellipse">
            <a:avLst/>
          </a:prstGeom>
          <a:solidFill>
            <a:srgbClr val="0A2C54"/>
          </a:solidFill>
          <a:ln/>
        </p:spPr>
      </p:sp>
      <p:sp>
        <p:nvSpPr>
          <p:cNvPr id="31" name="Text 29"/>
          <p:cNvSpPr/>
          <p:nvPr/>
        </p:nvSpPr>
        <p:spPr>
          <a:xfrm>
            <a:off x="8458200" y="37490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32" name="Text 30"/>
          <p:cNvSpPr/>
          <p:nvPr/>
        </p:nvSpPr>
        <p:spPr>
          <a:xfrm>
            <a:off x="9098280" y="3703320"/>
            <a:ext cx="2560320" cy="594360"/>
          </a:xfrm>
          <a:prstGeom prst="rect">
            <a:avLst/>
          </a:prstGeom>
          <a:noFill/>
          <a:ln/>
        </p:spPr>
        <p:txBody>
          <a:bodyPr wrap="square" rtlCol="0" anchor="t"/>
          <a:lstStyle/>
          <a:p>
            <a:pPr indent="0" marL="0">
              <a:buNone/>
            </a:pPr>
            <a:r>
              <a:rPr lang="en-US" sz="1250" b="1" dirty="0">
                <a:solidFill>
                  <a:srgbClr val="0A2C54"/>
                </a:solidFill>
                <a:latin typeface="Calibri" pitchFamily="34" charset="0"/>
                <a:ea typeface="Calibri" pitchFamily="34" charset="-122"/>
                <a:cs typeface="Calibri" pitchFamily="34" charset="-120"/>
              </a:rPr>
              <a:t>Expérience mobile perfectible</a:t>
            </a:r>
            <a:endParaRPr lang="en-US" sz="1250" dirty="0"/>
          </a:p>
        </p:txBody>
      </p:sp>
      <p:sp>
        <p:nvSpPr>
          <p:cNvPr id="33" name="Text 31"/>
          <p:cNvSpPr/>
          <p:nvPr/>
        </p:nvSpPr>
        <p:spPr>
          <a:xfrm>
            <a:off x="8458200" y="4389120"/>
            <a:ext cx="3154680" cy="822960"/>
          </a:xfrm>
          <a:prstGeom prst="rect">
            <a:avLst/>
          </a:prstGeom>
          <a:noFill/>
          <a:ln/>
        </p:spPr>
        <p:txBody>
          <a:bodyPr wrap="square" rtlCol="0" anchor="t"/>
          <a:lstStyle/>
          <a:p>
            <a:pPr indent="0" marL="0">
              <a:lnSpc>
                <a:spcPct val="105000"/>
              </a:lnSpc>
              <a:buNone/>
            </a:pPr>
            <a:r>
              <a:rPr lang="en-US" sz="1000" dirty="0">
                <a:solidFill>
                  <a:srgbClr val="1F2937"/>
                </a:solidFill>
                <a:latin typeface="Calibri" pitchFamily="34" charset="0"/>
                <a:ea typeface="Calibri" pitchFamily="34" charset="-122"/>
                <a:cs typeface="Calibri" pitchFamily="34" charset="-120"/>
              </a:rPr>
              <a:t>Une majorité d'utilisateurs accède aux services depuis un mobile</a:t>
            </a:r>
            <a:endParaRPr lang="en-US" sz="1000" dirty="0"/>
          </a:p>
        </p:txBody>
      </p:sp>
      <p:sp>
        <p:nvSpPr>
          <p:cNvPr id="34" name="Text 32"/>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Problématique</a:t>
            </a:r>
            <a:endParaRPr lang="en-US" sz="900" dirty="0"/>
          </a:p>
        </p:txBody>
      </p:sp>
      <p:sp>
        <p:nvSpPr>
          <p:cNvPr id="35" name="Text 33"/>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36" name="Text 34"/>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VISION</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Un point d'accès numérique unifié</a:t>
            </a:r>
            <a:endParaRPr lang="en-US" sz="2800" dirty="0"/>
          </a:p>
        </p:txBody>
      </p:sp>
      <p:sp>
        <p:nvSpPr>
          <p:cNvPr id="4" name="Text 2"/>
          <p:cNvSpPr/>
          <p:nvPr/>
        </p:nvSpPr>
        <p:spPr>
          <a:xfrm>
            <a:off x="548640" y="1371600"/>
            <a:ext cx="11064240" cy="457200"/>
          </a:xfrm>
          <a:prstGeom prst="rect">
            <a:avLst/>
          </a:prstGeom>
          <a:noFill/>
          <a:ln/>
        </p:spPr>
        <p:txBody>
          <a:bodyPr wrap="square" rtlCol="0" anchor="ctr"/>
          <a:lstStyle/>
          <a:p>
            <a:pPr algn="ctr" indent="0" marL="0">
              <a:buNone/>
            </a:pPr>
            <a:r>
              <a:rPr lang="en-US" sz="1500" i="1" dirty="0">
                <a:solidFill>
                  <a:srgbClr val="0A2C54"/>
                </a:solidFill>
                <a:latin typeface="Calibri" pitchFamily="34" charset="0"/>
                <a:ea typeface="Calibri" pitchFamily="34" charset="-122"/>
                <a:cs typeface="Calibri" pitchFamily="34" charset="-120"/>
              </a:rPr>
              <a:t>« Créer un point d'accès numérique unifié aux services CAMTEL. »</a:t>
            </a:r>
            <a:endParaRPr lang="en-US" sz="1500" dirty="0"/>
          </a:p>
        </p:txBody>
      </p:sp>
      <p:sp>
        <p:nvSpPr>
          <p:cNvPr id="5" name="Shape 3"/>
          <p:cNvSpPr/>
          <p:nvPr/>
        </p:nvSpPr>
        <p:spPr>
          <a:xfrm>
            <a:off x="685800" y="2057400"/>
            <a:ext cx="4937760" cy="530352"/>
          </a:xfrm>
          <a:prstGeom prst="roundRect">
            <a:avLst>
              <a:gd name="adj" fmla="val 50000"/>
            </a:avLst>
          </a:prstGeom>
          <a:solidFill>
            <a:srgbClr val="0A2C54"/>
          </a:solidFill>
          <a:ln/>
        </p:spPr>
      </p:sp>
      <p:sp>
        <p:nvSpPr>
          <p:cNvPr id="6" name="Text 4"/>
          <p:cNvSpPr/>
          <p:nvPr/>
        </p:nvSpPr>
        <p:spPr>
          <a:xfrm>
            <a:off x="685800" y="2057400"/>
            <a:ext cx="4937760" cy="53035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p:txBody>
      </p:sp>
      <p:sp>
        <p:nvSpPr>
          <p:cNvPr id="7" name="Shape 5"/>
          <p:cNvSpPr/>
          <p:nvPr/>
        </p:nvSpPr>
        <p:spPr>
          <a:xfrm rot="10800000">
            <a:off x="3054096" y="2633472"/>
            <a:ext cx="201168" cy="146304"/>
          </a:xfrm>
          <a:prstGeom prst="triangle">
            <a:avLst/>
          </a:prstGeom>
          <a:solidFill>
            <a:srgbClr val="667085"/>
          </a:solidFill>
          <a:ln/>
        </p:spPr>
      </p:sp>
      <p:sp>
        <p:nvSpPr>
          <p:cNvPr id="8" name="Shape 6"/>
          <p:cNvSpPr/>
          <p:nvPr/>
        </p:nvSpPr>
        <p:spPr>
          <a:xfrm>
            <a:off x="685800" y="2843784"/>
            <a:ext cx="4937760" cy="530352"/>
          </a:xfrm>
          <a:prstGeom prst="roundRect">
            <a:avLst>
              <a:gd name="adj" fmla="val 50000"/>
            </a:avLst>
          </a:prstGeom>
          <a:solidFill>
            <a:srgbClr val="EAF3FC"/>
          </a:solidFill>
          <a:ln/>
        </p:spPr>
      </p:sp>
      <p:sp>
        <p:nvSpPr>
          <p:cNvPr id="9" name="Text 7"/>
          <p:cNvSpPr/>
          <p:nvPr/>
        </p:nvSpPr>
        <p:spPr>
          <a:xfrm>
            <a:off x="685800" y="2843784"/>
            <a:ext cx="4937760" cy="530352"/>
          </a:xfrm>
          <a:prstGeom prst="rect">
            <a:avLst/>
          </a:prstGeom>
          <a:noFill/>
          <a:ln/>
        </p:spPr>
        <p:txBody>
          <a:bodyPr wrap="square" rtlCol="0" anchor="ctr"/>
          <a:lstStyle/>
          <a:p>
            <a:pPr algn="ctr" indent="0" marL="0">
              <a:buNone/>
            </a:pPr>
            <a:r>
              <a:rPr lang="en-US" sz="1300" b="1" dirty="0">
                <a:solidFill>
                  <a:srgbClr val="0A2C54"/>
                </a:solidFill>
                <a:latin typeface="Calibri" pitchFamily="34" charset="0"/>
                <a:ea typeface="Calibri" pitchFamily="34" charset="-122"/>
                <a:cs typeface="Calibri" pitchFamily="34" charset="-120"/>
              </a:rPr>
              <a:t>OnePortal</a:t>
            </a:r>
            <a:endParaRPr lang="en-US" sz="1300" dirty="0"/>
          </a:p>
        </p:txBody>
      </p:sp>
      <p:sp>
        <p:nvSpPr>
          <p:cNvPr id="10" name="Shape 8"/>
          <p:cNvSpPr/>
          <p:nvPr/>
        </p:nvSpPr>
        <p:spPr>
          <a:xfrm rot="10800000">
            <a:off x="3054096" y="3419856"/>
            <a:ext cx="201168" cy="146304"/>
          </a:xfrm>
          <a:prstGeom prst="triangle">
            <a:avLst/>
          </a:prstGeom>
          <a:solidFill>
            <a:srgbClr val="667085"/>
          </a:solidFill>
          <a:ln/>
        </p:spPr>
      </p:sp>
      <p:sp>
        <p:nvSpPr>
          <p:cNvPr id="11" name="Shape 9"/>
          <p:cNvSpPr/>
          <p:nvPr/>
        </p:nvSpPr>
        <p:spPr>
          <a:xfrm>
            <a:off x="685800" y="3630168"/>
            <a:ext cx="4937760" cy="530352"/>
          </a:xfrm>
          <a:prstGeom prst="roundRect">
            <a:avLst>
              <a:gd name="adj" fmla="val 50000"/>
            </a:avLst>
          </a:prstGeom>
          <a:solidFill>
            <a:srgbClr val="EAF3FC"/>
          </a:solidFill>
          <a:ln/>
        </p:spPr>
      </p:sp>
      <p:sp>
        <p:nvSpPr>
          <p:cNvPr id="12" name="Text 10"/>
          <p:cNvSpPr/>
          <p:nvPr/>
        </p:nvSpPr>
        <p:spPr>
          <a:xfrm>
            <a:off x="685800" y="3630168"/>
            <a:ext cx="4937760" cy="530352"/>
          </a:xfrm>
          <a:prstGeom prst="rect">
            <a:avLst/>
          </a:prstGeom>
          <a:noFill/>
          <a:ln/>
        </p:spPr>
        <p:txBody>
          <a:bodyPr wrap="square" rtlCol="0" anchor="ctr"/>
          <a:lstStyle/>
          <a:p>
            <a:pPr algn="ctr" indent="0" marL="0">
              <a:buNone/>
            </a:pPr>
            <a:r>
              <a:rPr lang="en-US" sz="1300" b="1" dirty="0">
                <a:solidFill>
                  <a:srgbClr val="0A2C54"/>
                </a:solidFill>
                <a:latin typeface="Calibri" pitchFamily="34" charset="0"/>
                <a:ea typeface="Calibri" pitchFamily="34" charset="-122"/>
                <a:cs typeface="Calibri" pitchFamily="34" charset="-120"/>
              </a:rPr>
              <a:t>Services</a:t>
            </a:r>
            <a:endParaRPr lang="en-US" sz="1300" dirty="0"/>
          </a:p>
        </p:txBody>
      </p:sp>
      <p:sp>
        <p:nvSpPr>
          <p:cNvPr id="13" name="Shape 11"/>
          <p:cNvSpPr/>
          <p:nvPr/>
        </p:nvSpPr>
        <p:spPr>
          <a:xfrm rot="10800000">
            <a:off x="3054096" y="4206240"/>
            <a:ext cx="201168" cy="146304"/>
          </a:xfrm>
          <a:prstGeom prst="triangle">
            <a:avLst/>
          </a:prstGeom>
          <a:solidFill>
            <a:srgbClr val="667085"/>
          </a:solidFill>
          <a:ln/>
        </p:spPr>
      </p:sp>
      <p:sp>
        <p:nvSpPr>
          <p:cNvPr id="14" name="Shape 12"/>
          <p:cNvSpPr/>
          <p:nvPr/>
        </p:nvSpPr>
        <p:spPr>
          <a:xfrm>
            <a:off x="685800" y="4416552"/>
            <a:ext cx="4937760" cy="530352"/>
          </a:xfrm>
          <a:prstGeom prst="roundRect">
            <a:avLst>
              <a:gd name="adj" fmla="val 50000"/>
            </a:avLst>
          </a:prstGeom>
          <a:solidFill>
            <a:srgbClr val="EAF3FC"/>
          </a:solidFill>
          <a:ln/>
        </p:spPr>
      </p:sp>
      <p:sp>
        <p:nvSpPr>
          <p:cNvPr id="15" name="Text 13"/>
          <p:cNvSpPr/>
          <p:nvPr/>
        </p:nvSpPr>
        <p:spPr>
          <a:xfrm>
            <a:off x="685800" y="4416552"/>
            <a:ext cx="4937760" cy="530352"/>
          </a:xfrm>
          <a:prstGeom prst="rect">
            <a:avLst/>
          </a:prstGeom>
          <a:noFill/>
          <a:ln/>
        </p:spPr>
        <p:txBody>
          <a:bodyPr wrap="square" rtlCol="0" anchor="ctr"/>
          <a:lstStyle/>
          <a:p>
            <a:pPr algn="ctr" indent="0" marL="0">
              <a:buNone/>
            </a:pPr>
            <a:r>
              <a:rPr lang="en-US" sz="1300" b="1" dirty="0">
                <a:solidFill>
                  <a:srgbClr val="0A2C54"/>
                </a:solidFill>
                <a:latin typeface="Calibri" pitchFamily="34" charset="0"/>
                <a:ea typeface="Calibri" pitchFamily="34" charset="-122"/>
                <a:cs typeface="Calibri" pitchFamily="34" charset="-120"/>
              </a:rPr>
              <a:t>Catalogue</a:t>
            </a:r>
            <a:endParaRPr lang="en-US" sz="1300" dirty="0"/>
          </a:p>
        </p:txBody>
      </p:sp>
      <p:sp>
        <p:nvSpPr>
          <p:cNvPr id="16" name="Shape 14"/>
          <p:cNvSpPr/>
          <p:nvPr/>
        </p:nvSpPr>
        <p:spPr>
          <a:xfrm rot="10800000">
            <a:off x="3054096" y="4992624"/>
            <a:ext cx="201168" cy="146304"/>
          </a:xfrm>
          <a:prstGeom prst="triangle">
            <a:avLst/>
          </a:prstGeom>
          <a:solidFill>
            <a:srgbClr val="667085"/>
          </a:solidFill>
          <a:ln/>
        </p:spPr>
      </p:sp>
      <p:sp>
        <p:nvSpPr>
          <p:cNvPr id="17" name="Shape 15"/>
          <p:cNvSpPr/>
          <p:nvPr/>
        </p:nvSpPr>
        <p:spPr>
          <a:xfrm>
            <a:off x="685800" y="5202936"/>
            <a:ext cx="4937760" cy="530352"/>
          </a:xfrm>
          <a:prstGeom prst="roundRect">
            <a:avLst>
              <a:gd name="adj" fmla="val 50000"/>
            </a:avLst>
          </a:prstGeom>
          <a:solidFill>
            <a:srgbClr val="EAF3FC"/>
          </a:solidFill>
          <a:ln/>
        </p:spPr>
      </p:sp>
      <p:sp>
        <p:nvSpPr>
          <p:cNvPr id="18" name="Text 16"/>
          <p:cNvSpPr/>
          <p:nvPr/>
        </p:nvSpPr>
        <p:spPr>
          <a:xfrm>
            <a:off x="685800" y="5202936"/>
            <a:ext cx="4937760" cy="530352"/>
          </a:xfrm>
          <a:prstGeom prst="rect">
            <a:avLst/>
          </a:prstGeom>
          <a:noFill/>
          <a:ln/>
        </p:spPr>
        <p:txBody>
          <a:bodyPr wrap="square" rtlCol="0" anchor="ctr"/>
          <a:lstStyle/>
          <a:p>
            <a:pPr algn="ctr" indent="0" marL="0">
              <a:buNone/>
            </a:pPr>
            <a:r>
              <a:rPr lang="en-US" sz="1300" b="1" dirty="0">
                <a:solidFill>
                  <a:srgbClr val="0A2C54"/>
                </a:solidFill>
                <a:latin typeface="Calibri" pitchFamily="34" charset="0"/>
                <a:ea typeface="Calibri" pitchFamily="34" charset="-122"/>
                <a:cs typeface="Calibri" pitchFamily="34" charset="-120"/>
              </a:rPr>
              <a:t>Souscription</a:t>
            </a:r>
            <a:endParaRPr lang="en-US" sz="1300" dirty="0"/>
          </a:p>
        </p:txBody>
      </p:sp>
      <p:sp>
        <p:nvSpPr>
          <p:cNvPr id="19" name="Shape 17"/>
          <p:cNvSpPr/>
          <p:nvPr/>
        </p:nvSpPr>
        <p:spPr>
          <a:xfrm rot="10800000">
            <a:off x="3054096" y="5779008"/>
            <a:ext cx="201168" cy="146304"/>
          </a:xfrm>
          <a:prstGeom prst="triangle">
            <a:avLst/>
          </a:prstGeom>
          <a:solidFill>
            <a:srgbClr val="667085"/>
          </a:solidFill>
          <a:ln/>
        </p:spPr>
      </p:sp>
      <p:sp>
        <p:nvSpPr>
          <p:cNvPr id="20" name="Shape 18"/>
          <p:cNvSpPr/>
          <p:nvPr/>
        </p:nvSpPr>
        <p:spPr>
          <a:xfrm>
            <a:off x="685800" y="5989320"/>
            <a:ext cx="4937760" cy="530352"/>
          </a:xfrm>
          <a:prstGeom prst="roundRect">
            <a:avLst>
              <a:gd name="adj" fmla="val 50000"/>
            </a:avLst>
          </a:prstGeom>
          <a:solidFill>
            <a:srgbClr val="EAF3FC"/>
          </a:solidFill>
          <a:ln/>
        </p:spPr>
      </p:sp>
      <p:sp>
        <p:nvSpPr>
          <p:cNvPr id="21" name="Text 19"/>
          <p:cNvSpPr/>
          <p:nvPr/>
        </p:nvSpPr>
        <p:spPr>
          <a:xfrm>
            <a:off x="685800" y="5989320"/>
            <a:ext cx="4937760" cy="530352"/>
          </a:xfrm>
          <a:prstGeom prst="rect">
            <a:avLst/>
          </a:prstGeom>
          <a:noFill/>
          <a:ln/>
        </p:spPr>
        <p:txBody>
          <a:bodyPr wrap="square" rtlCol="0" anchor="ctr"/>
          <a:lstStyle/>
          <a:p>
            <a:pPr algn="ctr" indent="0" marL="0">
              <a:buNone/>
            </a:pPr>
            <a:r>
              <a:rPr lang="en-US" sz="1300" b="1" dirty="0">
                <a:solidFill>
                  <a:srgbClr val="0A2C54"/>
                </a:solidFill>
                <a:latin typeface="Calibri" pitchFamily="34" charset="0"/>
                <a:ea typeface="Calibri" pitchFamily="34" charset="-122"/>
                <a:cs typeface="Calibri" pitchFamily="34" charset="-120"/>
              </a:rPr>
              <a:t>Paiement</a:t>
            </a:r>
            <a:endParaRPr lang="en-US" sz="1300" dirty="0"/>
          </a:p>
        </p:txBody>
      </p:sp>
      <p:sp>
        <p:nvSpPr>
          <p:cNvPr id="22" name="Shape 20"/>
          <p:cNvSpPr/>
          <p:nvPr/>
        </p:nvSpPr>
        <p:spPr>
          <a:xfrm rot="10800000">
            <a:off x="3054096" y="6565392"/>
            <a:ext cx="201168" cy="146304"/>
          </a:xfrm>
          <a:prstGeom prst="triangle">
            <a:avLst/>
          </a:prstGeom>
          <a:solidFill>
            <a:srgbClr val="667085"/>
          </a:solidFill>
          <a:ln/>
        </p:spPr>
      </p:sp>
      <p:sp>
        <p:nvSpPr>
          <p:cNvPr id="23" name="Shape 21"/>
          <p:cNvSpPr/>
          <p:nvPr/>
        </p:nvSpPr>
        <p:spPr>
          <a:xfrm>
            <a:off x="685800" y="6775704"/>
            <a:ext cx="4937760" cy="530352"/>
          </a:xfrm>
          <a:prstGeom prst="roundRect">
            <a:avLst>
              <a:gd name="adj" fmla="val 50000"/>
            </a:avLst>
          </a:prstGeom>
          <a:solidFill>
            <a:srgbClr val="EAF3FC"/>
          </a:solidFill>
          <a:ln/>
        </p:spPr>
      </p:sp>
      <p:sp>
        <p:nvSpPr>
          <p:cNvPr id="24" name="Text 22"/>
          <p:cNvSpPr/>
          <p:nvPr/>
        </p:nvSpPr>
        <p:spPr>
          <a:xfrm>
            <a:off x="685800" y="6775704"/>
            <a:ext cx="4937760" cy="530352"/>
          </a:xfrm>
          <a:prstGeom prst="rect">
            <a:avLst/>
          </a:prstGeom>
          <a:noFill/>
          <a:ln/>
        </p:spPr>
        <p:txBody>
          <a:bodyPr wrap="square" rtlCol="0" anchor="ctr"/>
          <a:lstStyle/>
          <a:p>
            <a:pPr algn="ctr" indent="0" marL="0">
              <a:buNone/>
            </a:pPr>
            <a:r>
              <a:rPr lang="en-US" sz="1300" b="1" dirty="0">
                <a:solidFill>
                  <a:srgbClr val="0A2C54"/>
                </a:solidFill>
                <a:latin typeface="Calibri" pitchFamily="34" charset="0"/>
                <a:ea typeface="Calibri" pitchFamily="34" charset="-122"/>
                <a:cs typeface="Calibri" pitchFamily="34" charset="-120"/>
              </a:rPr>
              <a:t>Assistance</a:t>
            </a:r>
            <a:endParaRPr lang="en-US" sz="1300" dirty="0"/>
          </a:p>
        </p:txBody>
      </p:sp>
      <p:sp>
        <p:nvSpPr>
          <p:cNvPr id="25" name="Shape 23"/>
          <p:cNvSpPr/>
          <p:nvPr/>
        </p:nvSpPr>
        <p:spPr>
          <a:xfrm>
            <a:off x="6537960" y="2057400"/>
            <a:ext cx="4937760" cy="530352"/>
          </a:xfrm>
          <a:prstGeom prst="roundRect">
            <a:avLst>
              <a:gd name="adj" fmla="val 50000"/>
            </a:avLst>
          </a:prstGeom>
          <a:solidFill>
            <a:srgbClr val="0A2C54"/>
          </a:solidFill>
          <a:ln/>
        </p:spPr>
      </p:sp>
      <p:sp>
        <p:nvSpPr>
          <p:cNvPr id="26" name="Text 24"/>
          <p:cNvSpPr/>
          <p:nvPr/>
        </p:nvSpPr>
        <p:spPr>
          <a:xfrm>
            <a:off x="6537960" y="2057400"/>
            <a:ext cx="4937760" cy="53035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OnePortal</a:t>
            </a:r>
            <a:endParaRPr lang="en-US" sz="1300" dirty="0"/>
          </a:p>
        </p:txBody>
      </p:sp>
      <p:sp>
        <p:nvSpPr>
          <p:cNvPr id="27" name="Shape 25"/>
          <p:cNvSpPr/>
          <p:nvPr/>
        </p:nvSpPr>
        <p:spPr>
          <a:xfrm rot="10800000">
            <a:off x="8906256" y="2633472"/>
            <a:ext cx="201168" cy="146304"/>
          </a:xfrm>
          <a:prstGeom prst="triangle">
            <a:avLst/>
          </a:prstGeom>
          <a:solidFill>
            <a:srgbClr val="667085"/>
          </a:solidFill>
          <a:ln/>
        </p:spPr>
      </p:sp>
      <p:sp>
        <p:nvSpPr>
          <p:cNvPr id="28" name="Shape 26"/>
          <p:cNvSpPr/>
          <p:nvPr/>
        </p:nvSpPr>
        <p:spPr>
          <a:xfrm>
            <a:off x="6537960" y="2843784"/>
            <a:ext cx="4937760" cy="530352"/>
          </a:xfrm>
          <a:prstGeom prst="roundRect">
            <a:avLst>
              <a:gd name="adj" fmla="val 50000"/>
            </a:avLst>
          </a:prstGeom>
          <a:solidFill>
            <a:srgbClr val="F4F6F8"/>
          </a:solidFill>
          <a:ln/>
        </p:spPr>
      </p:sp>
      <p:sp>
        <p:nvSpPr>
          <p:cNvPr id="29" name="Text 27"/>
          <p:cNvSpPr/>
          <p:nvPr/>
        </p:nvSpPr>
        <p:spPr>
          <a:xfrm>
            <a:off x="6537960" y="2843784"/>
            <a:ext cx="4937760" cy="530352"/>
          </a:xfrm>
          <a:prstGeom prst="rect">
            <a:avLst/>
          </a:prstGeom>
          <a:noFill/>
          <a:ln/>
        </p:spPr>
        <p:txBody>
          <a:bodyPr wrap="square" rtlCol="0" anchor="ctr"/>
          <a:lstStyle/>
          <a:p>
            <a:pPr algn="ctr" indent="0" marL="0">
              <a:buNone/>
            </a:pPr>
            <a:r>
              <a:rPr lang="en-US" sz="1300" b="1" dirty="0">
                <a:solidFill>
                  <a:srgbClr val="0A2C54"/>
                </a:solidFill>
                <a:latin typeface="Calibri" pitchFamily="34" charset="0"/>
                <a:ea typeface="Calibri" pitchFamily="34" charset="-122"/>
                <a:cs typeface="Calibri" pitchFamily="34" charset="-120"/>
              </a:rPr>
              <a:t>Back-office</a:t>
            </a:r>
            <a:endParaRPr lang="en-US" sz="1300" dirty="0"/>
          </a:p>
        </p:txBody>
      </p:sp>
      <p:sp>
        <p:nvSpPr>
          <p:cNvPr id="30" name="Shape 28"/>
          <p:cNvSpPr/>
          <p:nvPr/>
        </p:nvSpPr>
        <p:spPr>
          <a:xfrm rot="10800000">
            <a:off x="8906256" y="3419856"/>
            <a:ext cx="201168" cy="146304"/>
          </a:xfrm>
          <a:prstGeom prst="triangle">
            <a:avLst/>
          </a:prstGeom>
          <a:solidFill>
            <a:srgbClr val="667085"/>
          </a:solidFill>
          <a:ln/>
        </p:spPr>
      </p:sp>
      <p:sp>
        <p:nvSpPr>
          <p:cNvPr id="31" name="Shape 29"/>
          <p:cNvSpPr/>
          <p:nvPr/>
        </p:nvSpPr>
        <p:spPr>
          <a:xfrm>
            <a:off x="6537960" y="3630168"/>
            <a:ext cx="4937760" cy="530352"/>
          </a:xfrm>
          <a:prstGeom prst="roundRect">
            <a:avLst>
              <a:gd name="adj" fmla="val 50000"/>
            </a:avLst>
          </a:prstGeom>
          <a:solidFill>
            <a:srgbClr val="F4F6F8"/>
          </a:solidFill>
          <a:ln/>
        </p:spPr>
      </p:sp>
      <p:sp>
        <p:nvSpPr>
          <p:cNvPr id="32" name="Text 30"/>
          <p:cNvSpPr/>
          <p:nvPr/>
        </p:nvSpPr>
        <p:spPr>
          <a:xfrm>
            <a:off x="6537960" y="3630168"/>
            <a:ext cx="4937760" cy="530352"/>
          </a:xfrm>
          <a:prstGeom prst="rect">
            <a:avLst/>
          </a:prstGeom>
          <a:noFill/>
          <a:ln/>
        </p:spPr>
        <p:txBody>
          <a:bodyPr wrap="square" rtlCol="0" anchor="ctr"/>
          <a:lstStyle/>
          <a:p>
            <a:pPr algn="ctr" indent="0" marL="0">
              <a:buNone/>
            </a:pPr>
            <a:r>
              <a:rPr lang="en-US" sz="1300" b="1" dirty="0">
                <a:solidFill>
                  <a:srgbClr val="0A2C54"/>
                </a:solidFill>
                <a:latin typeface="Calibri" pitchFamily="34" charset="0"/>
                <a:ea typeface="Calibri" pitchFamily="34" charset="-122"/>
                <a:cs typeface="Calibri" pitchFamily="34" charset="-120"/>
              </a:rPr>
              <a:t>Gestion interne</a:t>
            </a:r>
            <a:endParaRPr lang="en-US" sz="1300" dirty="0"/>
          </a:p>
        </p:txBody>
      </p:sp>
      <p:sp>
        <p:nvSpPr>
          <p:cNvPr id="33" name="Text 31"/>
          <p:cNvSpPr/>
          <p:nvPr/>
        </p:nvSpPr>
        <p:spPr>
          <a:xfrm>
            <a:off x="6537960" y="5349240"/>
            <a:ext cx="4937760" cy="365760"/>
          </a:xfrm>
          <a:prstGeom prst="rect">
            <a:avLst/>
          </a:prstGeom>
          <a:noFill/>
          <a:ln/>
        </p:spPr>
        <p:txBody>
          <a:bodyPr wrap="square" rtlCol="0" anchor="ctr"/>
          <a:lstStyle/>
          <a:p>
            <a:pPr algn="ctr" indent="0" marL="0">
              <a:buNone/>
            </a:pPr>
            <a:r>
              <a:rPr lang="en-US" sz="1150" i="1" dirty="0">
                <a:solidFill>
                  <a:srgbClr val="667085"/>
                </a:solidFill>
                <a:latin typeface="Calibri" pitchFamily="34" charset="0"/>
                <a:ea typeface="Calibri" pitchFamily="34" charset="-122"/>
                <a:cs typeface="Calibri" pitchFamily="34" charset="-120"/>
              </a:rPr>
              <a:t>Deux parcours, une seule plateforme</a:t>
            </a:r>
            <a:endParaRPr lang="en-US" sz="1150" dirty="0"/>
          </a:p>
        </p:txBody>
      </p:sp>
      <p:sp>
        <p:nvSpPr>
          <p:cNvPr id="34" name="Text 32"/>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Vision</a:t>
            </a:r>
            <a:endParaRPr lang="en-US" sz="900" dirty="0"/>
          </a:p>
        </p:txBody>
      </p:sp>
      <p:sp>
        <p:nvSpPr>
          <p:cNvPr id="35" name="Text 33"/>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36" name="Text 34"/>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UTILISATEURS</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Profils réels du système (RBAC)</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548640" y="1417320"/>
            <a:ext cx="5394960" cy="4754880"/>
          </a:xfrm>
          <a:prstGeom prst="roundRect">
            <a:avLst>
              <a:gd name="adj" fmla="val 1538"/>
            </a:avLst>
          </a:prstGeom>
          <a:solidFill>
            <a:srgbClr val="EAF3FC"/>
          </a:solidFill>
          <a:ln/>
        </p:spPr>
      </p:sp>
      <p:sp>
        <p:nvSpPr>
          <p:cNvPr id="7" name="Text 5"/>
          <p:cNvSpPr/>
          <p:nvPr/>
        </p:nvSpPr>
        <p:spPr>
          <a:xfrm>
            <a:off x="868680" y="1645920"/>
            <a:ext cx="4572000" cy="365760"/>
          </a:xfrm>
          <a:prstGeom prst="rect">
            <a:avLst/>
          </a:prstGeom>
          <a:noFill/>
          <a:ln/>
        </p:spPr>
        <p:txBody>
          <a:bodyPr wrap="square" rtlCol="0" anchor="ctr"/>
          <a:lstStyle/>
          <a:p>
            <a:pPr indent="0" marL="0">
              <a:buNone/>
            </a:pPr>
            <a:r>
              <a:rPr lang="en-US" sz="1600" b="1" dirty="0">
                <a:solidFill>
                  <a:srgbClr val="0A2C54"/>
                </a:solidFill>
                <a:latin typeface="Cambria" pitchFamily="34" charset="0"/>
                <a:ea typeface="Cambria" pitchFamily="34" charset="-122"/>
                <a:cs typeface="Cambria" pitchFamily="34" charset="-120"/>
              </a:rPr>
              <a:t>Portail public</a:t>
            </a:r>
            <a:endParaRPr lang="en-US" sz="1600" dirty="0"/>
          </a:p>
        </p:txBody>
      </p:sp>
      <p:sp>
        <p:nvSpPr>
          <p:cNvPr id="8" name="Text 6"/>
          <p:cNvSpPr/>
          <p:nvPr/>
        </p:nvSpPr>
        <p:spPr>
          <a:xfrm>
            <a:off x="868680" y="2148840"/>
            <a:ext cx="4754880" cy="274320"/>
          </a:xfrm>
          <a:prstGeom prst="rect">
            <a:avLst/>
          </a:prstGeom>
          <a:noFill/>
          <a:ln/>
        </p:spPr>
        <p:txBody>
          <a:bodyPr wrap="square" rtlCol="0" anchor="ctr"/>
          <a:lstStyle/>
          <a:p>
            <a:pPr indent="0" marL="0">
              <a:buNone/>
            </a:pPr>
            <a:r>
              <a:rPr lang="en-US" sz="1300" b="1" dirty="0">
                <a:solidFill>
                  <a:srgbClr val="0A2C54"/>
                </a:solidFill>
                <a:latin typeface="Calibri" pitchFamily="34" charset="0"/>
                <a:ea typeface="Calibri" pitchFamily="34" charset="-122"/>
                <a:cs typeface="Calibri" pitchFamily="34" charset="-120"/>
              </a:rPr>
              <a:t>Visiteur anonyme</a:t>
            </a:r>
            <a:endParaRPr lang="en-US" sz="1300" dirty="0"/>
          </a:p>
        </p:txBody>
      </p:sp>
      <p:sp>
        <p:nvSpPr>
          <p:cNvPr id="9" name="Text 7"/>
          <p:cNvSpPr/>
          <p:nvPr/>
        </p:nvSpPr>
        <p:spPr>
          <a:xfrm>
            <a:off x="868680" y="2441448"/>
            <a:ext cx="4754880" cy="54864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Requête non authentifiée — PAS un rôle RBAC. Consultation libre du catalogue.</a:t>
            </a:r>
            <a:endParaRPr lang="en-US" sz="1100" dirty="0"/>
          </a:p>
        </p:txBody>
      </p:sp>
      <p:sp>
        <p:nvSpPr>
          <p:cNvPr id="10" name="Text 8"/>
          <p:cNvSpPr/>
          <p:nvPr/>
        </p:nvSpPr>
        <p:spPr>
          <a:xfrm>
            <a:off x="868680" y="3108960"/>
            <a:ext cx="4754880" cy="274320"/>
          </a:xfrm>
          <a:prstGeom prst="rect">
            <a:avLst/>
          </a:prstGeom>
          <a:noFill/>
          <a:ln/>
        </p:spPr>
        <p:txBody>
          <a:bodyPr wrap="square" rtlCol="0" anchor="ctr"/>
          <a:lstStyle/>
          <a:p>
            <a:pPr indent="0" marL="0">
              <a:buNone/>
            </a:pPr>
            <a:r>
              <a:rPr lang="en-US" sz="1300" b="1" dirty="0">
                <a:solidFill>
                  <a:srgbClr val="0A2C54"/>
                </a:solidFill>
                <a:latin typeface="Calibri" pitchFamily="34" charset="0"/>
                <a:ea typeface="Calibri" pitchFamily="34" charset="-122"/>
                <a:cs typeface="Calibri" pitchFamily="34" charset="-120"/>
              </a:rPr>
              <a:t>Customer (Client)</a:t>
            </a:r>
            <a:endParaRPr lang="en-US" sz="1300" dirty="0"/>
          </a:p>
        </p:txBody>
      </p:sp>
      <p:sp>
        <p:nvSpPr>
          <p:cNvPr id="11" name="Text 9"/>
          <p:cNvSpPr/>
          <p:nvPr/>
        </p:nvSpPr>
        <p:spPr>
          <a:xfrm>
            <a:off x="868680" y="3401568"/>
            <a:ext cx="4754880" cy="54864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Rôle minimum de tout compte inscrit. Souscription, suivi de dossier, tickets, paiements.</a:t>
            </a:r>
            <a:endParaRPr lang="en-US" sz="1100" dirty="0"/>
          </a:p>
        </p:txBody>
      </p:sp>
      <p:sp>
        <p:nvSpPr>
          <p:cNvPr id="12" name="Text 10"/>
          <p:cNvSpPr/>
          <p:nvPr/>
        </p:nvSpPr>
        <p:spPr>
          <a:xfrm>
            <a:off x="868680" y="4160520"/>
            <a:ext cx="4754880" cy="64008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Un « visiteur civil » peut initier une souscription sans compte (cas particulier documenté) — mais ne peut pas suivre son dossier sans devenir Customer.</a:t>
            </a:r>
            <a:endParaRPr lang="en-US" sz="950" dirty="0"/>
          </a:p>
        </p:txBody>
      </p:sp>
      <p:sp>
        <p:nvSpPr>
          <p:cNvPr id="13" name="Shape 11"/>
          <p:cNvSpPr/>
          <p:nvPr/>
        </p:nvSpPr>
        <p:spPr>
          <a:xfrm>
            <a:off x="6263640" y="1417320"/>
            <a:ext cx="5394960" cy="4754880"/>
          </a:xfrm>
          <a:prstGeom prst="roundRect">
            <a:avLst>
              <a:gd name="adj" fmla="val 1538"/>
            </a:avLst>
          </a:prstGeom>
          <a:solidFill>
            <a:srgbClr val="F4F6F8"/>
          </a:solidFill>
          <a:ln/>
        </p:spPr>
      </p:sp>
      <p:sp>
        <p:nvSpPr>
          <p:cNvPr id="14" name="Text 12"/>
          <p:cNvSpPr/>
          <p:nvPr/>
        </p:nvSpPr>
        <p:spPr>
          <a:xfrm>
            <a:off x="6583680" y="1645920"/>
            <a:ext cx="4572000" cy="365760"/>
          </a:xfrm>
          <a:prstGeom prst="rect">
            <a:avLst/>
          </a:prstGeom>
          <a:noFill/>
          <a:ln/>
        </p:spPr>
        <p:txBody>
          <a:bodyPr wrap="square" rtlCol="0" anchor="ctr"/>
          <a:lstStyle/>
          <a:p>
            <a:pPr indent="0" marL="0">
              <a:buNone/>
            </a:pPr>
            <a:r>
              <a:rPr lang="en-US" sz="1600" b="1" dirty="0">
                <a:solidFill>
                  <a:srgbClr val="0A2C54"/>
                </a:solidFill>
                <a:latin typeface="Cambria" pitchFamily="34" charset="0"/>
                <a:ea typeface="Cambria" pitchFamily="34" charset="-122"/>
                <a:cs typeface="Cambria" pitchFamily="34" charset="-120"/>
              </a:rPr>
              <a:t>Back-office</a:t>
            </a:r>
            <a:endParaRPr lang="en-US" sz="1600" dirty="0"/>
          </a:p>
        </p:txBody>
      </p:sp>
      <p:sp>
        <p:nvSpPr>
          <p:cNvPr id="15" name="Shape 13"/>
          <p:cNvSpPr/>
          <p:nvPr/>
        </p:nvSpPr>
        <p:spPr>
          <a:xfrm>
            <a:off x="6583680" y="2103120"/>
            <a:ext cx="1737360" cy="384048"/>
          </a:xfrm>
          <a:prstGeom prst="roundRect">
            <a:avLst>
              <a:gd name="adj" fmla="val 14286"/>
            </a:avLst>
          </a:prstGeom>
          <a:solidFill>
            <a:srgbClr val="FFFFFF"/>
          </a:solidFill>
          <a:ln w="9525">
            <a:solidFill>
              <a:srgbClr val="D9DEE4"/>
            </a:solidFill>
            <a:prstDash val="solid"/>
          </a:ln>
        </p:spPr>
      </p:sp>
      <p:sp>
        <p:nvSpPr>
          <p:cNvPr id="16" name="Text 14"/>
          <p:cNvSpPr/>
          <p:nvPr/>
        </p:nvSpPr>
        <p:spPr>
          <a:xfrm>
            <a:off x="6583680" y="2103120"/>
            <a:ext cx="1737360" cy="384048"/>
          </a:xfrm>
          <a:prstGeom prst="rect">
            <a:avLst/>
          </a:prstGeom>
          <a:noFill/>
          <a:ln/>
        </p:spPr>
        <p:txBody>
          <a:bodyPr wrap="square" rtlCol="0" anchor="ctr"/>
          <a:lstStyle/>
          <a:p>
            <a:pPr algn="ctr" indent="0" marL="0">
              <a:buNone/>
            </a:pPr>
            <a:r>
              <a:rPr lang="en-US" sz="850" b="1" dirty="0">
                <a:solidFill>
                  <a:srgbClr val="0A2C54"/>
                </a:solidFill>
                <a:latin typeface="Courier New" pitchFamily="34" charset="0"/>
                <a:ea typeface="Courier New" pitchFamily="34" charset="-122"/>
                <a:cs typeface="Courier New" pitchFamily="34" charset="-120"/>
              </a:rPr>
              <a:t>SUPER_ADMIN</a:t>
            </a:r>
            <a:endParaRPr lang="en-US" sz="850" dirty="0"/>
          </a:p>
        </p:txBody>
      </p:sp>
      <p:sp>
        <p:nvSpPr>
          <p:cNvPr id="17" name="Text 15"/>
          <p:cNvSpPr/>
          <p:nvPr/>
        </p:nvSpPr>
        <p:spPr>
          <a:xfrm>
            <a:off x="8412480" y="2103120"/>
            <a:ext cx="3063240" cy="38404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Administration complète : gestion des admins, promotion de rôles, journal d'activité</a:t>
            </a:r>
            <a:endParaRPr lang="en-US" sz="950" dirty="0"/>
          </a:p>
        </p:txBody>
      </p:sp>
      <p:sp>
        <p:nvSpPr>
          <p:cNvPr id="18" name="Shape 16"/>
          <p:cNvSpPr/>
          <p:nvPr/>
        </p:nvSpPr>
        <p:spPr>
          <a:xfrm>
            <a:off x="6583680" y="2587752"/>
            <a:ext cx="1737360" cy="384048"/>
          </a:xfrm>
          <a:prstGeom prst="roundRect">
            <a:avLst>
              <a:gd name="adj" fmla="val 14286"/>
            </a:avLst>
          </a:prstGeom>
          <a:solidFill>
            <a:srgbClr val="FFFFFF"/>
          </a:solidFill>
          <a:ln w="9525">
            <a:solidFill>
              <a:srgbClr val="D9DEE4"/>
            </a:solidFill>
            <a:prstDash val="solid"/>
          </a:ln>
        </p:spPr>
      </p:sp>
      <p:sp>
        <p:nvSpPr>
          <p:cNvPr id="19" name="Text 17"/>
          <p:cNvSpPr/>
          <p:nvPr/>
        </p:nvSpPr>
        <p:spPr>
          <a:xfrm>
            <a:off x="6583680" y="2587752"/>
            <a:ext cx="1737360" cy="384048"/>
          </a:xfrm>
          <a:prstGeom prst="rect">
            <a:avLst/>
          </a:prstGeom>
          <a:noFill/>
          <a:ln/>
        </p:spPr>
        <p:txBody>
          <a:bodyPr wrap="square" rtlCol="0" anchor="ctr"/>
          <a:lstStyle/>
          <a:p>
            <a:pPr algn="ctr" indent="0" marL="0">
              <a:buNone/>
            </a:pPr>
            <a:r>
              <a:rPr lang="en-US" sz="850" b="1" dirty="0">
                <a:solidFill>
                  <a:srgbClr val="0A2C54"/>
                </a:solidFill>
                <a:latin typeface="Courier New" pitchFamily="34" charset="0"/>
                <a:ea typeface="Courier New" pitchFamily="34" charset="-122"/>
                <a:cs typeface="Courier New" pitchFamily="34" charset="-120"/>
              </a:rPr>
              <a:t>ADMIN</a:t>
            </a:r>
            <a:endParaRPr lang="en-US" sz="850" dirty="0"/>
          </a:p>
        </p:txBody>
      </p:sp>
      <p:sp>
        <p:nvSpPr>
          <p:cNvPr id="20" name="Text 18"/>
          <p:cNvSpPr/>
          <p:nvPr/>
        </p:nvSpPr>
        <p:spPr>
          <a:xfrm>
            <a:off x="8412480" y="2587752"/>
            <a:ext cx="3063240" cy="38404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Back-office complet : utilisateurs, souscriptions, paiements, publication catalogue</a:t>
            </a:r>
            <a:endParaRPr lang="en-US" sz="950" dirty="0"/>
          </a:p>
        </p:txBody>
      </p:sp>
      <p:sp>
        <p:nvSpPr>
          <p:cNvPr id="21" name="Shape 19"/>
          <p:cNvSpPr/>
          <p:nvPr/>
        </p:nvSpPr>
        <p:spPr>
          <a:xfrm>
            <a:off x="6583680" y="3072384"/>
            <a:ext cx="1737360" cy="384048"/>
          </a:xfrm>
          <a:prstGeom prst="roundRect">
            <a:avLst>
              <a:gd name="adj" fmla="val 14286"/>
            </a:avLst>
          </a:prstGeom>
          <a:solidFill>
            <a:srgbClr val="FFFFFF"/>
          </a:solidFill>
          <a:ln w="9525">
            <a:solidFill>
              <a:srgbClr val="D9DEE4"/>
            </a:solidFill>
            <a:prstDash val="solid"/>
          </a:ln>
        </p:spPr>
      </p:sp>
      <p:sp>
        <p:nvSpPr>
          <p:cNvPr id="22" name="Text 20"/>
          <p:cNvSpPr/>
          <p:nvPr/>
        </p:nvSpPr>
        <p:spPr>
          <a:xfrm>
            <a:off x="6583680" y="3072384"/>
            <a:ext cx="1737360" cy="384048"/>
          </a:xfrm>
          <a:prstGeom prst="rect">
            <a:avLst/>
          </a:prstGeom>
          <a:noFill/>
          <a:ln/>
        </p:spPr>
        <p:txBody>
          <a:bodyPr wrap="square" rtlCol="0" anchor="ctr"/>
          <a:lstStyle/>
          <a:p>
            <a:pPr algn="ctr" indent="0" marL="0">
              <a:buNone/>
            </a:pPr>
            <a:r>
              <a:rPr lang="en-US" sz="850" b="1" dirty="0">
                <a:solidFill>
                  <a:srgbClr val="0A2C54"/>
                </a:solidFill>
                <a:latin typeface="Courier New" pitchFamily="34" charset="0"/>
                <a:ea typeface="Courier New" pitchFamily="34" charset="-122"/>
                <a:cs typeface="Courier New" pitchFamily="34" charset="-120"/>
              </a:rPr>
              <a:t>PRODUCT_MANAGER</a:t>
            </a:r>
            <a:endParaRPr lang="en-US" sz="850" dirty="0"/>
          </a:p>
        </p:txBody>
      </p:sp>
      <p:sp>
        <p:nvSpPr>
          <p:cNvPr id="23" name="Text 21"/>
          <p:cNvSpPr/>
          <p:nvPr/>
        </p:nvSpPr>
        <p:spPr>
          <a:xfrm>
            <a:off x="8412480" y="3072384"/>
            <a:ext cx="3063240" cy="38404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Gestion du catalogue (produits, offres) — pas de publication ni suppression</a:t>
            </a:r>
            <a:endParaRPr lang="en-US" sz="950" dirty="0"/>
          </a:p>
        </p:txBody>
      </p:sp>
      <p:sp>
        <p:nvSpPr>
          <p:cNvPr id="24" name="Shape 22"/>
          <p:cNvSpPr/>
          <p:nvPr/>
        </p:nvSpPr>
        <p:spPr>
          <a:xfrm>
            <a:off x="6583680" y="3557016"/>
            <a:ext cx="1737360" cy="384048"/>
          </a:xfrm>
          <a:prstGeom prst="roundRect">
            <a:avLst>
              <a:gd name="adj" fmla="val 14286"/>
            </a:avLst>
          </a:prstGeom>
          <a:solidFill>
            <a:srgbClr val="FFFFFF"/>
          </a:solidFill>
          <a:ln w="9525">
            <a:solidFill>
              <a:srgbClr val="D9DEE4"/>
            </a:solidFill>
            <a:prstDash val="solid"/>
          </a:ln>
        </p:spPr>
      </p:sp>
      <p:sp>
        <p:nvSpPr>
          <p:cNvPr id="25" name="Text 23"/>
          <p:cNvSpPr/>
          <p:nvPr/>
        </p:nvSpPr>
        <p:spPr>
          <a:xfrm>
            <a:off x="6583680" y="3557016"/>
            <a:ext cx="1737360" cy="384048"/>
          </a:xfrm>
          <a:prstGeom prst="rect">
            <a:avLst/>
          </a:prstGeom>
          <a:noFill/>
          <a:ln/>
        </p:spPr>
        <p:txBody>
          <a:bodyPr wrap="square" rtlCol="0" anchor="ctr"/>
          <a:lstStyle/>
          <a:p>
            <a:pPr algn="ctr" indent="0" marL="0">
              <a:buNone/>
            </a:pPr>
            <a:r>
              <a:rPr lang="en-US" sz="850" b="1" dirty="0">
                <a:solidFill>
                  <a:srgbClr val="0A2C54"/>
                </a:solidFill>
                <a:latin typeface="Courier New" pitchFamily="34" charset="0"/>
                <a:ea typeface="Courier New" pitchFamily="34" charset="-122"/>
                <a:cs typeface="Courier New" pitchFamily="34" charset="-120"/>
              </a:rPr>
              <a:t>EDITOR</a:t>
            </a:r>
            <a:endParaRPr lang="en-US" sz="850" dirty="0"/>
          </a:p>
        </p:txBody>
      </p:sp>
      <p:sp>
        <p:nvSpPr>
          <p:cNvPr id="26" name="Text 24"/>
          <p:cNvSpPr/>
          <p:nvPr/>
        </p:nvSpPr>
        <p:spPr>
          <a:xfrm>
            <a:off x="8412480" y="3557016"/>
            <a:ext cx="3063240" cy="38404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Actualités, promotions, médiathèque</a:t>
            </a:r>
            <a:endParaRPr lang="en-US" sz="950" dirty="0"/>
          </a:p>
        </p:txBody>
      </p:sp>
      <p:sp>
        <p:nvSpPr>
          <p:cNvPr id="27" name="Shape 25"/>
          <p:cNvSpPr/>
          <p:nvPr/>
        </p:nvSpPr>
        <p:spPr>
          <a:xfrm>
            <a:off x="6583680" y="4041648"/>
            <a:ext cx="1737360" cy="384048"/>
          </a:xfrm>
          <a:prstGeom prst="roundRect">
            <a:avLst>
              <a:gd name="adj" fmla="val 14286"/>
            </a:avLst>
          </a:prstGeom>
          <a:solidFill>
            <a:srgbClr val="FFFFFF"/>
          </a:solidFill>
          <a:ln w="9525">
            <a:solidFill>
              <a:srgbClr val="D9DEE4"/>
            </a:solidFill>
            <a:prstDash val="solid"/>
          </a:ln>
        </p:spPr>
      </p:sp>
      <p:sp>
        <p:nvSpPr>
          <p:cNvPr id="28" name="Text 26"/>
          <p:cNvSpPr/>
          <p:nvPr/>
        </p:nvSpPr>
        <p:spPr>
          <a:xfrm>
            <a:off x="6583680" y="4041648"/>
            <a:ext cx="1737360" cy="384048"/>
          </a:xfrm>
          <a:prstGeom prst="rect">
            <a:avLst/>
          </a:prstGeom>
          <a:noFill/>
          <a:ln/>
        </p:spPr>
        <p:txBody>
          <a:bodyPr wrap="square" rtlCol="0" anchor="ctr"/>
          <a:lstStyle/>
          <a:p>
            <a:pPr algn="ctr" indent="0" marL="0">
              <a:buNone/>
            </a:pPr>
            <a:r>
              <a:rPr lang="en-US" sz="850" b="1" dirty="0">
                <a:solidFill>
                  <a:srgbClr val="0A2C54"/>
                </a:solidFill>
                <a:latin typeface="Courier New" pitchFamily="34" charset="0"/>
                <a:ea typeface="Courier New" pitchFamily="34" charset="-122"/>
                <a:cs typeface="Courier New" pitchFamily="34" charset="-120"/>
              </a:rPr>
              <a:t>VIEWER (déprécié)</a:t>
            </a:r>
            <a:endParaRPr lang="en-US" sz="850" dirty="0"/>
          </a:p>
        </p:txBody>
      </p:sp>
      <p:sp>
        <p:nvSpPr>
          <p:cNvPr id="29" name="Text 27"/>
          <p:cNvSpPr/>
          <p:nvPr/>
        </p:nvSpPr>
        <p:spPr>
          <a:xfrm>
            <a:off x="8412480" y="4041648"/>
            <a:ext cx="3063240" cy="38404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Lecture seule back-office — legacy uniquement, jamais assigné à un nouveau compte</a:t>
            </a:r>
            <a:endParaRPr lang="en-US" sz="950" dirty="0"/>
          </a:p>
        </p:txBody>
      </p:sp>
      <p:sp>
        <p:nvSpPr>
          <p:cNvPr id="30" name="Text 28"/>
          <p:cNvSpPr/>
          <p:nvPr/>
        </p:nvSpPr>
        <p:spPr>
          <a:xfrm>
            <a:off x="6583680" y="4663440"/>
            <a:ext cx="4846320" cy="365760"/>
          </a:xfrm>
          <a:prstGeom prst="rect">
            <a:avLst/>
          </a:prstGeom>
          <a:noFill/>
          <a:ln/>
        </p:spPr>
        <p:txBody>
          <a:bodyPr wrap="square" rtlCol="0" anchor="ctr"/>
          <a:lstStyle/>
          <a:p>
            <a:pPr indent="0" marL="0">
              <a:buNone/>
            </a:pPr>
            <a:r>
              <a:rPr lang="en-US" sz="900" i="1" dirty="0">
                <a:solidFill>
                  <a:srgbClr val="667085"/>
                </a:solidFill>
                <a:latin typeface="Calibri" pitchFamily="34" charset="0"/>
                <a:ea typeface="Calibri" pitchFamily="34" charset="-122"/>
                <a:cs typeface="Calibri" pitchFamily="34" charset="-120"/>
              </a:rPr>
              <a:t>Rôles définis dans apps/users/models.py (User.Role) — source de vérité unique backend.</a:t>
            </a:r>
            <a:endParaRPr lang="en-US" sz="900" dirty="0"/>
          </a:p>
        </p:txBody>
      </p:sp>
      <p:sp>
        <p:nvSpPr>
          <p:cNvPr id="31" name="Text 29"/>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Utilisateurs</a:t>
            </a:r>
            <a:endParaRPr lang="en-US" sz="900" dirty="0"/>
          </a:p>
        </p:txBody>
      </p:sp>
      <p:sp>
        <p:nvSpPr>
          <p:cNvPr id="32" name="Text 30"/>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33" name="Text 31"/>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CATALOGUE</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Les quatre univers de services</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548640" y="1554480"/>
            <a:ext cx="2697480" cy="4480560"/>
          </a:xfrm>
          <a:prstGeom prst="roundRect">
            <a:avLst>
              <a:gd name="adj" fmla="val 3390"/>
            </a:avLst>
          </a:prstGeom>
          <a:solidFill>
            <a:srgbClr val="0B57A4"/>
          </a:solidFill>
          <a:ln/>
          <a:effectLst>
            <a:outerShdw sx="100000" sy="100000" kx="0" ky="0" algn="bl" rotWithShape="0" blurRad="101600" dist="38100" dir="5400000">
              <a:srgbClr val="94A3B8">
                <a:alpha val="30000"/>
              </a:srgbClr>
            </a:outerShdw>
          </a:effectLst>
        </p:spPr>
      </p:sp>
      <p:sp>
        <p:nvSpPr>
          <p:cNvPr id="7" name="Text 5"/>
          <p:cNvSpPr/>
          <p:nvPr/>
        </p:nvSpPr>
        <p:spPr>
          <a:xfrm>
            <a:off x="731520" y="1874520"/>
            <a:ext cx="233172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FIXES</a:t>
            </a:r>
            <a:endParaRPr lang="en-US" sz="1700" dirty="0"/>
          </a:p>
        </p:txBody>
      </p:sp>
      <p:sp>
        <p:nvSpPr>
          <p:cNvPr id="8" name="Text 6"/>
          <p:cNvSpPr/>
          <p:nvPr/>
        </p:nvSpPr>
        <p:spPr>
          <a:xfrm>
            <a:off x="731520" y="2286000"/>
            <a:ext cx="2331720" cy="274320"/>
          </a:xfrm>
          <a:prstGeom prst="rect">
            <a:avLst/>
          </a:prstGeom>
          <a:noFill/>
          <a:ln/>
        </p:spPr>
        <p:txBody>
          <a:bodyPr wrap="square" rtlCol="0" anchor="ctr"/>
          <a:lstStyle/>
          <a:p>
            <a:pPr indent="0" marL="0">
              <a:buNone/>
            </a:pPr>
            <a:r>
              <a:rPr lang="en-US" sz="1050" i="1" dirty="0">
                <a:solidFill>
                  <a:srgbClr val="E8EEF9"/>
                </a:solidFill>
                <a:latin typeface="Calibri" pitchFamily="34" charset="0"/>
                <a:ea typeface="Calibri" pitchFamily="34" charset="-122"/>
                <a:cs typeface="Calibri" pitchFamily="34" charset="-120"/>
              </a:rPr>
              <a:t>fibre / voix</a:t>
            </a:r>
            <a:endParaRPr lang="en-US" sz="1050" dirty="0"/>
          </a:p>
        </p:txBody>
      </p:sp>
      <p:sp>
        <p:nvSpPr>
          <p:cNvPr id="9" name="Shape 7"/>
          <p:cNvSpPr/>
          <p:nvPr/>
        </p:nvSpPr>
        <p:spPr>
          <a:xfrm>
            <a:off x="731520" y="2697480"/>
            <a:ext cx="2331720" cy="0"/>
          </a:xfrm>
          <a:prstGeom prst="line">
            <a:avLst/>
          </a:prstGeom>
          <a:noFill/>
          <a:ln w="9525">
            <a:solidFill>
              <a:srgbClr val="FFFFFF">
                <a:alpha val="50000"/>
              </a:srgbClr>
            </a:solidFill>
            <a:prstDash val="solid"/>
          </a:ln>
        </p:spPr>
      </p:sp>
      <p:sp>
        <p:nvSpPr>
          <p:cNvPr id="10" name="Text 8"/>
          <p:cNvSpPr/>
          <p:nvPr/>
        </p:nvSpPr>
        <p:spPr>
          <a:xfrm>
            <a:off x="731520" y="2834640"/>
            <a:ext cx="2331720" cy="2011680"/>
          </a:xfrm>
          <a:prstGeom prst="rect">
            <a:avLst/>
          </a:prstGeom>
          <a:noFill/>
          <a:ln/>
        </p:spPr>
        <p:txBody>
          <a:bodyPr wrap="square" rtlCol="0" anchor="t"/>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Téléphonie fixe, internet fixe (FTTH), solutions IP &amp; PABX</a:t>
            </a:r>
            <a:endParaRPr lang="en-US" sz="1050" dirty="0"/>
          </a:p>
        </p:txBody>
      </p:sp>
      <p:sp>
        <p:nvSpPr>
          <p:cNvPr id="11" name="Shape 9"/>
          <p:cNvSpPr/>
          <p:nvPr/>
        </p:nvSpPr>
        <p:spPr>
          <a:xfrm>
            <a:off x="3429000" y="1554480"/>
            <a:ext cx="2697480" cy="4480560"/>
          </a:xfrm>
          <a:prstGeom prst="roundRect">
            <a:avLst>
              <a:gd name="adj" fmla="val 3390"/>
            </a:avLst>
          </a:prstGeom>
          <a:solidFill>
            <a:srgbClr val="00B0F0"/>
          </a:solidFill>
          <a:ln/>
          <a:effectLst>
            <a:outerShdw sx="100000" sy="100000" kx="0" ky="0" algn="bl" rotWithShape="0" blurRad="101600" dist="38100" dir="5400000">
              <a:srgbClr val="94A3B8">
                <a:alpha val="30000"/>
              </a:srgbClr>
            </a:outerShdw>
          </a:effectLst>
        </p:spPr>
      </p:sp>
      <p:sp>
        <p:nvSpPr>
          <p:cNvPr id="12" name="Text 10"/>
          <p:cNvSpPr/>
          <p:nvPr/>
        </p:nvSpPr>
        <p:spPr>
          <a:xfrm>
            <a:off x="3611880" y="1874520"/>
            <a:ext cx="233172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MOBILES</a:t>
            </a:r>
            <a:endParaRPr lang="en-US" sz="1700" dirty="0"/>
          </a:p>
        </p:txBody>
      </p:sp>
      <p:sp>
        <p:nvSpPr>
          <p:cNvPr id="13" name="Text 11"/>
          <p:cNvSpPr/>
          <p:nvPr/>
        </p:nvSpPr>
        <p:spPr>
          <a:xfrm>
            <a:off x="3611880" y="2286000"/>
            <a:ext cx="2331720" cy="274320"/>
          </a:xfrm>
          <a:prstGeom prst="rect">
            <a:avLst/>
          </a:prstGeom>
          <a:noFill/>
          <a:ln/>
        </p:spPr>
        <p:txBody>
          <a:bodyPr wrap="square" rtlCol="0" anchor="ctr"/>
          <a:lstStyle/>
          <a:p>
            <a:pPr indent="0" marL="0">
              <a:buNone/>
            </a:pPr>
            <a:r>
              <a:rPr lang="en-US" sz="1050" i="1" dirty="0">
                <a:solidFill>
                  <a:srgbClr val="E8EEF9"/>
                </a:solidFill>
                <a:latin typeface="Calibri" pitchFamily="34" charset="0"/>
                <a:ea typeface="Calibri" pitchFamily="34" charset="-122"/>
                <a:cs typeface="Calibri" pitchFamily="34" charset="-120"/>
              </a:rPr>
              <a:t>Blue / 4G</a:t>
            </a:r>
            <a:endParaRPr lang="en-US" sz="1050" dirty="0"/>
          </a:p>
        </p:txBody>
      </p:sp>
      <p:sp>
        <p:nvSpPr>
          <p:cNvPr id="14" name="Shape 12"/>
          <p:cNvSpPr/>
          <p:nvPr/>
        </p:nvSpPr>
        <p:spPr>
          <a:xfrm>
            <a:off x="3611880" y="2697480"/>
            <a:ext cx="2331720" cy="0"/>
          </a:xfrm>
          <a:prstGeom prst="line">
            <a:avLst/>
          </a:prstGeom>
          <a:noFill/>
          <a:ln w="9525">
            <a:solidFill>
              <a:srgbClr val="FFFFFF">
                <a:alpha val="50000"/>
              </a:srgbClr>
            </a:solidFill>
            <a:prstDash val="solid"/>
          </a:ln>
        </p:spPr>
      </p:sp>
      <p:sp>
        <p:nvSpPr>
          <p:cNvPr id="15" name="Text 13"/>
          <p:cNvSpPr/>
          <p:nvPr/>
        </p:nvSpPr>
        <p:spPr>
          <a:xfrm>
            <a:off x="3611880" y="2834640"/>
            <a:ext cx="2331720" cy="2011680"/>
          </a:xfrm>
          <a:prstGeom prst="rect">
            <a:avLst/>
          </a:prstGeom>
          <a:noFill/>
          <a:ln/>
        </p:spPr>
        <p:txBody>
          <a:bodyPr wrap="square" rtlCol="0" anchor="t"/>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Voix &amp; SMS, data 4G sous la marque Blue, forfaits prépayés/postpayés</a:t>
            </a:r>
            <a:endParaRPr lang="en-US" sz="1050" dirty="0"/>
          </a:p>
        </p:txBody>
      </p:sp>
      <p:sp>
        <p:nvSpPr>
          <p:cNvPr id="16" name="Shape 14"/>
          <p:cNvSpPr/>
          <p:nvPr/>
        </p:nvSpPr>
        <p:spPr>
          <a:xfrm>
            <a:off x="6309360" y="1554480"/>
            <a:ext cx="2697480" cy="4480560"/>
          </a:xfrm>
          <a:prstGeom prst="roundRect">
            <a:avLst>
              <a:gd name="adj" fmla="val 3390"/>
            </a:avLst>
          </a:prstGeom>
          <a:solidFill>
            <a:srgbClr val="5B3FA0"/>
          </a:solidFill>
          <a:ln/>
          <a:effectLst>
            <a:outerShdw sx="100000" sy="100000" kx="0" ky="0" algn="bl" rotWithShape="0" blurRad="101600" dist="38100" dir="5400000">
              <a:srgbClr val="94A3B8">
                <a:alpha val="30000"/>
              </a:srgbClr>
            </a:outerShdw>
          </a:effectLst>
        </p:spPr>
      </p:sp>
      <p:sp>
        <p:nvSpPr>
          <p:cNvPr id="17" name="Text 15"/>
          <p:cNvSpPr/>
          <p:nvPr/>
        </p:nvSpPr>
        <p:spPr>
          <a:xfrm>
            <a:off x="6492240" y="1874520"/>
            <a:ext cx="233172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TRANSPORT</a:t>
            </a:r>
            <a:endParaRPr lang="en-US" sz="1700" dirty="0"/>
          </a:p>
        </p:txBody>
      </p:sp>
      <p:sp>
        <p:nvSpPr>
          <p:cNvPr id="18" name="Text 16"/>
          <p:cNvSpPr/>
          <p:nvPr/>
        </p:nvSpPr>
        <p:spPr>
          <a:xfrm>
            <a:off x="6492240" y="2286000"/>
            <a:ext cx="2331720" cy="274320"/>
          </a:xfrm>
          <a:prstGeom prst="rect">
            <a:avLst/>
          </a:prstGeom>
          <a:noFill/>
          <a:ln/>
        </p:spPr>
        <p:txBody>
          <a:bodyPr wrap="square" rtlCol="0" anchor="ctr"/>
          <a:lstStyle/>
          <a:p>
            <a:pPr indent="0" marL="0">
              <a:buNone/>
            </a:pPr>
            <a:r>
              <a:rPr lang="en-US" sz="1050" i="1" dirty="0">
                <a:solidFill>
                  <a:srgbClr val="E8EEF9"/>
                </a:solidFill>
                <a:latin typeface="Calibri" pitchFamily="34" charset="0"/>
                <a:ea typeface="Calibri" pitchFamily="34" charset="-122"/>
                <a:cs typeface="Calibri" pitchFamily="34" charset="-120"/>
              </a:rPr>
              <a:t>fibre / MPLS</a:t>
            </a:r>
            <a:endParaRPr lang="en-US" sz="1050" dirty="0"/>
          </a:p>
        </p:txBody>
      </p:sp>
      <p:sp>
        <p:nvSpPr>
          <p:cNvPr id="19" name="Shape 17"/>
          <p:cNvSpPr/>
          <p:nvPr/>
        </p:nvSpPr>
        <p:spPr>
          <a:xfrm>
            <a:off x="6492240" y="2697480"/>
            <a:ext cx="2331720" cy="0"/>
          </a:xfrm>
          <a:prstGeom prst="line">
            <a:avLst/>
          </a:prstGeom>
          <a:noFill/>
          <a:ln w="9525">
            <a:solidFill>
              <a:srgbClr val="FFFFFF">
                <a:alpha val="50000"/>
              </a:srgbClr>
            </a:solidFill>
            <a:prstDash val="solid"/>
          </a:ln>
        </p:spPr>
      </p:sp>
      <p:sp>
        <p:nvSpPr>
          <p:cNvPr id="20" name="Text 18"/>
          <p:cNvSpPr/>
          <p:nvPr/>
        </p:nvSpPr>
        <p:spPr>
          <a:xfrm>
            <a:off x="6492240" y="2834640"/>
            <a:ext cx="2331720" cy="2011680"/>
          </a:xfrm>
          <a:prstGeom prst="rect">
            <a:avLst/>
          </a:prstGeom>
          <a:noFill/>
          <a:ln/>
        </p:spPr>
        <p:txBody>
          <a:bodyPr wrap="square" rtlCol="0" anchor="t"/>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Connectivité entreprise : IP/MPLS, liaisons louées, IPLC, IP Transit</a:t>
            </a:r>
            <a:endParaRPr lang="en-US" sz="1050" dirty="0"/>
          </a:p>
        </p:txBody>
      </p:sp>
      <p:sp>
        <p:nvSpPr>
          <p:cNvPr id="21" name="Shape 19"/>
          <p:cNvSpPr/>
          <p:nvPr/>
        </p:nvSpPr>
        <p:spPr>
          <a:xfrm>
            <a:off x="9189720" y="1554480"/>
            <a:ext cx="2697480" cy="4480560"/>
          </a:xfrm>
          <a:prstGeom prst="roundRect">
            <a:avLst>
              <a:gd name="adj" fmla="val 3390"/>
            </a:avLst>
          </a:prstGeom>
          <a:solidFill>
            <a:srgbClr val="1AA260"/>
          </a:solidFill>
          <a:ln/>
          <a:effectLst>
            <a:outerShdw sx="100000" sy="100000" kx="0" ky="0" algn="bl" rotWithShape="0" blurRad="101600" dist="38100" dir="5400000">
              <a:srgbClr val="94A3B8">
                <a:alpha val="30000"/>
              </a:srgbClr>
            </a:outerShdw>
          </a:effectLst>
        </p:spPr>
      </p:sp>
      <p:sp>
        <p:nvSpPr>
          <p:cNvPr id="22" name="Text 20"/>
          <p:cNvSpPr/>
          <p:nvPr/>
        </p:nvSpPr>
        <p:spPr>
          <a:xfrm>
            <a:off x="9372600" y="1874520"/>
            <a:ext cx="233172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DATA CENTER</a:t>
            </a:r>
            <a:endParaRPr lang="en-US" sz="1700" dirty="0"/>
          </a:p>
        </p:txBody>
      </p:sp>
      <p:sp>
        <p:nvSpPr>
          <p:cNvPr id="23" name="Text 21"/>
          <p:cNvSpPr/>
          <p:nvPr/>
        </p:nvSpPr>
        <p:spPr>
          <a:xfrm>
            <a:off x="9372600" y="2286000"/>
            <a:ext cx="2331720" cy="274320"/>
          </a:xfrm>
          <a:prstGeom prst="rect">
            <a:avLst/>
          </a:prstGeom>
          <a:noFill/>
          <a:ln/>
        </p:spPr>
        <p:txBody>
          <a:bodyPr wrap="square" rtlCol="0" anchor="ctr"/>
          <a:lstStyle/>
          <a:p>
            <a:pPr indent="0" marL="0">
              <a:buNone/>
            </a:pPr>
            <a:r>
              <a:rPr lang="en-US" sz="1050" i="1" dirty="0">
                <a:solidFill>
                  <a:srgbClr val="E8EEF9"/>
                </a:solidFill>
                <a:latin typeface="Calibri" pitchFamily="34" charset="0"/>
                <a:ea typeface="Calibri" pitchFamily="34" charset="-122"/>
                <a:cs typeface="Calibri" pitchFamily="34" charset="-120"/>
              </a:rPr>
              <a:t>cloud / hosting</a:t>
            </a:r>
            <a:endParaRPr lang="en-US" sz="1050" dirty="0"/>
          </a:p>
        </p:txBody>
      </p:sp>
      <p:sp>
        <p:nvSpPr>
          <p:cNvPr id="24" name="Shape 22"/>
          <p:cNvSpPr/>
          <p:nvPr/>
        </p:nvSpPr>
        <p:spPr>
          <a:xfrm>
            <a:off x="9372600" y="2697480"/>
            <a:ext cx="2331720" cy="0"/>
          </a:xfrm>
          <a:prstGeom prst="line">
            <a:avLst/>
          </a:prstGeom>
          <a:noFill/>
          <a:ln w="9525">
            <a:solidFill>
              <a:srgbClr val="FFFFFF">
                <a:alpha val="50000"/>
              </a:srgbClr>
            </a:solidFill>
            <a:prstDash val="solid"/>
          </a:ln>
        </p:spPr>
      </p:sp>
      <p:sp>
        <p:nvSpPr>
          <p:cNvPr id="25" name="Text 23"/>
          <p:cNvSpPr/>
          <p:nvPr/>
        </p:nvSpPr>
        <p:spPr>
          <a:xfrm>
            <a:off x="9372600" y="2834640"/>
            <a:ext cx="2331720" cy="2011680"/>
          </a:xfrm>
          <a:prstGeom prst="rect">
            <a:avLst/>
          </a:prstGeom>
          <a:noFill/>
          <a:ln/>
        </p:spPr>
        <p:txBody>
          <a:bodyPr wrap="square" rtlCol="0" anchor="t"/>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Hébergement, VPS, colocation, noms de domaine (CAMTEL Hosting)</a:t>
            </a:r>
            <a:endParaRPr lang="en-US" sz="1050" dirty="0"/>
          </a:p>
        </p:txBody>
      </p:sp>
      <p:sp>
        <p:nvSpPr>
          <p:cNvPr id="26" name="Text 24"/>
          <p:cNvSpPr/>
          <p:nvPr/>
        </p:nvSpPr>
        <p:spPr>
          <a:xfrm>
            <a:off x="548640" y="6126480"/>
            <a:ext cx="11064240" cy="457200"/>
          </a:xfrm>
          <a:prstGeom prst="rect">
            <a:avLst/>
          </a:prstGeom>
          <a:noFill/>
          <a:ln/>
        </p:spPr>
        <p:txBody>
          <a:bodyPr wrap="square"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Taxonomie officielle du backend (apps/products/models.py::Service.Code) — 42 offres en base au moment de l'analyse, croisées avec 4 segments (Particulier / Professionnel / Entreprise / Administration).</a:t>
            </a:r>
            <a:endParaRPr lang="en-US" sz="1000" dirty="0"/>
          </a:p>
        </p:txBody>
      </p:sp>
      <p:sp>
        <p:nvSpPr>
          <p:cNvPr id="27" name="Text 25"/>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Catalogue — Univers</a:t>
            </a:r>
            <a:endParaRPr lang="en-US" sz="900" dirty="0"/>
          </a:p>
        </p:txBody>
      </p:sp>
      <p:sp>
        <p:nvSpPr>
          <p:cNvPr id="28" name="Text 26"/>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9" name="Text 27"/>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DÉMONSTRATION — PORTAIL PUBLIC</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Page d'accueil</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29768" y="1344168"/>
            <a:ext cx="7095744" cy="4598219"/>
          </a:xfrm>
          <a:prstGeom prst="roundRect">
            <a:avLst>
              <a:gd name="adj" fmla="val 1193"/>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7" name="Image 0" descr="/home/claude/onportal_deck/assets/home_frame.png">    </p:cNvPr>
          <p:cNvPicPr>
            <a:picLocks noChangeAspect="1"/>
          </p:cNvPicPr>
          <p:nvPr/>
        </p:nvPicPr>
        <p:blipFill>
          <a:blip r:embed="rId1"/>
          <a:stretch>
            <a:fillRect/>
          </a:stretch>
        </p:blipFill>
        <p:spPr>
          <a:xfrm>
            <a:off x="502920" y="1417320"/>
            <a:ext cx="6949440" cy="4451915"/>
          </a:xfrm>
          <a:prstGeom prst="rect">
            <a:avLst/>
          </a:prstGeom>
        </p:spPr>
      </p:pic>
      <p:sp>
        <p:nvSpPr>
          <p:cNvPr id="8" name="Text 5"/>
          <p:cNvSpPr/>
          <p:nvPr/>
        </p:nvSpPr>
        <p:spPr>
          <a:xfrm>
            <a:off x="502920" y="5960675"/>
            <a:ext cx="694944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Capture réelle — CAMTEL-OnePortal, environnement de démonstration</a:t>
            </a:r>
            <a:endParaRPr lang="en-US" sz="950" dirty="0"/>
          </a:p>
        </p:txBody>
      </p:sp>
      <p:sp>
        <p:nvSpPr>
          <p:cNvPr id="9" name="Shape 6"/>
          <p:cNvSpPr/>
          <p:nvPr/>
        </p:nvSpPr>
        <p:spPr>
          <a:xfrm>
            <a:off x="7726680" y="1508760"/>
            <a:ext cx="256032" cy="256032"/>
          </a:xfrm>
          <a:prstGeom prst="ellipse">
            <a:avLst/>
          </a:prstGeom>
          <a:solidFill>
            <a:srgbClr val="0B57A4"/>
          </a:solidFill>
          <a:ln/>
        </p:spPr>
      </p:sp>
      <p:sp>
        <p:nvSpPr>
          <p:cNvPr id="10" name="Text 7"/>
          <p:cNvSpPr/>
          <p:nvPr/>
        </p:nvSpPr>
        <p:spPr>
          <a:xfrm>
            <a:off x="7726680" y="150876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092440" y="1490472"/>
            <a:ext cx="3566160" cy="621792"/>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En-tête : navigation (Accueil, Services, Catalogue, À propos, Assistance), recherche, langue, thème, compte</a:t>
            </a:r>
            <a:endParaRPr lang="en-US" sz="1150" dirty="0"/>
          </a:p>
        </p:txBody>
      </p:sp>
      <p:sp>
        <p:nvSpPr>
          <p:cNvPr id="12" name="Shape 9"/>
          <p:cNvSpPr/>
          <p:nvPr/>
        </p:nvSpPr>
        <p:spPr>
          <a:xfrm>
            <a:off x="7726680" y="2130552"/>
            <a:ext cx="256032" cy="256032"/>
          </a:xfrm>
          <a:prstGeom prst="ellipse">
            <a:avLst/>
          </a:prstGeom>
          <a:solidFill>
            <a:srgbClr val="0B57A4"/>
          </a:solidFill>
          <a:ln/>
        </p:spPr>
      </p:sp>
      <p:sp>
        <p:nvSpPr>
          <p:cNvPr id="13" name="Text 10"/>
          <p:cNvSpPr/>
          <p:nvPr/>
        </p:nvSpPr>
        <p:spPr>
          <a:xfrm>
            <a:off x="7726680" y="2130552"/>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8092440" y="2112264"/>
            <a:ext cx="3566160" cy="621792"/>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Hero avec message d'accroche et accès direct aux 4 univers de services</a:t>
            </a:r>
            <a:endParaRPr lang="en-US" sz="1150" dirty="0"/>
          </a:p>
        </p:txBody>
      </p:sp>
      <p:sp>
        <p:nvSpPr>
          <p:cNvPr id="15" name="Shape 12"/>
          <p:cNvSpPr/>
          <p:nvPr/>
        </p:nvSpPr>
        <p:spPr>
          <a:xfrm>
            <a:off x="7726680" y="2752344"/>
            <a:ext cx="256032" cy="256032"/>
          </a:xfrm>
          <a:prstGeom prst="ellipse">
            <a:avLst/>
          </a:prstGeom>
          <a:solidFill>
            <a:srgbClr val="0B57A4"/>
          </a:solidFill>
          <a:ln/>
        </p:spPr>
      </p:sp>
      <p:sp>
        <p:nvSpPr>
          <p:cNvPr id="16" name="Text 13"/>
          <p:cNvSpPr/>
          <p:nvPr/>
        </p:nvSpPr>
        <p:spPr>
          <a:xfrm>
            <a:off x="7726680" y="275234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8092440" y="2734056"/>
            <a:ext cx="3566160" cy="621792"/>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Deux appels à l'action : « Découvrir le catalogue » et « Découvrir nos services »</a:t>
            </a:r>
            <a:endParaRPr lang="en-US" sz="1150" dirty="0"/>
          </a:p>
        </p:txBody>
      </p:sp>
      <p:sp>
        <p:nvSpPr>
          <p:cNvPr id="18" name="Shape 15"/>
          <p:cNvSpPr/>
          <p:nvPr/>
        </p:nvSpPr>
        <p:spPr>
          <a:xfrm>
            <a:off x="7726680" y="3374136"/>
            <a:ext cx="256032" cy="256032"/>
          </a:xfrm>
          <a:prstGeom prst="ellipse">
            <a:avLst/>
          </a:prstGeom>
          <a:solidFill>
            <a:srgbClr val="0B57A4"/>
          </a:solidFill>
          <a:ln/>
        </p:spPr>
      </p:sp>
      <p:sp>
        <p:nvSpPr>
          <p:cNvPr id="19" name="Text 16"/>
          <p:cNvSpPr/>
          <p:nvPr/>
        </p:nvSpPr>
        <p:spPr>
          <a:xfrm>
            <a:off x="7726680" y="3374136"/>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8092440" y="3355848"/>
            <a:ext cx="3566160" cy="621792"/>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Section « Découvrez nos services » — cartes Fixes / Mobiles / Transport / Data Center</a:t>
            </a:r>
            <a:endParaRPr lang="en-US" sz="1150" dirty="0"/>
          </a:p>
        </p:txBody>
      </p:sp>
      <p:sp>
        <p:nvSpPr>
          <p:cNvPr id="21" name="Shape 18"/>
          <p:cNvSpPr/>
          <p:nvPr/>
        </p:nvSpPr>
        <p:spPr>
          <a:xfrm>
            <a:off x="7726680" y="3995928"/>
            <a:ext cx="256032" cy="256032"/>
          </a:xfrm>
          <a:prstGeom prst="ellipse">
            <a:avLst/>
          </a:prstGeom>
          <a:solidFill>
            <a:srgbClr val="0B57A4"/>
          </a:solidFill>
          <a:ln/>
        </p:spPr>
      </p:sp>
      <p:sp>
        <p:nvSpPr>
          <p:cNvPr id="22" name="Text 19"/>
          <p:cNvSpPr/>
          <p:nvPr/>
        </p:nvSpPr>
        <p:spPr>
          <a:xfrm>
            <a:off x="7726680" y="399592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0"/>
          <p:cNvSpPr/>
          <p:nvPr/>
        </p:nvSpPr>
        <p:spPr>
          <a:xfrm>
            <a:off x="8092440" y="3977640"/>
            <a:ext cx="3566160" cy="621792"/>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Assistant CAMTEL accessible en permanence (bouton flottant)</a:t>
            </a:r>
            <a:endParaRPr lang="en-US" sz="1150" dirty="0"/>
          </a:p>
        </p:txBody>
      </p:sp>
      <p:sp>
        <p:nvSpPr>
          <p:cNvPr id="24" name="Text 21"/>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Démonstration — Portail public</a:t>
            </a:r>
            <a:endParaRPr lang="en-US" sz="900" dirty="0"/>
          </a:p>
        </p:txBody>
      </p:sp>
      <p:sp>
        <p:nvSpPr>
          <p:cNvPr id="25" name="Text 22"/>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6" name="Text 23"/>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DÉMONSTRATION — PORTAIL PUBLIC</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Page Services</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29768" y="1344168"/>
            <a:ext cx="7095744" cy="4598219"/>
          </a:xfrm>
          <a:prstGeom prst="roundRect">
            <a:avLst>
              <a:gd name="adj" fmla="val 1193"/>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7" name="Image 0" descr="/home/claude/onportal_deck/assets/services_frame.png">    </p:cNvPr>
          <p:cNvPicPr>
            <a:picLocks noChangeAspect="1"/>
          </p:cNvPicPr>
          <p:nvPr/>
        </p:nvPicPr>
        <p:blipFill>
          <a:blip r:embed="rId1"/>
          <a:stretch>
            <a:fillRect/>
          </a:stretch>
        </p:blipFill>
        <p:spPr>
          <a:xfrm>
            <a:off x="502920" y="1417320"/>
            <a:ext cx="6949440" cy="4451915"/>
          </a:xfrm>
          <a:prstGeom prst="rect">
            <a:avLst/>
          </a:prstGeom>
        </p:spPr>
      </p:pic>
      <p:sp>
        <p:nvSpPr>
          <p:cNvPr id="8" name="Text 5"/>
          <p:cNvSpPr/>
          <p:nvPr/>
        </p:nvSpPr>
        <p:spPr>
          <a:xfrm>
            <a:off x="502920" y="5960675"/>
            <a:ext cx="694944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Page /services — les 4 univers avec accès direct au catalogue filtré</a:t>
            </a:r>
            <a:endParaRPr lang="en-US" sz="950" dirty="0"/>
          </a:p>
        </p:txBody>
      </p:sp>
      <p:sp>
        <p:nvSpPr>
          <p:cNvPr id="9" name="Shape 6"/>
          <p:cNvSpPr/>
          <p:nvPr/>
        </p:nvSpPr>
        <p:spPr>
          <a:xfrm>
            <a:off x="7726680" y="1508760"/>
            <a:ext cx="256032" cy="256032"/>
          </a:xfrm>
          <a:prstGeom prst="ellipse">
            <a:avLst/>
          </a:prstGeom>
          <a:solidFill>
            <a:srgbClr val="0B57A4"/>
          </a:solidFill>
          <a:ln/>
        </p:spPr>
      </p:sp>
      <p:sp>
        <p:nvSpPr>
          <p:cNvPr id="10" name="Text 7"/>
          <p:cNvSpPr/>
          <p:nvPr/>
        </p:nvSpPr>
        <p:spPr>
          <a:xfrm>
            <a:off x="7726680" y="150876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092440" y="1490472"/>
            <a:ext cx="356616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Fil d'Ariane (Accueil &gt; Services) pour une navigation claire</a:t>
            </a:r>
            <a:endParaRPr lang="en-US" sz="1150" dirty="0"/>
          </a:p>
        </p:txBody>
      </p:sp>
      <p:sp>
        <p:nvSpPr>
          <p:cNvPr id="12" name="Shape 9"/>
          <p:cNvSpPr/>
          <p:nvPr/>
        </p:nvSpPr>
        <p:spPr>
          <a:xfrm>
            <a:off x="7726680" y="2075688"/>
            <a:ext cx="256032" cy="256032"/>
          </a:xfrm>
          <a:prstGeom prst="ellipse">
            <a:avLst/>
          </a:prstGeom>
          <a:solidFill>
            <a:srgbClr val="0B57A4"/>
          </a:solidFill>
          <a:ln/>
        </p:spPr>
      </p:sp>
      <p:sp>
        <p:nvSpPr>
          <p:cNvPr id="13" name="Text 10"/>
          <p:cNvSpPr/>
          <p:nvPr/>
        </p:nvSpPr>
        <p:spPr>
          <a:xfrm>
            <a:off x="7726680" y="207568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8092440" y="2057400"/>
            <a:ext cx="356616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Une carte par univers, avec code couleur dédié et icône</a:t>
            </a:r>
            <a:endParaRPr lang="en-US" sz="1150" dirty="0"/>
          </a:p>
        </p:txBody>
      </p:sp>
      <p:sp>
        <p:nvSpPr>
          <p:cNvPr id="15" name="Shape 12"/>
          <p:cNvSpPr/>
          <p:nvPr/>
        </p:nvSpPr>
        <p:spPr>
          <a:xfrm>
            <a:off x="7726680" y="2642616"/>
            <a:ext cx="256032" cy="256032"/>
          </a:xfrm>
          <a:prstGeom prst="ellipse">
            <a:avLst/>
          </a:prstGeom>
          <a:solidFill>
            <a:srgbClr val="0B57A4"/>
          </a:solidFill>
          <a:ln/>
        </p:spPr>
      </p:sp>
      <p:sp>
        <p:nvSpPr>
          <p:cNvPr id="16" name="Text 13"/>
          <p:cNvSpPr/>
          <p:nvPr/>
        </p:nvSpPr>
        <p:spPr>
          <a:xfrm>
            <a:off x="7726680" y="2642616"/>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8092440" y="2624328"/>
            <a:ext cx="356616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Liste des sous-offres représentatives par univers (ex. Data 4G, Voix &amp; SMS pour Mobiles)</a:t>
            </a:r>
            <a:endParaRPr lang="en-US" sz="1150" dirty="0"/>
          </a:p>
        </p:txBody>
      </p:sp>
      <p:sp>
        <p:nvSpPr>
          <p:cNvPr id="18" name="Shape 15"/>
          <p:cNvSpPr/>
          <p:nvPr/>
        </p:nvSpPr>
        <p:spPr>
          <a:xfrm>
            <a:off x="7726680" y="3209544"/>
            <a:ext cx="256032" cy="256032"/>
          </a:xfrm>
          <a:prstGeom prst="ellipse">
            <a:avLst/>
          </a:prstGeom>
          <a:solidFill>
            <a:srgbClr val="0B57A4"/>
          </a:solidFill>
          <a:ln/>
        </p:spPr>
      </p:sp>
      <p:sp>
        <p:nvSpPr>
          <p:cNvPr id="19" name="Text 16"/>
          <p:cNvSpPr/>
          <p:nvPr/>
        </p:nvSpPr>
        <p:spPr>
          <a:xfrm>
            <a:off x="7726680" y="320954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8092440" y="3191256"/>
            <a:ext cx="356616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Lien « Voir les offres » vers le catalogue pré-filtré sur le service</a:t>
            </a:r>
            <a:endParaRPr lang="en-US" sz="1150" dirty="0"/>
          </a:p>
        </p:txBody>
      </p:sp>
      <p:sp>
        <p:nvSpPr>
          <p:cNvPr id="21" name="Shape 18"/>
          <p:cNvSpPr/>
          <p:nvPr/>
        </p:nvSpPr>
        <p:spPr>
          <a:xfrm>
            <a:off x="7726680" y="3977640"/>
            <a:ext cx="3931920" cy="1371600"/>
          </a:xfrm>
          <a:prstGeom prst="roundRect">
            <a:avLst>
              <a:gd name="adj" fmla="val 4000"/>
            </a:avLst>
          </a:prstGeom>
          <a:solidFill>
            <a:srgbClr val="F4F6F8"/>
          </a:solidFill>
          <a:ln/>
        </p:spPr>
      </p:sp>
      <p:sp>
        <p:nvSpPr>
          <p:cNvPr id="22" name="Text 19"/>
          <p:cNvSpPr/>
          <p:nvPr/>
        </p:nvSpPr>
        <p:spPr>
          <a:xfrm>
            <a:off x="7955280" y="4114800"/>
            <a:ext cx="3474720" cy="274320"/>
          </a:xfrm>
          <a:prstGeom prst="rect">
            <a:avLst/>
          </a:prstGeom>
          <a:noFill/>
          <a:ln/>
        </p:spPr>
        <p:txBody>
          <a:bodyPr wrap="square" rtlCol="0" anchor="ctr"/>
          <a:lstStyle/>
          <a:p>
            <a:pPr indent="0" marL="0">
              <a:buNone/>
            </a:pPr>
            <a:r>
              <a:rPr lang="en-US" sz="1100" b="1" dirty="0">
                <a:solidFill>
                  <a:srgbClr val="0A2C54"/>
                </a:solidFill>
                <a:latin typeface="Calibri" pitchFamily="34" charset="0"/>
                <a:ea typeface="Calibri" pitchFamily="34" charset="-122"/>
                <a:cs typeface="Calibri" pitchFamily="34" charset="-120"/>
              </a:rPr>
              <a:t>Objectif UX</a:t>
            </a:r>
            <a:endParaRPr lang="en-US" sz="1100" dirty="0"/>
          </a:p>
        </p:txBody>
      </p:sp>
      <p:sp>
        <p:nvSpPr>
          <p:cNvPr id="23" name="Text 20"/>
          <p:cNvSpPr/>
          <p:nvPr/>
        </p:nvSpPr>
        <p:spPr>
          <a:xfrm>
            <a:off x="7955280" y="4407408"/>
            <a:ext cx="3474720" cy="86868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Réduire le nombre de clics entre « je découvre » et « je vois les offres correspondantes » — un template ServicePage commun rend les quatre univers.</a:t>
            </a:r>
            <a:endParaRPr lang="en-US" sz="1000" dirty="0"/>
          </a:p>
        </p:txBody>
      </p:sp>
      <p:sp>
        <p:nvSpPr>
          <p:cNvPr id="24" name="Text 21"/>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Démonstration — Portail public</a:t>
            </a:r>
            <a:endParaRPr lang="en-US" sz="900" dirty="0"/>
          </a:p>
        </p:txBody>
      </p:sp>
      <p:sp>
        <p:nvSpPr>
          <p:cNvPr id="25" name="Text 22"/>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6" name="Text 23"/>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DÉMONSTRATION — PORTAIL PUBLIC</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Catalogue produits</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29768" y="1344168"/>
            <a:ext cx="7095744" cy="4598219"/>
          </a:xfrm>
          <a:prstGeom prst="roundRect">
            <a:avLst>
              <a:gd name="adj" fmla="val 1193"/>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7" name="Image 0" descr="/home/claude/onportal_deck/assets/catalogue_frame.png">    </p:cNvPr>
          <p:cNvPicPr>
            <a:picLocks noChangeAspect="1"/>
          </p:cNvPicPr>
          <p:nvPr/>
        </p:nvPicPr>
        <p:blipFill>
          <a:blip r:embed="rId1"/>
          <a:stretch>
            <a:fillRect/>
          </a:stretch>
        </p:blipFill>
        <p:spPr>
          <a:xfrm>
            <a:off x="502920" y="1417320"/>
            <a:ext cx="6949440" cy="4451915"/>
          </a:xfrm>
          <a:prstGeom prst="rect">
            <a:avLst/>
          </a:prstGeom>
        </p:spPr>
      </p:pic>
      <p:sp>
        <p:nvSpPr>
          <p:cNvPr id="8" name="Text 5"/>
          <p:cNvSpPr/>
          <p:nvPr/>
        </p:nvSpPr>
        <p:spPr>
          <a:xfrm>
            <a:off x="502920" y="5960675"/>
            <a:ext cx="694944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42 offres officielles en base au moment de la capture — filtres Service / Segment / Disponibilité</a:t>
            </a:r>
            <a:endParaRPr lang="en-US" sz="950" dirty="0"/>
          </a:p>
        </p:txBody>
      </p:sp>
      <p:sp>
        <p:nvSpPr>
          <p:cNvPr id="9" name="Shape 6"/>
          <p:cNvSpPr/>
          <p:nvPr/>
        </p:nvSpPr>
        <p:spPr>
          <a:xfrm>
            <a:off x="7726680" y="1508760"/>
            <a:ext cx="256032" cy="256032"/>
          </a:xfrm>
          <a:prstGeom prst="ellipse">
            <a:avLst/>
          </a:prstGeom>
          <a:solidFill>
            <a:srgbClr val="0B57A4"/>
          </a:solidFill>
          <a:ln/>
        </p:spPr>
      </p:sp>
      <p:sp>
        <p:nvSpPr>
          <p:cNvPr id="10" name="Text 7"/>
          <p:cNvSpPr/>
          <p:nvPr/>
        </p:nvSpPr>
        <p:spPr>
          <a:xfrm>
            <a:off x="7726680" y="150876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092440" y="1490472"/>
            <a:ext cx="3566160" cy="5486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Recherche par mot-clé + filtres avancés</a:t>
            </a:r>
            <a:endParaRPr lang="en-US" sz="1150" dirty="0"/>
          </a:p>
        </p:txBody>
      </p:sp>
      <p:sp>
        <p:nvSpPr>
          <p:cNvPr id="12" name="Shape 9"/>
          <p:cNvSpPr/>
          <p:nvPr/>
        </p:nvSpPr>
        <p:spPr>
          <a:xfrm>
            <a:off x="7726680" y="2057400"/>
            <a:ext cx="256032" cy="256032"/>
          </a:xfrm>
          <a:prstGeom prst="ellipse">
            <a:avLst/>
          </a:prstGeom>
          <a:solidFill>
            <a:srgbClr val="0B57A4"/>
          </a:solidFill>
          <a:ln/>
        </p:spPr>
      </p:sp>
      <p:sp>
        <p:nvSpPr>
          <p:cNvPr id="13" name="Text 10"/>
          <p:cNvSpPr/>
          <p:nvPr/>
        </p:nvSpPr>
        <p:spPr>
          <a:xfrm>
            <a:off x="7726680" y="205740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8092440" y="2039112"/>
            <a:ext cx="3566160" cy="5486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Filtres Service, Segment (Particulier…Administration), Disponibilité</a:t>
            </a:r>
            <a:endParaRPr lang="en-US" sz="1150" dirty="0"/>
          </a:p>
        </p:txBody>
      </p:sp>
      <p:sp>
        <p:nvSpPr>
          <p:cNvPr id="15" name="Shape 12"/>
          <p:cNvSpPr/>
          <p:nvPr/>
        </p:nvSpPr>
        <p:spPr>
          <a:xfrm>
            <a:off x="7726680" y="2606040"/>
            <a:ext cx="256032" cy="256032"/>
          </a:xfrm>
          <a:prstGeom prst="ellipse">
            <a:avLst/>
          </a:prstGeom>
          <a:solidFill>
            <a:srgbClr val="0B57A4"/>
          </a:solidFill>
          <a:ln/>
        </p:spPr>
      </p:sp>
      <p:sp>
        <p:nvSpPr>
          <p:cNvPr id="16" name="Text 13"/>
          <p:cNvSpPr/>
          <p:nvPr/>
        </p:nvSpPr>
        <p:spPr>
          <a:xfrm>
            <a:off x="7726680" y="260604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8092440" y="2587752"/>
            <a:ext cx="3566160" cy="5486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Compteur de résultats en temps réel, tri par pertinence</a:t>
            </a:r>
            <a:endParaRPr lang="en-US" sz="1150" dirty="0"/>
          </a:p>
        </p:txBody>
      </p:sp>
      <p:sp>
        <p:nvSpPr>
          <p:cNvPr id="18" name="Shape 15"/>
          <p:cNvSpPr/>
          <p:nvPr/>
        </p:nvSpPr>
        <p:spPr>
          <a:xfrm>
            <a:off x="7726680" y="3154680"/>
            <a:ext cx="256032" cy="256032"/>
          </a:xfrm>
          <a:prstGeom prst="ellipse">
            <a:avLst/>
          </a:prstGeom>
          <a:solidFill>
            <a:srgbClr val="0B57A4"/>
          </a:solidFill>
          <a:ln/>
        </p:spPr>
      </p:sp>
      <p:sp>
        <p:nvSpPr>
          <p:cNvPr id="19" name="Text 16"/>
          <p:cNvSpPr/>
          <p:nvPr/>
        </p:nvSpPr>
        <p:spPr>
          <a:xfrm>
            <a:off x="7726680" y="315468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8092440" y="3136392"/>
            <a:ext cx="3566160" cy="5486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Lien « Comparer des offres » vers le comparateur</a:t>
            </a:r>
            <a:endParaRPr lang="en-US" sz="1150" dirty="0"/>
          </a:p>
        </p:txBody>
      </p:sp>
      <p:sp>
        <p:nvSpPr>
          <p:cNvPr id="21" name="Shape 18"/>
          <p:cNvSpPr/>
          <p:nvPr/>
        </p:nvSpPr>
        <p:spPr>
          <a:xfrm>
            <a:off x="7726680" y="3840480"/>
            <a:ext cx="3931920" cy="1463040"/>
          </a:xfrm>
          <a:prstGeom prst="roundRect">
            <a:avLst>
              <a:gd name="adj" fmla="val 3750"/>
            </a:avLst>
          </a:prstGeom>
          <a:solidFill>
            <a:srgbClr val="F4F6F8"/>
          </a:solidFill>
          <a:ln/>
        </p:spPr>
      </p:sp>
      <p:sp>
        <p:nvSpPr>
          <p:cNvPr id="22" name="Text 19"/>
          <p:cNvSpPr/>
          <p:nvPr/>
        </p:nvSpPr>
        <p:spPr>
          <a:xfrm>
            <a:off x="7955280" y="3977640"/>
            <a:ext cx="3474720" cy="274320"/>
          </a:xfrm>
          <a:prstGeom prst="rect">
            <a:avLst/>
          </a:prstGeom>
          <a:noFill/>
          <a:ln/>
        </p:spPr>
        <p:txBody>
          <a:bodyPr wrap="square" rtlCol="0" anchor="ctr"/>
          <a:lstStyle/>
          <a:p>
            <a:pPr indent="0" marL="0">
              <a:buNone/>
            </a:pPr>
            <a:r>
              <a:rPr lang="en-US" sz="1100" b="1" dirty="0">
                <a:solidFill>
                  <a:srgbClr val="0A2C54"/>
                </a:solidFill>
                <a:latin typeface="Calibri" pitchFamily="34" charset="0"/>
                <a:ea typeface="Calibri" pitchFamily="34" charset="-122"/>
                <a:cs typeface="Calibri" pitchFamily="34" charset="-120"/>
              </a:rPr>
              <a:t>Alimenté par le backend</a:t>
            </a:r>
            <a:endParaRPr lang="en-US" sz="1100" dirty="0"/>
          </a:p>
        </p:txBody>
      </p:sp>
      <p:sp>
        <p:nvSpPr>
          <p:cNvPr id="23" name="Text 20"/>
          <p:cNvSpPr/>
          <p:nvPr/>
        </p:nvSpPr>
        <p:spPr>
          <a:xfrm>
            <a:off x="7955280" y="4251960"/>
            <a:ext cx="3474720" cy="96012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GET /api/v1/products/ — pagination, filtres serveur. Les 42 produits proviennent d'un import officiel versionné, pas de données saisies à la main pour la démo.</a:t>
            </a:r>
            <a:endParaRPr lang="en-US" sz="1000" dirty="0"/>
          </a:p>
        </p:txBody>
      </p:sp>
      <p:sp>
        <p:nvSpPr>
          <p:cNvPr id="24" name="Text 21"/>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Démonstration — Portail public</a:t>
            </a:r>
            <a:endParaRPr lang="en-US" sz="900" dirty="0"/>
          </a:p>
        </p:txBody>
      </p:sp>
      <p:sp>
        <p:nvSpPr>
          <p:cNvPr id="25" name="Text 22"/>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6" name="Text 23"/>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DÉMONSTRATION — PORTAIL PUBLIC</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Fiche produit</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29768" y="1344168"/>
            <a:ext cx="7095744" cy="4598219"/>
          </a:xfrm>
          <a:prstGeom prst="roundRect">
            <a:avLst>
              <a:gd name="adj" fmla="val 1193"/>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7" name="Image 0" descr="/home/claude/onportal_deck/assets/product_detail_frame.png">    </p:cNvPr>
          <p:cNvPicPr>
            <a:picLocks noChangeAspect="1"/>
          </p:cNvPicPr>
          <p:nvPr/>
        </p:nvPicPr>
        <p:blipFill>
          <a:blip r:embed="rId1"/>
          <a:stretch>
            <a:fillRect/>
          </a:stretch>
        </p:blipFill>
        <p:spPr>
          <a:xfrm>
            <a:off x="502920" y="1417320"/>
            <a:ext cx="6949440" cy="4451915"/>
          </a:xfrm>
          <a:prstGeom prst="rect">
            <a:avLst/>
          </a:prstGeom>
        </p:spPr>
      </p:pic>
      <p:sp>
        <p:nvSpPr>
          <p:cNvPr id="8" name="Text 5"/>
          <p:cNvSpPr/>
          <p:nvPr/>
        </p:nvSpPr>
        <p:spPr>
          <a:xfrm>
            <a:off x="502920" y="5960675"/>
            <a:ext cx="694944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Fiche « Data Center (Carrier) » — traçabilité de la source visible</a:t>
            </a:r>
            <a:endParaRPr lang="en-US" sz="950" dirty="0"/>
          </a:p>
        </p:txBody>
      </p:sp>
      <p:sp>
        <p:nvSpPr>
          <p:cNvPr id="9" name="Shape 6"/>
          <p:cNvSpPr/>
          <p:nvPr/>
        </p:nvSpPr>
        <p:spPr>
          <a:xfrm>
            <a:off x="7726680" y="1508760"/>
            <a:ext cx="256032" cy="256032"/>
          </a:xfrm>
          <a:prstGeom prst="ellipse">
            <a:avLst/>
          </a:prstGeom>
          <a:solidFill>
            <a:srgbClr val="0B57A4"/>
          </a:solidFill>
          <a:ln/>
        </p:spPr>
      </p:sp>
      <p:sp>
        <p:nvSpPr>
          <p:cNvPr id="10" name="Text 7"/>
          <p:cNvSpPr/>
          <p:nvPr/>
        </p:nvSpPr>
        <p:spPr>
          <a:xfrm>
            <a:off x="7726680" y="150876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092440" y="1490472"/>
            <a:ext cx="3566160" cy="5486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Fil d'Ariane univers &gt; Produits &gt; Fiche</a:t>
            </a:r>
            <a:endParaRPr lang="en-US" sz="1150" dirty="0"/>
          </a:p>
        </p:txBody>
      </p:sp>
      <p:sp>
        <p:nvSpPr>
          <p:cNvPr id="12" name="Shape 9"/>
          <p:cNvSpPr/>
          <p:nvPr/>
        </p:nvSpPr>
        <p:spPr>
          <a:xfrm>
            <a:off x="7726680" y="2057400"/>
            <a:ext cx="256032" cy="256032"/>
          </a:xfrm>
          <a:prstGeom prst="ellipse">
            <a:avLst/>
          </a:prstGeom>
          <a:solidFill>
            <a:srgbClr val="0B57A4"/>
          </a:solidFill>
          <a:ln/>
        </p:spPr>
      </p:sp>
      <p:sp>
        <p:nvSpPr>
          <p:cNvPr id="13" name="Text 10"/>
          <p:cNvSpPr/>
          <p:nvPr/>
        </p:nvSpPr>
        <p:spPr>
          <a:xfrm>
            <a:off x="7726680" y="205740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8092440" y="2039112"/>
            <a:ext cx="3566160" cy="5486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Badges Service / Segment / Disponibilité</a:t>
            </a:r>
            <a:endParaRPr lang="en-US" sz="1150" dirty="0"/>
          </a:p>
        </p:txBody>
      </p:sp>
      <p:sp>
        <p:nvSpPr>
          <p:cNvPr id="15" name="Shape 12"/>
          <p:cNvSpPr/>
          <p:nvPr/>
        </p:nvSpPr>
        <p:spPr>
          <a:xfrm>
            <a:off x="7726680" y="2606040"/>
            <a:ext cx="256032" cy="256032"/>
          </a:xfrm>
          <a:prstGeom prst="ellipse">
            <a:avLst/>
          </a:prstGeom>
          <a:solidFill>
            <a:srgbClr val="0B57A4"/>
          </a:solidFill>
          <a:ln/>
        </p:spPr>
      </p:sp>
      <p:sp>
        <p:nvSpPr>
          <p:cNvPr id="16" name="Text 13"/>
          <p:cNvSpPr/>
          <p:nvPr/>
        </p:nvSpPr>
        <p:spPr>
          <a:xfrm>
            <a:off x="7726680" y="260604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8092440" y="2587752"/>
            <a:ext cx="3566160" cy="5486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Prix ou « Prix sur demande » — jamais laissé vide ni à 0</a:t>
            </a:r>
            <a:endParaRPr lang="en-US" sz="1150" dirty="0"/>
          </a:p>
        </p:txBody>
      </p:sp>
      <p:sp>
        <p:nvSpPr>
          <p:cNvPr id="18" name="Shape 15"/>
          <p:cNvSpPr/>
          <p:nvPr/>
        </p:nvSpPr>
        <p:spPr>
          <a:xfrm>
            <a:off x="7726680" y="3154680"/>
            <a:ext cx="256032" cy="256032"/>
          </a:xfrm>
          <a:prstGeom prst="ellipse">
            <a:avLst/>
          </a:prstGeom>
          <a:solidFill>
            <a:srgbClr val="0B57A4"/>
          </a:solidFill>
          <a:ln/>
        </p:spPr>
      </p:sp>
      <p:sp>
        <p:nvSpPr>
          <p:cNvPr id="19" name="Text 16"/>
          <p:cNvSpPr/>
          <p:nvPr/>
        </p:nvSpPr>
        <p:spPr>
          <a:xfrm>
            <a:off x="7726680" y="315468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8092440" y="3136392"/>
            <a:ext cx="3566160" cy="5486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Source officielle + date de dernière vérification affichées</a:t>
            </a:r>
            <a:endParaRPr lang="en-US" sz="1150" dirty="0"/>
          </a:p>
        </p:txBody>
      </p:sp>
      <p:sp>
        <p:nvSpPr>
          <p:cNvPr id="21" name="Shape 18"/>
          <p:cNvSpPr/>
          <p:nvPr/>
        </p:nvSpPr>
        <p:spPr>
          <a:xfrm>
            <a:off x="7726680" y="3703320"/>
            <a:ext cx="256032" cy="256032"/>
          </a:xfrm>
          <a:prstGeom prst="ellipse">
            <a:avLst/>
          </a:prstGeom>
          <a:solidFill>
            <a:srgbClr val="0B57A4"/>
          </a:solidFill>
          <a:ln/>
        </p:spPr>
      </p:sp>
      <p:sp>
        <p:nvSpPr>
          <p:cNvPr id="22" name="Text 19"/>
          <p:cNvSpPr/>
          <p:nvPr/>
        </p:nvSpPr>
        <p:spPr>
          <a:xfrm>
            <a:off x="7726680" y="370332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0"/>
          <p:cNvSpPr/>
          <p:nvPr/>
        </p:nvSpPr>
        <p:spPr>
          <a:xfrm>
            <a:off x="8092440" y="3685032"/>
            <a:ext cx="3566160" cy="5486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CTA : Demander un devis / Être contacté / Trouver une solution</a:t>
            </a:r>
            <a:endParaRPr lang="en-US" sz="1150" dirty="0"/>
          </a:p>
        </p:txBody>
      </p:sp>
      <p:sp>
        <p:nvSpPr>
          <p:cNvPr id="24" name="Text 21"/>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Démonstration — Portail public</a:t>
            </a:r>
            <a:endParaRPr lang="en-US" sz="900" dirty="0"/>
          </a:p>
        </p:txBody>
      </p:sp>
      <p:sp>
        <p:nvSpPr>
          <p:cNvPr id="25" name="Text 22"/>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6" name="Text 23"/>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DÉMONSTRATION — PORTAIL PUBLIC</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Comparateur d'offres</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29768" y="1344168"/>
            <a:ext cx="7095744" cy="4598219"/>
          </a:xfrm>
          <a:prstGeom prst="roundRect">
            <a:avLst>
              <a:gd name="adj" fmla="val 1193"/>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7" name="Image 0" descr="/home/claude/onportal_deck/assets/compare_filled_frame.png">    </p:cNvPr>
          <p:cNvPicPr>
            <a:picLocks noChangeAspect="1"/>
          </p:cNvPicPr>
          <p:nvPr/>
        </p:nvPicPr>
        <p:blipFill>
          <a:blip r:embed="rId1"/>
          <a:stretch>
            <a:fillRect/>
          </a:stretch>
        </p:blipFill>
        <p:spPr>
          <a:xfrm>
            <a:off x="502920" y="1417320"/>
            <a:ext cx="6949440" cy="4451915"/>
          </a:xfrm>
          <a:prstGeom prst="rect">
            <a:avLst/>
          </a:prstGeom>
        </p:spPr>
      </p:pic>
      <p:sp>
        <p:nvSpPr>
          <p:cNvPr id="8" name="Text 5"/>
          <p:cNvSpPr/>
          <p:nvPr/>
        </p:nvSpPr>
        <p:spPr>
          <a:xfrm>
            <a:off x="502920" y="5960675"/>
            <a:ext cx="694944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Comparaison de 2 offres Transport côte à côte (jusqu'à 3 offres)</a:t>
            </a:r>
            <a:endParaRPr lang="en-US" sz="950" dirty="0"/>
          </a:p>
        </p:txBody>
      </p:sp>
      <p:sp>
        <p:nvSpPr>
          <p:cNvPr id="9" name="Shape 6"/>
          <p:cNvSpPr/>
          <p:nvPr/>
        </p:nvSpPr>
        <p:spPr>
          <a:xfrm>
            <a:off x="7726680" y="1508760"/>
            <a:ext cx="256032" cy="256032"/>
          </a:xfrm>
          <a:prstGeom prst="ellipse">
            <a:avLst/>
          </a:prstGeom>
          <a:solidFill>
            <a:srgbClr val="0B57A4"/>
          </a:solidFill>
          <a:ln/>
        </p:spPr>
      </p:sp>
      <p:sp>
        <p:nvSpPr>
          <p:cNvPr id="10" name="Text 7"/>
          <p:cNvSpPr/>
          <p:nvPr/>
        </p:nvSpPr>
        <p:spPr>
          <a:xfrm>
            <a:off x="7726680" y="150876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092440" y="1490472"/>
            <a:ext cx="356616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Sélection libre jusqu'à 3 produits via un menu déroulant</a:t>
            </a:r>
            <a:endParaRPr lang="en-US" sz="1150" dirty="0"/>
          </a:p>
        </p:txBody>
      </p:sp>
      <p:sp>
        <p:nvSpPr>
          <p:cNvPr id="12" name="Shape 9"/>
          <p:cNvSpPr/>
          <p:nvPr/>
        </p:nvSpPr>
        <p:spPr>
          <a:xfrm>
            <a:off x="7726680" y="2075688"/>
            <a:ext cx="256032" cy="256032"/>
          </a:xfrm>
          <a:prstGeom prst="ellipse">
            <a:avLst/>
          </a:prstGeom>
          <a:solidFill>
            <a:srgbClr val="0B57A4"/>
          </a:solidFill>
          <a:ln/>
        </p:spPr>
      </p:sp>
      <p:sp>
        <p:nvSpPr>
          <p:cNvPr id="13" name="Text 10"/>
          <p:cNvSpPr/>
          <p:nvPr/>
        </p:nvSpPr>
        <p:spPr>
          <a:xfrm>
            <a:off x="7726680" y="207568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8092440" y="2057400"/>
            <a:ext cx="356616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Comparaison limitée à un même univers de service (cohérence commerciale)</a:t>
            </a:r>
            <a:endParaRPr lang="en-US" sz="1150" dirty="0"/>
          </a:p>
        </p:txBody>
      </p:sp>
      <p:sp>
        <p:nvSpPr>
          <p:cNvPr id="15" name="Shape 12"/>
          <p:cNvSpPr/>
          <p:nvPr/>
        </p:nvSpPr>
        <p:spPr>
          <a:xfrm>
            <a:off x="7726680" y="2642616"/>
            <a:ext cx="256032" cy="256032"/>
          </a:xfrm>
          <a:prstGeom prst="ellipse">
            <a:avLst/>
          </a:prstGeom>
          <a:solidFill>
            <a:srgbClr val="0B57A4"/>
          </a:solidFill>
          <a:ln/>
        </p:spPr>
      </p:sp>
      <p:sp>
        <p:nvSpPr>
          <p:cNvPr id="16" name="Text 13"/>
          <p:cNvSpPr/>
          <p:nvPr/>
        </p:nvSpPr>
        <p:spPr>
          <a:xfrm>
            <a:off x="7726680" y="2642616"/>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8092440" y="2624328"/>
            <a:ext cx="356616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Tableau généré dynamiquement : prix, disponibilité, description</a:t>
            </a:r>
            <a:endParaRPr lang="en-US" sz="1150" dirty="0"/>
          </a:p>
        </p:txBody>
      </p:sp>
      <p:sp>
        <p:nvSpPr>
          <p:cNvPr id="18" name="Shape 15"/>
          <p:cNvSpPr/>
          <p:nvPr/>
        </p:nvSpPr>
        <p:spPr>
          <a:xfrm>
            <a:off x="7726680" y="3209544"/>
            <a:ext cx="256032" cy="256032"/>
          </a:xfrm>
          <a:prstGeom prst="ellipse">
            <a:avLst/>
          </a:prstGeom>
          <a:solidFill>
            <a:srgbClr val="0B57A4"/>
          </a:solidFill>
          <a:ln/>
        </p:spPr>
      </p:sp>
      <p:sp>
        <p:nvSpPr>
          <p:cNvPr id="19" name="Text 16"/>
          <p:cNvSpPr/>
          <p:nvPr/>
        </p:nvSpPr>
        <p:spPr>
          <a:xfrm>
            <a:off x="7726680" y="320954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8092440" y="3191256"/>
            <a:ext cx="356616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Retrait individuel d'un produit de la comparaison (×)</a:t>
            </a:r>
            <a:endParaRPr lang="en-US" sz="1150" dirty="0"/>
          </a:p>
        </p:txBody>
      </p:sp>
      <p:sp>
        <p:nvSpPr>
          <p:cNvPr id="21" name="Text 18"/>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Démonstration — Portail public</a:t>
            </a:r>
            <a:endParaRPr lang="en-US" sz="900" dirty="0"/>
          </a:p>
        </p:txBody>
      </p:sp>
      <p:sp>
        <p:nvSpPr>
          <p:cNvPr id="22" name="Text 19"/>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3" name="Text 20"/>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PARCOURS CLIENT</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Parcours de souscription</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Text 4"/>
          <p:cNvSpPr/>
          <p:nvPr/>
        </p:nvSpPr>
        <p:spPr>
          <a:xfrm>
            <a:off x="548640" y="1371600"/>
            <a:ext cx="10972800" cy="274320"/>
          </a:xfrm>
          <a:prstGeom prst="rect">
            <a:avLst/>
          </a:prstGeom>
          <a:noFill/>
          <a:ln/>
        </p:spPr>
        <p:txBody>
          <a:bodyPr wrap="square" rtlCol="0" anchor="ctr"/>
          <a:lstStyle/>
          <a:p>
            <a:pPr indent="0" marL="0">
              <a:buNone/>
            </a:pPr>
            <a:r>
              <a:rPr lang="en-US" sz="1050" i="1" dirty="0">
                <a:solidFill>
                  <a:srgbClr val="667085"/>
                </a:solidFill>
                <a:latin typeface="Calibri" pitchFamily="34" charset="0"/>
                <a:ea typeface="Calibri" pitchFamily="34" charset="-122"/>
                <a:cs typeface="Calibri" pitchFamily="34" charset="-120"/>
              </a:rPr>
              <a:t>Statuts réels (SubscriptionRequest.Status) — transitions contrôlées par une matrice serveur</a:t>
            </a:r>
            <a:endParaRPr lang="en-US" sz="1050" dirty="0"/>
          </a:p>
        </p:txBody>
      </p:sp>
      <p:sp>
        <p:nvSpPr>
          <p:cNvPr id="7" name="Shape 5"/>
          <p:cNvSpPr/>
          <p:nvPr/>
        </p:nvSpPr>
        <p:spPr>
          <a:xfrm>
            <a:off x="548640" y="1554480"/>
            <a:ext cx="1463040" cy="502920"/>
          </a:xfrm>
          <a:prstGeom prst="roundRect">
            <a:avLst>
              <a:gd name="adj" fmla="val 10909"/>
            </a:avLst>
          </a:prstGeom>
          <a:solidFill>
            <a:srgbClr val="EAF3FC"/>
          </a:solidFill>
          <a:ln/>
        </p:spPr>
      </p:sp>
      <p:sp>
        <p:nvSpPr>
          <p:cNvPr id="8" name="Text 6"/>
          <p:cNvSpPr/>
          <p:nvPr/>
        </p:nvSpPr>
        <p:spPr>
          <a:xfrm>
            <a:off x="548640" y="1554480"/>
            <a:ext cx="1463040" cy="502920"/>
          </a:xfrm>
          <a:prstGeom prst="rect">
            <a:avLst/>
          </a:prstGeom>
          <a:noFill/>
          <a:ln/>
        </p:spPr>
        <p:txBody>
          <a:bodyPr wrap="square" rtlCol="0" anchor="ctr"/>
          <a:lstStyle/>
          <a:p>
            <a:pPr algn="ctr" indent="0" marL="0">
              <a:buNone/>
            </a:pPr>
            <a:r>
              <a:rPr lang="en-US" sz="900" b="1" dirty="0">
                <a:solidFill>
                  <a:srgbClr val="0A2C54"/>
                </a:solidFill>
                <a:latin typeface="Courier New" pitchFamily="34" charset="0"/>
                <a:ea typeface="Courier New" pitchFamily="34" charset="-122"/>
                <a:cs typeface="Courier New" pitchFamily="34" charset="-120"/>
              </a:rPr>
              <a:t>DRAFT</a:t>
            </a:r>
            <a:endParaRPr lang="en-US" sz="900" dirty="0"/>
          </a:p>
        </p:txBody>
      </p:sp>
      <p:sp>
        <p:nvSpPr>
          <p:cNvPr id="9" name="Shape 7"/>
          <p:cNvSpPr/>
          <p:nvPr/>
        </p:nvSpPr>
        <p:spPr>
          <a:xfrm rot="5400000">
            <a:off x="1993392" y="1728216"/>
            <a:ext cx="164592" cy="146304"/>
          </a:xfrm>
          <a:prstGeom prst="triangle">
            <a:avLst/>
          </a:prstGeom>
          <a:solidFill>
            <a:srgbClr val="667085"/>
          </a:solidFill>
          <a:ln/>
        </p:spPr>
      </p:sp>
      <p:sp>
        <p:nvSpPr>
          <p:cNvPr id="10" name="Shape 8"/>
          <p:cNvSpPr/>
          <p:nvPr/>
        </p:nvSpPr>
        <p:spPr>
          <a:xfrm>
            <a:off x="2194560" y="1554480"/>
            <a:ext cx="1463040" cy="502920"/>
          </a:xfrm>
          <a:prstGeom prst="roundRect">
            <a:avLst>
              <a:gd name="adj" fmla="val 10909"/>
            </a:avLst>
          </a:prstGeom>
          <a:solidFill>
            <a:srgbClr val="EAF3FC"/>
          </a:solidFill>
          <a:ln/>
        </p:spPr>
      </p:sp>
      <p:sp>
        <p:nvSpPr>
          <p:cNvPr id="11" name="Text 9"/>
          <p:cNvSpPr/>
          <p:nvPr/>
        </p:nvSpPr>
        <p:spPr>
          <a:xfrm>
            <a:off x="2194560" y="1554480"/>
            <a:ext cx="1463040" cy="502920"/>
          </a:xfrm>
          <a:prstGeom prst="rect">
            <a:avLst/>
          </a:prstGeom>
          <a:noFill/>
          <a:ln/>
        </p:spPr>
        <p:txBody>
          <a:bodyPr wrap="square" rtlCol="0" anchor="ctr"/>
          <a:lstStyle/>
          <a:p>
            <a:pPr algn="ctr" indent="0" marL="0">
              <a:buNone/>
            </a:pPr>
            <a:r>
              <a:rPr lang="en-US" sz="900" b="1" dirty="0">
                <a:solidFill>
                  <a:srgbClr val="0A2C54"/>
                </a:solidFill>
                <a:latin typeface="Courier New" pitchFamily="34" charset="0"/>
                <a:ea typeface="Courier New" pitchFamily="34" charset="-122"/>
                <a:cs typeface="Courier New" pitchFamily="34" charset="-120"/>
              </a:rPr>
              <a:t>PENDING</a:t>
            </a:r>
            <a:endParaRPr lang="en-US" sz="900" dirty="0"/>
          </a:p>
        </p:txBody>
      </p:sp>
      <p:sp>
        <p:nvSpPr>
          <p:cNvPr id="12" name="Shape 10"/>
          <p:cNvSpPr/>
          <p:nvPr/>
        </p:nvSpPr>
        <p:spPr>
          <a:xfrm rot="5400000">
            <a:off x="3639312" y="1728216"/>
            <a:ext cx="164592" cy="146304"/>
          </a:xfrm>
          <a:prstGeom prst="triangle">
            <a:avLst/>
          </a:prstGeom>
          <a:solidFill>
            <a:srgbClr val="667085"/>
          </a:solidFill>
          <a:ln/>
        </p:spPr>
      </p:sp>
      <p:sp>
        <p:nvSpPr>
          <p:cNvPr id="13" name="Shape 11"/>
          <p:cNvSpPr/>
          <p:nvPr/>
        </p:nvSpPr>
        <p:spPr>
          <a:xfrm>
            <a:off x="3840480" y="1554480"/>
            <a:ext cx="1463040" cy="502920"/>
          </a:xfrm>
          <a:prstGeom prst="roundRect">
            <a:avLst>
              <a:gd name="adj" fmla="val 10909"/>
            </a:avLst>
          </a:prstGeom>
          <a:solidFill>
            <a:srgbClr val="EAF3FC"/>
          </a:solidFill>
          <a:ln/>
        </p:spPr>
      </p:sp>
      <p:sp>
        <p:nvSpPr>
          <p:cNvPr id="14" name="Text 12"/>
          <p:cNvSpPr/>
          <p:nvPr/>
        </p:nvSpPr>
        <p:spPr>
          <a:xfrm>
            <a:off x="3840480" y="1554480"/>
            <a:ext cx="1463040" cy="502920"/>
          </a:xfrm>
          <a:prstGeom prst="rect">
            <a:avLst/>
          </a:prstGeom>
          <a:noFill/>
          <a:ln/>
        </p:spPr>
        <p:txBody>
          <a:bodyPr wrap="square" rtlCol="0" anchor="ctr"/>
          <a:lstStyle/>
          <a:p>
            <a:pPr algn="ctr" indent="0" marL="0">
              <a:buNone/>
            </a:pPr>
            <a:r>
              <a:rPr lang="en-US" sz="900" b="1" dirty="0">
                <a:solidFill>
                  <a:srgbClr val="0A2C54"/>
                </a:solidFill>
                <a:latin typeface="Courier New" pitchFamily="34" charset="0"/>
                <a:ea typeface="Courier New" pitchFamily="34" charset="-122"/>
                <a:cs typeface="Courier New" pitchFamily="34" charset="-120"/>
              </a:rPr>
              <a:t>UNDER_REVIEW</a:t>
            </a:r>
            <a:endParaRPr lang="en-US" sz="900" dirty="0"/>
          </a:p>
        </p:txBody>
      </p:sp>
      <p:sp>
        <p:nvSpPr>
          <p:cNvPr id="15" name="Shape 13"/>
          <p:cNvSpPr/>
          <p:nvPr/>
        </p:nvSpPr>
        <p:spPr>
          <a:xfrm rot="5400000">
            <a:off x="5285232" y="1728216"/>
            <a:ext cx="164592" cy="146304"/>
          </a:xfrm>
          <a:prstGeom prst="triangle">
            <a:avLst/>
          </a:prstGeom>
          <a:solidFill>
            <a:srgbClr val="667085"/>
          </a:solidFill>
          <a:ln/>
        </p:spPr>
      </p:sp>
      <p:sp>
        <p:nvSpPr>
          <p:cNvPr id="16" name="Shape 14"/>
          <p:cNvSpPr/>
          <p:nvPr/>
        </p:nvSpPr>
        <p:spPr>
          <a:xfrm>
            <a:off x="5486400" y="1554480"/>
            <a:ext cx="1463040" cy="502920"/>
          </a:xfrm>
          <a:prstGeom prst="roundRect">
            <a:avLst>
              <a:gd name="adj" fmla="val 10909"/>
            </a:avLst>
          </a:prstGeom>
          <a:solidFill>
            <a:srgbClr val="EAF3FC"/>
          </a:solidFill>
          <a:ln/>
        </p:spPr>
      </p:sp>
      <p:sp>
        <p:nvSpPr>
          <p:cNvPr id="17" name="Text 15"/>
          <p:cNvSpPr/>
          <p:nvPr/>
        </p:nvSpPr>
        <p:spPr>
          <a:xfrm>
            <a:off x="5486400" y="1554480"/>
            <a:ext cx="1463040" cy="502920"/>
          </a:xfrm>
          <a:prstGeom prst="rect">
            <a:avLst/>
          </a:prstGeom>
          <a:noFill/>
          <a:ln/>
        </p:spPr>
        <p:txBody>
          <a:bodyPr wrap="square" rtlCol="0" anchor="ctr"/>
          <a:lstStyle/>
          <a:p>
            <a:pPr algn="ctr" indent="0" marL="0">
              <a:buNone/>
            </a:pPr>
            <a:r>
              <a:rPr lang="en-US" sz="900" b="1" dirty="0">
                <a:solidFill>
                  <a:srgbClr val="0A2C54"/>
                </a:solidFill>
                <a:latin typeface="Courier New" pitchFamily="34" charset="0"/>
                <a:ea typeface="Courier New" pitchFamily="34" charset="-122"/>
                <a:cs typeface="Courier New" pitchFamily="34" charset="-120"/>
              </a:rPr>
              <a:t>APPROVED</a:t>
            </a:r>
            <a:endParaRPr lang="en-US" sz="900" dirty="0"/>
          </a:p>
        </p:txBody>
      </p:sp>
      <p:sp>
        <p:nvSpPr>
          <p:cNvPr id="18" name="Shape 16"/>
          <p:cNvSpPr/>
          <p:nvPr/>
        </p:nvSpPr>
        <p:spPr>
          <a:xfrm rot="5400000">
            <a:off x="6931152" y="1728216"/>
            <a:ext cx="164592" cy="146304"/>
          </a:xfrm>
          <a:prstGeom prst="triangle">
            <a:avLst/>
          </a:prstGeom>
          <a:solidFill>
            <a:srgbClr val="667085"/>
          </a:solidFill>
          <a:ln/>
        </p:spPr>
      </p:sp>
      <p:sp>
        <p:nvSpPr>
          <p:cNvPr id="19" name="Shape 17"/>
          <p:cNvSpPr/>
          <p:nvPr/>
        </p:nvSpPr>
        <p:spPr>
          <a:xfrm>
            <a:off x="7132320" y="1554480"/>
            <a:ext cx="1463040" cy="502920"/>
          </a:xfrm>
          <a:prstGeom prst="roundRect">
            <a:avLst>
              <a:gd name="adj" fmla="val 10909"/>
            </a:avLst>
          </a:prstGeom>
          <a:solidFill>
            <a:srgbClr val="EAF3FC"/>
          </a:solidFill>
          <a:ln/>
        </p:spPr>
      </p:sp>
      <p:sp>
        <p:nvSpPr>
          <p:cNvPr id="20" name="Text 18"/>
          <p:cNvSpPr/>
          <p:nvPr/>
        </p:nvSpPr>
        <p:spPr>
          <a:xfrm>
            <a:off x="7132320" y="1554480"/>
            <a:ext cx="1463040" cy="502920"/>
          </a:xfrm>
          <a:prstGeom prst="rect">
            <a:avLst/>
          </a:prstGeom>
          <a:noFill/>
          <a:ln/>
        </p:spPr>
        <p:txBody>
          <a:bodyPr wrap="square" rtlCol="0" anchor="ctr"/>
          <a:lstStyle/>
          <a:p>
            <a:pPr algn="ctr" indent="0" marL="0">
              <a:buNone/>
            </a:pPr>
            <a:r>
              <a:rPr lang="en-US" sz="900" b="1" dirty="0">
                <a:solidFill>
                  <a:srgbClr val="0A2C54"/>
                </a:solidFill>
                <a:latin typeface="Courier New" pitchFamily="34" charset="0"/>
                <a:ea typeface="Courier New" pitchFamily="34" charset="-122"/>
                <a:cs typeface="Courier New" pitchFamily="34" charset="-120"/>
              </a:rPr>
              <a:t>ACTIVATING</a:t>
            </a:r>
            <a:endParaRPr lang="en-US" sz="900" dirty="0"/>
          </a:p>
        </p:txBody>
      </p:sp>
      <p:sp>
        <p:nvSpPr>
          <p:cNvPr id="21" name="Shape 19"/>
          <p:cNvSpPr/>
          <p:nvPr/>
        </p:nvSpPr>
        <p:spPr>
          <a:xfrm rot="5400000">
            <a:off x="8577072" y="1728216"/>
            <a:ext cx="164592" cy="146304"/>
          </a:xfrm>
          <a:prstGeom prst="triangle">
            <a:avLst/>
          </a:prstGeom>
          <a:solidFill>
            <a:srgbClr val="667085"/>
          </a:solidFill>
          <a:ln/>
        </p:spPr>
      </p:sp>
      <p:sp>
        <p:nvSpPr>
          <p:cNvPr id="22" name="Shape 20"/>
          <p:cNvSpPr/>
          <p:nvPr/>
        </p:nvSpPr>
        <p:spPr>
          <a:xfrm>
            <a:off x="8778240" y="1554480"/>
            <a:ext cx="1463040" cy="502920"/>
          </a:xfrm>
          <a:prstGeom prst="roundRect">
            <a:avLst>
              <a:gd name="adj" fmla="val 10909"/>
            </a:avLst>
          </a:prstGeom>
          <a:solidFill>
            <a:srgbClr val="EAF3FC"/>
          </a:solidFill>
          <a:ln/>
        </p:spPr>
      </p:sp>
      <p:sp>
        <p:nvSpPr>
          <p:cNvPr id="23" name="Text 21"/>
          <p:cNvSpPr/>
          <p:nvPr/>
        </p:nvSpPr>
        <p:spPr>
          <a:xfrm>
            <a:off x="8778240" y="1554480"/>
            <a:ext cx="1463040" cy="502920"/>
          </a:xfrm>
          <a:prstGeom prst="rect">
            <a:avLst/>
          </a:prstGeom>
          <a:noFill/>
          <a:ln/>
        </p:spPr>
        <p:txBody>
          <a:bodyPr wrap="square" rtlCol="0" anchor="ctr"/>
          <a:lstStyle/>
          <a:p>
            <a:pPr algn="ctr" indent="0" marL="0">
              <a:buNone/>
            </a:pPr>
            <a:r>
              <a:rPr lang="en-US" sz="900" b="1" dirty="0">
                <a:solidFill>
                  <a:srgbClr val="0A2C54"/>
                </a:solidFill>
                <a:latin typeface="Courier New" pitchFamily="34" charset="0"/>
                <a:ea typeface="Courier New" pitchFamily="34" charset="-122"/>
                <a:cs typeface="Courier New" pitchFamily="34" charset="-120"/>
              </a:rPr>
              <a:t>ACTIVE</a:t>
            </a:r>
            <a:endParaRPr lang="en-US" sz="900" dirty="0"/>
          </a:p>
        </p:txBody>
      </p:sp>
      <p:sp>
        <p:nvSpPr>
          <p:cNvPr id="24" name="Shape 22"/>
          <p:cNvSpPr/>
          <p:nvPr/>
        </p:nvSpPr>
        <p:spPr>
          <a:xfrm rot="5400000">
            <a:off x="10222992" y="1728216"/>
            <a:ext cx="164592" cy="146304"/>
          </a:xfrm>
          <a:prstGeom prst="triangle">
            <a:avLst/>
          </a:prstGeom>
          <a:solidFill>
            <a:srgbClr val="667085"/>
          </a:solidFill>
          <a:ln/>
        </p:spPr>
      </p:sp>
      <p:sp>
        <p:nvSpPr>
          <p:cNvPr id="25" name="Shape 23"/>
          <p:cNvSpPr/>
          <p:nvPr/>
        </p:nvSpPr>
        <p:spPr>
          <a:xfrm>
            <a:off x="10424160" y="1554480"/>
            <a:ext cx="1463040" cy="502920"/>
          </a:xfrm>
          <a:prstGeom prst="roundRect">
            <a:avLst>
              <a:gd name="adj" fmla="val 10909"/>
            </a:avLst>
          </a:prstGeom>
          <a:solidFill>
            <a:srgbClr val="1AA260"/>
          </a:solidFill>
          <a:ln/>
        </p:spPr>
      </p:sp>
      <p:sp>
        <p:nvSpPr>
          <p:cNvPr id="26" name="Text 24"/>
          <p:cNvSpPr/>
          <p:nvPr/>
        </p:nvSpPr>
        <p:spPr>
          <a:xfrm>
            <a:off x="10424160" y="1554480"/>
            <a:ext cx="1463040" cy="502920"/>
          </a:xfrm>
          <a:prstGeom prst="rect">
            <a:avLst/>
          </a:prstGeom>
          <a:noFill/>
          <a:ln/>
        </p:spPr>
        <p:txBody>
          <a:bodyPr wrap="square"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COMPLETED</a:t>
            </a:r>
            <a:endParaRPr lang="en-US" sz="900" dirty="0"/>
          </a:p>
        </p:txBody>
      </p:sp>
      <p:sp>
        <p:nvSpPr>
          <p:cNvPr id="27" name="Text 25"/>
          <p:cNvSpPr/>
          <p:nvPr/>
        </p:nvSpPr>
        <p:spPr>
          <a:xfrm>
            <a:off x="548640" y="2240280"/>
            <a:ext cx="11064240" cy="32004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États alternatifs : ADDITIONAL_INFO_REQUIRED, SCHEDULED, SUSPENDED, REJECTED, CANCELLED (terminaux : REJECTED / CANCELLED / COMPLETED)</a:t>
            </a:r>
            <a:endParaRPr lang="en-US" sz="950" dirty="0"/>
          </a:p>
        </p:txBody>
      </p:sp>
      <p:sp>
        <p:nvSpPr>
          <p:cNvPr id="28" name="Shape 26"/>
          <p:cNvSpPr/>
          <p:nvPr/>
        </p:nvSpPr>
        <p:spPr>
          <a:xfrm>
            <a:off x="548640" y="2743200"/>
            <a:ext cx="5394960" cy="1417320"/>
          </a:xfrm>
          <a:prstGeom prst="roundRect">
            <a:avLst>
              <a:gd name="adj" fmla="val 5161"/>
            </a:avLst>
          </a:prstGeom>
          <a:solidFill>
            <a:srgbClr val="F4F6F8"/>
          </a:solidFill>
          <a:ln/>
        </p:spPr>
      </p:sp>
      <p:sp>
        <p:nvSpPr>
          <p:cNvPr id="29" name="Text 27"/>
          <p:cNvSpPr/>
          <p:nvPr/>
        </p:nvSpPr>
        <p:spPr>
          <a:xfrm>
            <a:off x="822960" y="2880360"/>
            <a:ext cx="4846320" cy="274320"/>
          </a:xfrm>
          <a:prstGeom prst="rect">
            <a:avLst/>
          </a:prstGeom>
          <a:noFill/>
          <a:ln/>
        </p:spPr>
        <p:txBody>
          <a:bodyPr wrap="square" rtlCol="0" anchor="ctr"/>
          <a:lstStyle/>
          <a:p>
            <a:pPr indent="0" marL="0">
              <a:buNone/>
            </a:pPr>
            <a:r>
              <a:rPr lang="en-US" sz="1050" b="1" dirty="0">
                <a:solidFill>
                  <a:srgbClr val="0A2C54"/>
                </a:solidFill>
                <a:latin typeface="Calibri" pitchFamily="34" charset="0"/>
                <a:ea typeface="Calibri" pitchFamily="34" charset="-122"/>
                <a:cs typeface="Calibri" pitchFamily="34" charset="-120"/>
              </a:rPr>
              <a:t>Exemple réel généré pendant l'analyse</a:t>
            </a:r>
            <a:endParaRPr lang="en-US" sz="1050" dirty="0"/>
          </a:p>
        </p:txBody>
      </p:sp>
      <p:sp>
        <p:nvSpPr>
          <p:cNvPr id="30" name="Text 28"/>
          <p:cNvSpPr/>
          <p:nvPr/>
        </p:nvSpPr>
        <p:spPr>
          <a:xfrm>
            <a:off x="822960" y="3200400"/>
            <a:ext cx="4846320" cy="822960"/>
          </a:xfrm>
          <a:prstGeom prst="rect">
            <a:avLst/>
          </a:prstGeom>
          <a:noFill/>
          <a:ln/>
        </p:spPr>
        <p:txBody>
          <a:bodyPr wrap="square"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SUB-2026-000001  —  Jean Mballa  —  Application Blue (recharge et souscription)  —  statut « En cours de traitement »</a:t>
            </a:r>
            <a:endParaRPr lang="en-US" sz="950" dirty="0"/>
          </a:p>
        </p:txBody>
      </p:sp>
      <p:sp>
        <p:nvSpPr>
          <p:cNvPr id="31" name="Shape 29"/>
          <p:cNvSpPr/>
          <p:nvPr/>
        </p:nvSpPr>
        <p:spPr>
          <a:xfrm>
            <a:off x="6263640" y="2743200"/>
            <a:ext cx="5394960" cy="1417320"/>
          </a:xfrm>
          <a:prstGeom prst="roundRect">
            <a:avLst>
              <a:gd name="adj" fmla="val 5161"/>
            </a:avLst>
          </a:prstGeom>
          <a:solidFill>
            <a:srgbClr val="EAF3FC"/>
          </a:solidFill>
          <a:ln/>
        </p:spPr>
      </p:sp>
      <p:sp>
        <p:nvSpPr>
          <p:cNvPr id="32" name="Text 30"/>
          <p:cNvSpPr/>
          <p:nvPr/>
        </p:nvSpPr>
        <p:spPr>
          <a:xfrm>
            <a:off x="6537960" y="2880360"/>
            <a:ext cx="4846320" cy="274320"/>
          </a:xfrm>
          <a:prstGeom prst="rect">
            <a:avLst/>
          </a:prstGeom>
          <a:noFill/>
          <a:ln/>
        </p:spPr>
        <p:txBody>
          <a:bodyPr wrap="square" rtlCol="0" anchor="ctr"/>
          <a:lstStyle/>
          <a:p>
            <a:pPr indent="0" marL="0">
              <a:buNone/>
            </a:pPr>
            <a:r>
              <a:rPr lang="en-US" sz="1050" b="1" dirty="0">
                <a:solidFill>
                  <a:srgbClr val="0A2C54"/>
                </a:solidFill>
                <a:latin typeface="Calibri" pitchFamily="34" charset="0"/>
                <a:ea typeface="Calibri" pitchFamily="34" charset="-122"/>
                <a:cs typeface="Calibri" pitchFamily="34" charset="-120"/>
              </a:rPr>
              <a:t>Traçabilité</a:t>
            </a:r>
            <a:endParaRPr lang="en-US" sz="1050" dirty="0"/>
          </a:p>
        </p:txBody>
      </p:sp>
      <p:sp>
        <p:nvSpPr>
          <p:cNvPr id="33" name="Text 31"/>
          <p:cNvSpPr/>
          <p:nvPr/>
        </p:nvSpPr>
        <p:spPr>
          <a:xfrm>
            <a:off x="6537960" y="3200400"/>
            <a:ext cx="4846320" cy="914400"/>
          </a:xfrm>
          <a:prstGeom prst="rect">
            <a:avLst/>
          </a:prstGeom>
          <a:noFill/>
          <a:ln/>
        </p:spPr>
        <p:txBody>
          <a:bodyPr wrap="square" rtlCol="0" anchor="t"/>
          <a:lstStyle/>
          <a:p>
            <a:pPr marL="177800" indent="-1778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Chaque transition est tracée (SubscriptionStatusHistory)</a:t>
            </a:r>
            <a:endParaRPr lang="en-US" sz="1000" dirty="0"/>
          </a:p>
          <a:p>
            <a:pPr marL="177800" indent="-1778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Numéro de dossier lisible : SUB-{année}-{séquence sur 6 chiffres}</a:t>
            </a:r>
            <a:endParaRPr lang="en-US" sz="1000" dirty="0"/>
          </a:p>
          <a:p>
            <a:pPr marL="177800" indent="-1778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Notifications envoyées au client à chaque étape</a:t>
            </a:r>
            <a:endParaRPr lang="en-US" sz="1000" dirty="0"/>
          </a:p>
        </p:txBody>
      </p:sp>
      <p:sp>
        <p:nvSpPr>
          <p:cNvPr id="34" name="Text 32"/>
          <p:cNvSpPr/>
          <p:nvPr/>
        </p:nvSpPr>
        <p:spPr>
          <a:xfrm>
            <a:off x="548640" y="4434840"/>
            <a:ext cx="5486400" cy="274320"/>
          </a:xfrm>
          <a:prstGeom prst="rect">
            <a:avLst/>
          </a:prstGeom>
          <a:noFill/>
          <a:ln/>
        </p:spPr>
        <p:txBody>
          <a:bodyPr wrap="square" rtlCol="0" anchor="ctr"/>
          <a:lstStyle/>
          <a:p>
            <a:pPr indent="0" marL="0">
              <a:buNone/>
            </a:pPr>
            <a:r>
              <a:rPr lang="en-US" sz="1050" b="1" spc="120" kern="0" dirty="0">
                <a:solidFill>
                  <a:srgbClr val="0B57A4"/>
                </a:solidFill>
                <a:latin typeface="Calibri" pitchFamily="34" charset="0"/>
                <a:ea typeface="Calibri" pitchFamily="34" charset="-122"/>
                <a:cs typeface="Calibri" pitchFamily="34" charset="-120"/>
              </a:rPr>
              <a:t>PARCOURS ÉCRAN</a:t>
            </a:r>
            <a:endParaRPr lang="en-US" sz="1050" dirty="0"/>
          </a:p>
        </p:txBody>
      </p:sp>
      <p:sp>
        <p:nvSpPr>
          <p:cNvPr id="35" name="Shape 33"/>
          <p:cNvSpPr/>
          <p:nvPr/>
        </p:nvSpPr>
        <p:spPr>
          <a:xfrm>
            <a:off x="548640" y="4800600"/>
            <a:ext cx="1965960" cy="502920"/>
          </a:xfrm>
          <a:prstGeom prst="roundRect">
            <a:avLst>
              <a:gd name="adj" fmla="val 49091"/>
            </a:avLst>
          </a:prstGeom>
          <a:solidFill>
            <a:srgbClr val="0A2C54"/>
          </a:solidFill>
          <a:ln/>
        </p:spPr>
      </p:sp>
      <p:sp>
        <p:nvSpPr>
          <p:cNvPr id="36" name="Text 34"/>
          <p:cNvSpPr/>
          <p:nvPr/>
        </p:nvSpPr>
        <p:spPr>
          <a:xfrm>
            <a:off x="548640" y="4800600"/>
            <a:ext cx="196596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Produit</a:t>
            </a:r>
            <a:endParaRPr lang="en-US" sz="1050" dirty="0"/>
          </a:p>
        </p:txBody>
      </p:sp>
      <p:sp>
        <p:nvSpPr>
          <p:cNvPr id="37" name="Text 35"/>
          <p:cNvSpPr/>
          <p:nvPr/>
        </p:nvSpPr>
        <p:spPr>
          <a:xfrm>
            <a:off x="2514600" y="4892040"/>
            <a:ext cx="320040" cy="320040"/>
          </a:xfrm>
          <a:prstGeom prst="rect">
            <a:avLst/>
          </a:prstGeom>
          <a:noFill/>
          <a:ln/>
        </p:spPr>
        <p:txBody>
          <a:bodyPr wrap="square" rtlCol="0" anchor="ctr"/>
          <a:lstStyle/>
          <a:p>
            <a:pPr algn="ctr" indent="0" marL="0">
              <a:buNone/>
            </a:pPr>
            <a:r>
              <a:rPr lang="en-US" sz="1400" b="1" dirty="0">
                <a:solidFill>
                  <a:srgbClr val="0B57A4"/>
                </a:solidFill>
              </a:rPr>
              <a:t>➜</a:t>
            </a:r>
            <a:endParaRPr lang="en-US" sz="1400" dirty="0"/>
          </a:p>
        </p:txBody>
      </p:sp>
      <p:sp>
        <p:nvSpPr>
          <p:cNvPr id="38" name="Shape 36"/>
          <p:cNvSpPr/>
          <p:nvPr/>
        </p:nvSpPr>
        <p:spPr>
          <a:xfrm>
            <a:off x="2834640" y="4800600"/>
            <a:ext cx="1965960" cy="502920"/>
          </a:xfrm>
          <a:prstGeom prst="roundRect">
            <a:avLst>
              <a:gd name="adj" fmla="val 49091"/>
            </a:avLst>
          </a:prstGeom>
          <a:solidFill>
            <a:srgbClr val="0A2C54"/>
          </a:solidFill>
          <a:ln/>
        </p:spPr>
      </p:sp>
      <p:sp>
        <p:nvSpPr>
          <p:cNvPr id="39" name="Text 37"/>
          <p:cNvSpPr/>
          <p:nvPr/>
        </p:nvSpPr>
        <p:spPr>
          <a:xfrm>
            <a:off x="2834640" y="4800600"/>
            <a:ext cx="196596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Souscrire</a:t>
            </a:r>
            <a:endParaRPr lang="en-US" sz="1050" dirty="0"/>
          </a:p>
        </p:txBody>
      </p:sp>
      <p:sp>
        <p:nvSpPr>
          <p:cNvPr id="40" name="Text 38"/>
          <p:cNvSpPr/>
          <p:nvPr/>
        </p:nvSpPr>
        <p:spPr>
          <a:xfrm>
            <a:off x="4800600" y="4892040"/>
            <a:ext cx="320040" cy="320040"/>
          </a:xfrm>
          <a:prstGeom prst="rect">
            <a:avLst/>
          </a:prstGeom>
          <a:noFill/>
          <a:ln/>
        </p:spPr>
        <p:txBody>
          <a:bodyPr wrap="square" rtlCol="0" anchor="ctr"/>
          <a:lstStyle/>
          <a:p>
            <a:pPr algn="ctr" indent="0" marL="0">
              <a:buNone/>
            </a:pPr>
            <a:r>
              <a:rPr lang="en-US" sz="1400" b="1" dirty="0">
                <a:solidFill>
                  <a:srgbClr val="0B57A4"/>
                </a:solidFill>
              </a:rPr>
              <a:t>➜</a:t>
            </a:r>
            <a:endParaRPr lang="en-US" sz="1400" dirty="0"/>
          </a:p>
        </p:txBody>
      </p:sp>
      <p:sp>
        <p:nvSpPr>
          <p:cNvPr id="41" name="Shape 39"/>
          <p:cNvSpPr/>
          <p:nvPr/>
        </p:nvSpPr>
        <p:spPr>
          <a:xfrm>
            <a:off x="5120640" y="4800600"/>
            <a:ext cx="1965960" cy="502920"/>
          </a:xfrm>
          <a:prstGeom prst="roundRect">
            <a:avLst>
              <a:gd name="adj" fmla="val 49091"/>
            </a:avLst>
          </a:prstGeom>
          <a:solidFill>
            <a:srgbClr val="0A2C54"/>
          </a:solidFill>
          <a:ln/>
        </p:spPr>
      </p:sp>
      <p:sp>
        <p:nvSpPr>
          <p:cNvPr id="42" name="Text 40"/>
          <p:cNvSpPr/>
          <p:nvPr/>
        </p:nvSpPr>
        <p:spPr>
          <a:xfrm>
            <a:off x="5120640" y="4800600"/>
            <a:ext cx="196596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Formulaire</a:t>
            </a:r>
            <a:endParaRPr lang="en-US" sz="1050" dirty="0"/>
          </a:p>
        </p:txBody>
      </p:sp>
      <p:sp>
        <p:nvSpPr>
          <p:cNvPr id="43" name="Text 41"/>
          <p:cNvSpPr/>
          <p:nvPr/>
        </p:nvSpPr>
        <p:spPr>
          <a:xfrm>
            <a:off x="7086600" y="4892040"/>
            <a:ext cx="320040" cy="320040"/>
          </a:xfrm>
          <a:prstGeom prst="rect">
            <a:avLst/>
          </a:prstGeom>
          <a:noFill/>
          <a:ln/>
        </p:spPr>
        <p:txBody>
          <a:bodyPr wrap="square" rtlCol="0" anchor="ctr"/>
          <a:lstStyle/>
          <a:p>
            <a:pPr algn="ctr" indent="0" marL="0">
              <a:buNone/>
            </a:pPr>
            <a:r>
              <a:rPr lang="en-US" sz="1400" b="1" dirty="0">
                <a:solidFill>
                  <a:srgbClr val="0B57A4"/>
                </a:solidFill>
              </a:rPr>
              <a:t>➜</a:t>
            </a:r>
            <a:endParaRPr lang="en-US" sz="1400" dirty="0"/>
          </a:p>
        </p:txBody>
      </p:sp>
      <p:sp>
        <p:nvSpPr>
          <p:cNvPr id="44" name="Shape 42"/>
          <p:cNvSpPr/>
          <p:nvPr/>
        </p:nvSpPr>
        <p:spPr>
          <a:xfrm>
            <a:off x="7406640" y="4800600"/>
            <a:ext cx="1965960" cy="502920"/>
          </a:xfrm>
          <a:prstGeom prst="roundRect">
            <a:avLst>
              <a:gd name="adj" fmla="val 49091"/>
            </a:avLst>
          </a:prstGeom>
          <a:solidFill>
            <a:srgbClr val="0A2C54"/>
          </a:solidFill>
          <a:ln/>
        </p:spPr>
      </p:sp>
      <p:sp>
        <p:nvSpPr>
          <p:cNvPr id="45" name="Text 43"/>
          <p:cNvSpPr/>
          <p:nvPr/>
        </p:nvSpPr>
        <p:spPr>
          <a:xfrm>
            <a:off x="7406640" y="4800600"/>
            <a:ext cx="196596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Confirmation</a:t>
            </a:r>
            <a:endParaRPr lang="en-US" sz="1050" dirty="0"/>
          </a:p>
        </p:txBody>
      </p:sp>
      <p:sp>
        <p:nvSpPr>
          <p:cNvPr id="46" name="Text 44"/>
          <p:cNvSpPr/>
          <p:nvPr/>
        </p:nvSpPr>
        <p:spPr>
          <a:xfrm>
            <a:off x="9372600" y="4892040"/>
            <a:ext cx="320040" cy="320040"/>
          </a:xfrm>
          <a:prstGeom prst="rect">
            <a:avLst/>
          </a:prstGeom>
          <a:noFill/>
          <a:ln/>
        </p:spPr>
        <p:txBody>
          <a:bodyPr wrap="square" rtlCol="0" anchor="ctr"/>
          <a:lstStyle/>
          <a:p>
            <a:pPr algn="ctr" indent="0" marL="0">
              <a:buNone/>
            </a:pPr>
            <a:r>
              <a:rPr lang="en-US" sz="1400" b="1" dirty="0">
                <a:solidFill>
                  <a:srgbClr val="0B57A4"/>
                </a:solidFill>
              </a:rPr>
              <a:t>➜</a:t>
            </a:r>
            <a:endParaRPr lang="en-US" sz="1400" dirty="0"/>
          </a:p>
        </p:txBody>
      </p:sp>
      <p:sp>
        <p:nvSpPr>
          <p:cNvPr id="47" name="Shape 45"/>
          <p:cNvSpPr/>
          <p:nvPr/>
        </p:nvSpPr>
        <p:spPr>
          <a:xfrm>
            <a:off x="9692640" y="4800600"/>
            <a:ext cx="1965960" cy="502920"/>
          </a:xfrm>
          <a:prstGeom prst="roundRect">
            <a:avLst>
              <a:gd name="adj" fmla="val 49091"/>
            </a:avLst>
          </a:prstGeom>
          <a:solidFill>
            <a:srgbClr val="0A2C54"/>
          </a:solidFill>
          <a:ln/>
        </p:spPr>
      </p:sp>
      <p:sp>
        <p:nvSpPr>
          <p:cNvPr id="48" name="Text 46"/>
          <p:cNvSpPr/>
          <p:nvPr/>
        </p:nvSpPr>
        <p:spPr>
          <a:xfrm>
            <a:off x="9692640" y="4800600"/>
            <a:ext cx="196596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Suivi (mon compte)</a:t>
            </a:r>
            <a:endParaRPr lang="en-US" sz="1050" dirty="0"/>
          </a:p>
        </p:txBody>
      </p:sp>
      <p:sp>
        <p:nvSpPr>
          <p:cNvPr id="49" name="Text 47"/>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Parcours de souscription</a:t>
            </a:r>
            <a:endParaRPr lang="en-US" sz="900" dirty="0"/>
          </a:p>
        </p:txBody>
      </p:sp>
      <p:sp>
        <p:nvSpPr>
          <p:cNvPr id="50" name="Text 48"/>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51" name="Text 49"/>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PARCOURS CLIENT</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Paiements</a:t>
            </a:r>
            <a:endParaRPr lang="en-US" sz="2800" dirty="0"/>
          </a:p>
        </p:txBody>
      </p:sp>
      <p:sp>
        <p:nvSpPr>
          <p:cNvPr id="4" name="Shape 2"/>
          <p:cNvSpPr/>
          <p:nvPr/>
        </p:nvSpPr>
        <p:spPr>
          <a:xfrm>
            <a:off x="548640" y="1463040"/>
            <a:ext cx="1783080" cy="566928"/>
          </a:xfrm>
          <a:prstGeom prst="roundRect">
            <a:avLst>
              <a:gd name="adj" fmla="val 9677"/>
            </a:avLst>
          </a:prstGeom>
          <a:solidFill>
            <a:srgbClr val="0A2C54"/>
          </a:solidFill>
          <a:ln/>
        </p:spPr>
      </p:sp>
      <p:sp>
        <p:nvSpPr>
          <p:cNvPr id="5" name="Text 3"/>
          <p:cNvSpPr/>
          <p:nvPr/>
        </p:nvSpPr>
        <p:spPr>
          <a:xfrm>
            <a:off x="548640" y="1463040"/>
            <a:ext cx="178308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Frontend</a:t>
            </a:r>
            <a:endParaRPr lang="en-US" sz="1050" dirty="0"/>
          </a:p>
        </p:txBody>
      </p:sp>
      <p:sp>
        <p:nvSpPr>
          <p:cNvPr id="6" name="Shape 4"/>
          <p:cNvSpPr/>
          <p:nvPr/>
        </p:nvSpPr>
        <p:spPr>
          <a:xfrm>
            <a:off x="2441448" y="1463040"/>
            <a:ext cx="1783080" cy="566928"/>
          </a:xfrm>
          <a:prstGeom prst="roundRect">
            <a:avLst>
              <a:gd name="adj" fmla="val 9677"/>
            </a:avLst>
          </a:prstGeom>
          <a:solidFill>
            <a:srgbClr val="EAF3FC"/>
          </a:solidFill>
          <a:ln/>
        </p:spPr>
      </p:sp>
      <p:sp>
        <p:nvSpPr>
          <p:cNvPr id="7" name="Text 5"/>
          <p:cNvSpPr/>
          <p:nvPr/>
        </p:nvSpPr>
        <p:spPr>
          <a:xfrm>
            <a:off x="2441448" y="1463040"/>
            <a:ext cx="1783080" cy="566928"/>
          </a:xfrm>
          <a:prstGeom prst="rect">
            <a:avLst/>
          </a:prstGeom>
          <a:noFill/>
          <a:ln/>
        </p:spPr>
        <p:txBody>
          <a:bodyPr wrap="square" rtlCol="0" anchor="ctr"/>
          <a:lstStyle/>
          <a:p>
            <a:pPr algn="ctr" indent="0" marL="0">
              <a:buNone/>
            </a:pPr>
            <a:r>
              <a:rPr lang="en-US" sz="1050" b="1" dirty="0">
                <a:solidFill>
                  <a:srgbClr val="0A2C54"/>
                </a:solidFill>
                <a:latin typeface="Calibri" pitchFamily="34" charset="0"/>
                <a:ea typeface="Calibri" pitchFamily="34" charset="-122"/>
                <a:cs typeface="Calibri" pitchFamily="34" charset="-120"/>
              </a:rPr>
              <a:t>Backend</a:t>
            </a:r>
            <a:endParaRPr lang="en-US" sz="1050" dirty="0"/>
          </a:p>
        </p:txBody>
      </p:sp>
      <p:sp>
        <p:nvSpPr>
          <p:cNvPr id="8" name="Shape 6"/>
          <p:cNvSpPr/>
          <p:nvPr/>
        </p:nvSpPr>
        <p:spPr>
          <a:xfrm>
            <a:off x="4334256" y="1463040"/>
            <a:ext cx="1783080" cy="566928"/>
          </a:xfrm>
          <a:prstGeom prst="roundRect">
            <a:avLst>
              <a:gd name="adj" fmla="val 9677"/>
            </a:avLst>
          </a:prstGeom>
          <a:solidFill>
            <a:srgbClr val="0A2C54"/>
          </a:solidFill>
          <a:ln/>
        </p:spPr>
      </p:sp>
      <p:sp>
        <p:nvSpPr>
          <p:cNvPr id="9" name="Text 7"/>
          <p:cNvSpPr/>
          <p:nvPr/>
        </p:nvSpPr>
        <p:spPr>
          <a:xfrm>
            <a:off x="4334256" y="1463040"/>
            <a:ext cx="178308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Payment Provider</a:t>
            </a:r>
            <a:endParaRPr lang="en-US" sz="1050" dirty="0"/>
          </a:p>
        </p:txBody>
      </p:sp>
      <p:sp>
        <p:nvSpPr>
          <p:cNvPr id="10" name="Shape 8"/>
          <p:cNvSpPr/>
          <p:nvPr/>
        </p:nvSpPr>
        <p:spPr>
          <a:xfrm>
            <a:off x="6227064" y="1463040"/>
            <a:ext cx="1783080" cy="566928"/>
          </a:xfrm>
          <a:prstGeom prst="roundRect">
            <a:avLst>
              <a:gd name="adj" fmla="val 9677"/>
            </a:avLst>
          </a:prstGeom>
          <a:solidFill>
            <a:srgbClr val="EAF3FC"/>
          </a:solidFill>
          <a:ln/>
        </p:spPr>
      </p:sp>
      <p:sp>
        <p:nvSpPr>
          <p:cNvPr id="11" name="Text 9"/>
          <p:cNvSpPr/>
          <p:nvPr/>
        </p:nvSpPr>
        <p:spPr>
          <a:xfrm>
            <a:off x="6227064" y="1463040"/>
            <a:ext cx="1783080" cy="566928"/>
          </a:xfrm>
          <a:prstGeom prst="rect">
            <a:avLst/>
          </a:prstGeom>
          <a:noFill/>
          <a:ln/>
        </p:spPr>
        <p:txBody>
          <a:bodyPr wrap="square" rtlCol="0" anchor="ctr"/>
          <a:lstStyle/>
          <a:p>
            <a:pPr algn="ctr" indent="0" marL="0">
              <a:buNone/>
            </a:pPr>
            <a:r>
              <a:rPr lang="en-US" sz="1050" b="1" dirty="0">
                <a:solidFill>
                  <a:srgbClr val="0A2C54"/>
                </a:solidFill>
                <a:latin typeface="Calibri" pitchFamily="34" charset="0"/>
                <a:ea typeface="Calibri" pitchFamily="34" charset="-122"/>
                <a:cs typeface="Calibri" pitchFamily="34" charset="-120"/>
              </a:rPr>
              <a:t>Transaction</a:t>
            </a:r>
            <a:endParaRPr lang="en-US" sz="1050" dirty="0"/>
          </a:p>
        </p:txBody>
      </p:sp>
      <p:sp>
        <p:nvSpPr>
          <p:cNvPr id="12" name="Shape 10"/>
          <p:cNvSpPr/>
          <p:nvPr/>
        </p:nvSpPr>
        <p:spPr>
          <a:xfrm>
            <a:off x="8119872" y="1463040"/>
            <a:ext cx="1783080" cy="566928"/>
          </a:xfrm>
          <a:prstGeom prst="roundRect">
            <a:avLst>
              <a:gd name="adj" fmla="val 9677"/>
            </a:avLst>
          </a:prstGeom>
          <a:solidFill>
            <a:srgbClr val="0A2C54"/>
          </a:solidFill>
          <a:ln/>
        </p:spPr>
      </p:sp>
      <p:sp>
        <p:nvSpPr>
          <p:cNvPr id="13" name="Text 11"/>
          <p:cNvSpPr/>
          <p:nvPr/>
        </p:nvSpPr>
        <p:spPr>
          <a:xfrm>
            <a:off x="8119872" y="1463040"/>
            <a:ext cx="178308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Confirmation</a:t>
            </a:r>
            <a:endParaRPr lang="en-US" sz="1050" dirty="0"/>
          </a:p>
        </p:txBody>
      </p:sp>
      <p:sp>
        <p:nvSpPr>
          <p:cNvPr id="14" name="Shape 12"/>
          <p:cNvSpPr/>
          <p:nvPr/>
        </p:nvSpPr>
        <p:spPr>
          <a:xfrm>
            <a:off x="10012680" y="1463040"/>
            <a:ext cx="1783080" cy="566928"/>
          </a:xfrm>
          <a:prstGeom prst="roundRect">
            <a:avLst>
              <a:gd name="adj" fmla="val 9677"/>
            </a:avLst>
          </a:prstGeom>
          <a:solidFill>
            <a:srgbClr val="EAF3FC"/>
          </a:solidFill>
          <a:ln/>
        </p:spPr>
      </p:sp>
      <p:sp>
        <p:nvSpPr>
          <p:cNvPr id="15" name="Text 13"/>
          <p:cNvSpPr/>
          <p:nvPr/>
        </p:nvSpPr>
        <p:spPr>
          <a:xfrm>
            <a:off x="10012680" y="1463040"/>
            <a:ext cx="1783080" cy="566928"/>
          </a:xfrm>
          <a:prstGeom prst="rect">
            <a:avLst/>
          </a:prstGeom>
          <a:noFill/>
          <a:ln/>
        </p:spPr>
        <p:txBody>
          <a:bodyPr wrap="square" rtlCol="0" anchor="ctr"/>
          <a:lstStyle/>
          <a:p>
            <a:pPr algn="ctr" indent="0" marL="0">
              <a:buNone/>
            </a:pPr>
            <a:r>
              <a:rPr lang="en-US" sz="1050" b="1" dirty="0">
                <a:solidFill>
                  <a:srgbClr val="0A2C54"/>
                </a:solidFill>
                <a:latin typeface="Calibri" pitchFamily="34" charset="0"/>
                <a:ea typeface="Calibri" pitchFamily="34" charset="-122"/>
                <a:cs typeface="Calibri" pitchFamily="34" charset="-120"/>
              </a:rPr>
              <a:t>Souscription</a:t>
            </a:r>
            <a:endParaRPr lang="en-US" sz="1050" dirty="0"/>
          </a:p>
        </p:txBody>
      </p:sp>
      <p:sp>
        <p:nvSpPr>
          <p:cNvPr id="16" name="Text 14"/>
          <p:cNvSpPr/>
          <p:nvPr/>
        </p:nvSpPr>
        <p:spPr>
          <a:xfrm>
            <a:off x="548640" y="2331720"/>
            <a:ext cx="5486400" cy="274320"/>
          </a:xfrm>
          <a:prstGeom prst="rect">
            <a:avLst/>
          </a:prstGeom>
          <a:noFill/>
          <a:ln/>
        </p:spPr>
        <p:txBody>
          <a:bodyPr wrap="square" rtlCol="0" anchor="ctr"/>
          <a:lstStyle/>
          <a:p>
            <a:pPr indent="0" marL="0">
              <a:buNone/>
            </a:pPr>
            <a:r>
              <a:rPr lang="en-US" sz="1050" b="1" spc="120" kern="0" dirty="0">
                <a:solidFill>
                  <a:srgbClr val="0B57A4"/>
                </a:solidFill>
                <a:latin typeface="Calibri" pitchFamily="34" charset="0"/>
                <a:ea typeface="Calibri" pitchFamily="34" charset="-122"/>
                <a:cs typeface="Calibri" pitchFamily="34" charset="-120"/>
              </a:rPr>
              <a:t>STATUTS RÉELS (CORE.PAYMENT)</a:t>
            </a:r>
            <a:endParaRPr lang="en-US" sz="1050" dirty="0"/>
          </a:p>
        </p:txBody>
      </p:sp>
      <p:sp>
        <p:nvSpPr>
          <p:cNvPr id="17" name="Shape 15"/>
          <p:cNvSpPr/>
          <p:nvPr/>
        </p:nvSpPr>
        <p:spPr>
          <a:xfrm>
            <a:off x="548640" y="2651760"/>
            <a:ext cx="1645920" cy="384048"/>
          </a:xfrm>
          <a:prstGeom prst="roundRect">
            <a:avLst>
              <a:gd name="adj" fmla="val 50000"/>
            </a:avLst>
          </a:prstGeom>
          <a:solidFill>
            <a:srgbClr val="F4F6F8"/>
          </a:solidFill>
          <a:ln w="9525">
            <a:solidFill>
              <a:srgbClr val="D9DEE4"/>
            </a:solidFill>
            <a:prstDash val="solid"/>
          </a:ln>
        </p:spPr>
      </p:sp>
      <p:sp>
        <p:nvSpPr>
          <p:cNvPr id="18" name="Text 16"/>
          <p:cNvSpPr/>
          <p:nvPr/>
        </p:nvSpPr>
        <p:spPr>
          <a:xfrm>
            <a:off x="548640" y="2651760"/>
            <a:ext cx="1645920"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PENDING</a:t>
            </a:r>
            <a:endParaRPr lang="en-US" sz="1000" dirty="0"/>
          </a:p>
        </p:txBody>
      </p:sp>
      <p:sp>
        <p:nvSpPr>
          <p:cNvPr id="19" name="Shape 17"/>
          <p:cNvSpPr/>
          <p:nvPr/>
        </p:nvSpPr>
        <p:spPr>
          <a:xfrm>
            <a:off x="2331720" y="2651760"/>
            <a:ext cx="1645920" cy="384048"/>
          </a:xfrm>
          <a:prstGeom prst="roundRect">
            <a:avLst>
              <a:gd name="adj" fmla="val 50000"/>
            </a:avLst>
          </a:prstGeom>
          <a:solidFill>
            <a:srgbClr val="F4F6F8"/>
          </a:solidFill>
          <a:ln w="9525">
            <a:solidFill>
              <a:srgbClr val="D9DEE4"/>
            </a:solidFill>
            <a:prstDash val="solid"/>
          </a:ln>
        </p:spPr>
      </p:sp>
      <p:sp>
        <p:nvSpPr>
          <p:cNvPr id="20" name="Text 18"/>
          <p:cNvSpPr/>
          <p:nvPr/>
        </p:nvSpPr>
        <p:spPr>
          <a:xfrm>
            <a:off x="2331720" y="2651760"/>
            <a:ext cx="1645920"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COMPLETED</a:t>
            </a:r>
            <a:endParaRPr lang="en-US" sz="1000" dirty="0"/>
          </a:p>
        </p:txBody>
      </p:sp>
      <p:sp>
        <p:nvSpPr>
          <p:cNvPr id="21" name="Shape 19"/>
          <p:cNvSpPr/>
          <p:nvPr/>
        </p:nvSpPr>
        <p:spPr>
          <a:xfrm>
            <a:off x="4114800" y="2651760"/>
            <a:ext cx="1645920" cy="384048"/>
          </a:xfrm>
          <a:prstGeom prst="roundRect">
            <a:avLst>
              <a:gd name="adj" fmla="val 50000"/>
            </a:avLst>
          </a:prstGeom>
          <a:solidFill>
            <a:srgbClr val="F4F6F8"/>
          </a:solidFill>
          <a:ln w="9525">
            <a:solidFill>
              <a:srgbClr val="D9DEE4"/>
            </a:solidFill>
            <a:prstDash val="solid"/>
          </a:ln>
        </p:spPr>
      </p:sp>
      <p:sp>
        <p:nvSpPr>
          <p:cNvPr id="22" name="Text 20"/>
          <p:cNvSpPr/>
          <p:nvPr/>
        </p:nvSpPr>
        <p:spPr>
          <a:xfrm>
            <a:off x="4114800" y="2651760"/>
            <a:ext cx="1645920"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FAILED</a:t>
            </a:r>
            <a:endParaRPr lang="en-US" sz="1000" dirty="0"/>
          </a:p>
        </p:txBody>
      </p:sp>
      <p:sp>
        <p:nvSpPr>
          <p:cNvPr id="23" name="Shape 21"/>
          <p:cNvSpPr/>
          <p:nvPr/>
        </p:nvSpPr>
        <p:spPr>
          <a:xfrm>
            <a:off x="5897880" y="2651760"/>
            <a:ext cx="1645920" cy="384048"/>
          </a:xfrm>
          <a:prstGeom prst="roundRect">
            <a:avLst>
              <a:gd name="adj" fmla="val 50000"/>
            </a:avLst>
          </a:prstGeom>
          <a:solidFill>
            <a:srgbClr val="F4F6F8"/>
          </a:solidFill>
          <a:ln w="9525">
            <a:solidFill>
              <a:srgbClr val="D9DEE4"/>
            </a:solidFill>
            <a:prstDash val="solid"/>
          </a:ln>
        </p:spPr>
      </p:sp>
      <p:sp>
        <p:nvSpPr>
          <p:cNvPr id="24" name="Text 22"/>
          <p:cNvSpPr/>
          <p:nvPr/>
        </p:nvSpPr>
        <p:spPr>
          <a:xfrm>
            <a:off x="5897880" y="2651760"/>
            <a:ext cx="1645920"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CANCELLED</a:t>
            </a:r>
            <a:endParaRPr lang="en-US" sz="1000" dirty="0"/>
          </a:p>
        </p:txBody>
      </p:sp>
      <p:sp>
        <p:nvSpPr>
          <p:cNvPr id="25" name="Shape 23"/>
          <p:cNvSpPr/>
          <p:nvPr/>
        </p:nvSpPr>
        <p:spPr>
          <a:xfrm>
            <a:off x="548640" y="3246120"/>
            <a:ext cx="3611880" cy="2331720"/>
          </a:xfrm>
          <a:prstGeom prst="roundRect">
            <a:avLst>
              <a:gd name="adj" fmla="val 3137"/>
            </a:avLst>
          </a:prstGeom>
          <a:solidFill>
            <a:srgbClr val="F4F6F8"/>
          </a:solidFill>
          <a:ln/>
        </p:spPr>
      </p:sp>
      <p:sp>
        <p:nvSpPr>
          <p:cNvPr id="26" name="Text 24"/>
          <p:cNvSpPr/>
          <p:nvPr/>
        </p:nvSpPr>
        <p:spPr>
          <a:xfrm>
            <a:off x="777240" y="3429000"/>
            <a:ext cx="3154680" cy="320040"/>
          </a:xfrm>
          <a:prstGeom prst="rect">
            <a:avLst/>
          </a:prstGeom>
          <a:noFill/>
          <a:ln/>
        </p:spPr>
        <p:txBody>
          <a:bodyPr wrap="square" rtlCol="0" anchor="ctr"/>
          <a:lstStyle/>
          <a:p>
            <a:pPr indent="0" marL="0">
              <a:buNone/>
            </a:pPr>
            <a:r>
              <a:rPr lang="en-US" sz="1400" b="1" dirty="0">
                <a:solidFill>
                  <a:srgbClr val="0A2C54"/>
                </a:solidFill>
                <a:latin typeface="Cambria" pitchFamily="34" charset="0"/>
                <a:ea typeface="Cambria" pitchFamily="34" charset="-122"/>
                <a:cs typeface="Cambria" pitchFamily="34" charset="-120"/>
              </a:rPr>
              <a:t>mock</a:t>
            </a:r>
            <a:endParaRPr lang="en-US" sz="1400" dirty="0"/>
          </a:p>
        </p:txBody>
      </p:sp>
      <p:sp>
        <p:nvSpPr>
          <p:cNvPr id="27" name="Text 25"/>
          <p:cNvSpPr/>
          <p:nvPr/>
        </p:nvSpPr>
        <p:spPr>
          <a:xfrm>
            <a:off x="777240" y="3749040"/>
            <a:ext cx="3154680" cy="365760"/>
          </a:xfrm>
          <a:prstGeom prst="rect">
            <a:avLst/>
          </a:prstGeom>
          <a:noFill/>
          <a:ln/>
        </p:spPr>
        <p:txBody>
          <a:bodyPr wrap="square" rtlCol="0" anchor="ctr"/>
          <a:lstStyle/>
          <a:p>
            <a:pPr indent="0" marL="0">
              <a:buNone/>
            </a:pPr>
            <a:r>
              <a:rPr lang="en-US" sz="900" i="1" dirty="0">
                <a:solidFill>
                  <a:srgbClr val="667085"/>
                </a:solidFill>
                <a:latin typeface="Calibri" pitchFamily="34" charset="0"/>
                <a:ea typeface="Calibri" pitchFamily="34" charset="-122"/>
                <a:cs typeface="Calibri" pitchFamily="34" charset="-120"/>
              </a:rPr>
              <a:t>Provider par défaut (PAYMENT_PROVIDER=mock)</a:t>
            </a:r>
            <a:endParaRPr lang="en-US" sz="900" dirty="0"/>
          </a:p>
        </p:txBody>
      </p:sp>
      <p:sp>
        <p:nvSpPr>
          <p:cNvPr id="28" name="Shape 26"/>
          <p:cNvSpPr/>
          <p:nvPr/>
        </p:nvSpPr>
        <p:spPr>
          <a:xfrm>
            <a:off x="777240" y="4114800"/>
            <a:ext cx="1965960" cy="292608"/>
          </a:xfrm>
          <a:prstGeom prst="roundRect">
            <a:avLst>
              <a:gd name="adj" fmla="val 50000"/>
            </a:avLst>
          </a:prstGeom>
          <a:solidFill>
            <a:srgbClr val="DCEBFA"/>
          </a:solidFill>
          <a:ln/>
        </p:spPr>
      </p:sp>
      <p:sp>
        <p:nvSpPr>
          <p:cNvPr id="29" name="Text 27"/>
          <p:cNvSpPr/>
          <p:nvPr/>
        </p:nvSpPr>
        <p:spPr>
          <a:xfrm>
            <a:off x="777240" y="4114800"/>
            <a:ext cx="1965960" cy="292608"/>
          </a:xfrm>
          <a:prstGeom prst="rect">
            <a:avLst/>
          </a:prstGeom>
          <a:noFill/>
          <a:ln/>
        </p:spPr>
        <p:txBody>
          <a:bodyPr wrap="square" rtlCol="0" anchor="ctr"/>
          <a:lstStyle/>
          <a:p>
            <a:pPr algn="ctr" indent="0" marL="0">
              <a:buNone/>
            </a:pPr>
            <a:r>
              <a:rPr lang="en-US" sz="950" b="1" dirty="0">
                <a:solidFill>
                  <a:srgbClr val="0B57A4"/>
                </a:solidFill>
                <a:latin typeface="Calibri" pitchFamily="34" charset="0"/>
                <a:ea typeface="Calibri" pitchFamily="34" charset="-122"/>
                <a:cs typeface="Calibri" pitchFamily="34" charset="-120"/>
              </a:rPr>
              <a:t>IMPLÉMENTÉ — MOCK</a:t>
            </a:r>
            <a:endParaRPr lang="en-US" sz="950" dirty="0"/>
          </a:p>
        </p:txBody>
      </p:sp>
      <p:sp>
        <p:nvSpPr>
          <p:cNvPr id="30" name="Text 28"/>
          <p:cNvSpPr/>
          <p:nvPr/>
        </p:nvSpPr>
        <p:spPr>
          <a:xfrm>
            <a:off x="777240" y="4480560"/>
            <a:ext cx="3154680" cy="1005840"/>
          </a:xfrm>
          <a:prstGeom prst="rect">
            <a:avLst/>
          </a:prstGeom>
          <a:noFill/>
          <a:ln/>
        </p:spPr>
        <p:txBody>
          <a:bodyPr wrap="square" rtlCol="0" anchor="t"/>
          <a:lstStyle/>
          <a:p>
            <a:pPr indent="0" marL="0">
              <a:lnSpc>
                <a:spcPct val="110000"/>
              </a:lnSpc>
              <a:buNone/>
            </a:pPr>
            <a:r>
              <a:rPr lang="en-US" sz="1000" dirty="0">
                <a:solidFill>
                  <a:srgbClr val="1F2937"/>
                </a:solidFill>
                <a:latin typeface="Calibri" pitchFamily="34" charset="0"/>
                <a:ea typeface="Calibri" pitchFamily="34" charset="-122"/>
                <a:cs typeface="Calibri" pitchFamily="34" charset="-120"/>
              </a:rPr>
              <a:t>Simulation complète du cycle de paiement en environnement de développement/démo — traçabilité identique à un vrai provider.</a:t>
            </a:r>
            <a:endParaRPr lang="en-US" sz="1000" dirty="0"/>
          </a:p>
        </p:txBody>
      </p:sp>
      <p:sp>
        <p:nvSpPr>
          <p:cNvPr id="31" name="Shape 29"/>
          <p:cNvSpPr/>
          <p:nvPr/>
        </p:nvSpPr>
        <p:spPr>
          <a:xfrm>
            <a:off x="4389120" y="3246120"/>
            <a:ext cx="3611880" cy="2331720"/>
          </a:xfrm>
          <a:prstGeom prst="roundRect">
            <a:avLst>
              <a:gd name="adj" fmla="val 3137"/>
            </a:avLst>
          </a:prstGeom>
          <a:solidFill>
            <a:srgbClr val="F4F6F8"/>
          </a:solidFill>
          <a:ln/>
        </p:spPr>
      </p:sp>
      <p:sp>
        <p:nvSpPr>
          <p:cNvPr id="32" name="Text 30"/>
          <p:cNvSpPr/>
          <p:nvPr/>
        </p:nvSpPr>
        <p:spPr>
          <a:xfrm>
            <a:off x="4617720" y="3429000"/>
            <a:ext cx="3154680" cy="320040"/>
          </a:xfrm>
          <a:prstGeom prst="rect">
            <a:avLst/>
          </a:prstGeom>
          <a:noFill/>
          <a:ln/>
        </p:spPr>
        <p:txBody>
          <a:bodyPr wrap="square" rtlCol="0" anchor="ctr"/>
          <a:lstStyle/>
          <a:p>
            <a:pPr indent="0" marL="0">
              <a:buNone/>
            </a:pPr>
            <a:r>
              <a:rPr lang="en-US" sz="1400" b="1" dirty="0">
                <a:solidFill>
                  <a:srgbClr val="0A2C54"/>
                </a:solidFill>
                <a:latin typeface="Cambria" pitchFamily="34" charset="0"/>
                <a:ea typeface="Cambria" pitchFamily="34" charset="-122"/>
                <a:cs typeface="Cambria" pitchFamily="34" charset="-120"/>
              </a:rPr>
              <a:t>Orange Money</a:t>
            </a:r>
            <a:endParaRPr lang="en-US" sz="1400" dirty="0"/>
          </a:p>
        </p:txBody>
      </p:sp>
      <p:sp>
        <p:nvSpPr>
          <p:cNvPr id="33" name="Text 31"/>
          <p:cNvSpPr/>
          <p:nvPr/>
        </p:nvSpPr>
        <p:spPr>
          <a:xfrm>
            <a:off x="4617720" y="3749040"/>
            <a:ext cx="3154680" cy="365760"/>
          </a:xfrm>
          <a:prstGeom prst="rect">
            <a:avLst/>
          </a:prstGeom>
          <a:noFill/>
          <a:ln/>
        </p:spPr>
        <p:txBody>
          <a:bodyPr wrap="square" rtlCol="0" anchor="ctr"/>
          <a:lstStyle/>
          <a:p>
            <a:pPr indent="0" marL="0">
              <a:buNone/>
            </a:pPr>
            <a:r>
              <a:rPr lang="en-US" sz="900" i="1" dirty="0">
                <a:solidFill>
                  <a:srgbClr val="667085"/>
                </a:solidFill>
                <a:latin typeface="Calibri" pitchFamily="34" charset="0"/>
                <a:ea typeface="Calibri" pitchFamily="34" charset="-122"/>
                <a:cs typeface="Calibri" pitchFamily="34" charset="-120"/>
              </a:rPr>
              <a:t>OrangeMoneyProvider (core/payment_providers.py)</a:t>
            </a:r>
            <a:endParaRPr lang="en-US" sz="900" dirty="0"/>
          </a:p>
        </p:txBody>
      </p:sp>
      <p:sp>
        <p:nvSpPr>
          <p:cNvPr id="34" name="Shape 32"/>
          <p:cNvSpPr/>
          <p:nvPr/>
        </p:nvSpPr>
        <p:spPr>
          <a:xfrm>
            <a:off x="4617720" y="4114800"/>
            <a:ext cx="2606040" cy="292608"/>
          </a:xfrm>
          <a:prstGeom prst="roundRect">
            <a:avLst>
              <a:gd name="adj" fmla="val 50000"/>
            </a:avLst>
          </a:prstGeom>
          <a:solidFill>
            <a:srgbClr val="FBEBCF"/>
          </a:solidFill>
          <a:ln/>
        </p:spPr>
      </p:sp>
      <p:sp>
        <p:nvSpPr>
          <p:cNvPr id="35" name="Text 33"/>
          <p:cNvSpPr/>
          <p:nvPr/>
        </p:nvSpPr>
        <p:spPr>
          <a:xfrm>
            <a:off x="4617720" y="4114800"/>
            <a:ext cx="2606040" cy="292608"/>
          </a:xfrm>
          <a:prstGeom prst="rect">
            <a:avLst/>
          </a:prstGeom>
          <a:noFill/>
          <a:ln/>
        </p:spPr>
        <p:txBody>
          <a:bodyPr wrap="square"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NÉCESSITE CONFIG. EXTERNE</a:t>
            </a:r>
            <a:endParaRPr lang="en-US" sz="950" dirty="0"/>
          </a:p>
        </p:txBody>
      </p:sp>
      <p:sp>
        <p:nvSpPr>
          <p:cNvPr id="36" name="Text 34"/>
          <p:cNvSpPr/>
          <p:nvPr/>
        </p:nvSpPr>
        <p:spPr>
          <a:xfrm>
            <a:off x="4617720" y="4480560"/>
            <a:ext cx="3154680" cy="1005840"/>
          </a:xfrm>
          <a:prstGeom prst="rect">
            <a:avLst/>
          </a:prstGeom>
          <a:noFill/>
          <a:ln/>
        </p:spPr>
        <p:txBody>
          <a:bodyPr wrap="square" rtlCol="0" anchor="t"/>
          <a:lstStyle/>
          <a:p>
            <a:pPr indent="0" marL="0">
              <a:lnSpc>
                <a:spcPct val="110000"/>
              </a:lnSpc>
              <a:buNone/>
            </a:pPr>
            <a:r>
              <a:rPr lang="en-US" sz="1000" dirty="0">
                <a:solidFill>
                  <a:srgbClr val="1F2937"/>
                </a:solidFill>
                <a:latin typeface="Calibri" pitchFamily="34" charset="0"/>
                <a:ea typeface="Calibri" pitchFamily="34" charset="-122"/>
                <a:cs typeface="Calibri" pitchFamily="34" charset="-120"/>
              </a:rPr>
              <a:t>Flow OAuth + appel API réel codé. Nécessite des identifiants marchands Orange en production pour s'activer.</a:t>
            </a:r>
            <a:endParaRPr lang="en-US" sz="1000" dirty="0"/>
          </a:p>
        </p:txBody>
      </p:sp>
      <p:sp>
        <p:nvSpPr>
          <p:cNvPr id="37" name="Shape 35"/>
          <p:cNvSpPr/>
          <p:nvPr/>
        </p:nvSpPr>
        <p:spPr>
          <a:xfrm>
            <a:off x="8229600" y="3246120"/>
            <a:ext cx="3611880" cy="2331720"/>
          </a:xfrm>
          <a:prstGeom prst="roundRect">
            <a:avLst>
              <a:gd name="adj" fmla="val 3137"/>
            </a:avLst>
          </a:prstGeom>
          <a:solidFill>
            <a:srgbClr val="F4F6F8"/>
          </a:solidFill>
          <a:ln/>
        </p:spPr>
      </p:sp>
      <p:sp>
        <p:nvSpPr>
          <p:cNvPr id="38" name="Text 36"/>
          <p:cNvSpPr/>
          <p:nvPr/>
        </p:nvSpPr>
        <p:spPr>
          <a:xfrm>
            <a:off x="8458200" y="3429000"/>
            <a:ext cx="3154680" cy="320040"/>
          </a:xfrm>
          <a:prstGeom prst="rect">
            <a:avLst/>
          </a:prstGeom>
          <a:noFill/>
          <a:ln/>
        </p:spPr>
        <p:txBody>
          <a:bodyPr wrap="square" rtlCol="0" anchor="ctr"/>
          <a:lstStyle/>
          <a:p>
            <a:pPr indent="0" marL="0">
              <a:buNone/>
            </a:pPr>
            <a:r>
              <a:rPr lang="en-US" sz="1400" b="1" dirty="0">
                <a:solidFill>
                  <a:srgbClr val="0A2C54"/>
                </a:solidFill>
                <a:latin typeface="Cambria" pitchFamily="34" charset="0"/>
                <a:ea typeface="Cambria" pitchFamily="34" charset="-122"/>
                <a:cs typeface="Cambria" pitchFamily="34" charset="-120"/>
              </a:rPr>
              <a:t>MTN Mobile Money</a:t>
            </a:r>
            <a:endParaRPr lang="en-US" sz="1400" dirty="0"/>
          </a:p>
        </p:txBody>
      </p:sp>
      <p:sp>
        <p:nvSpPr>
          <p:cNvPr id="39" name="Text 37"/>
          <p:cNvSpPr/>
          <p:nvPr/>
        </p:nvSpPr>
        <p:spPr>
          <a:xfrm>
            <a:off x="8458200" y="3749040"/>
            <a:ext cx="3154680" cy="365760"/>
          </a:xfrm>
          <a:prstGeom prst="rect">
            <a:avLst/>
          </a:prstGeom>
          <a:noFill/>
          <a:ln/>
        </p:spPr>
        <p:txBody>
          <a:bodyPr wrap="square" rtlCol="0" anchor="ctr"/>
          <a:lstStyle/>
          <a:p>
            <a:pPr indent="0" marL="0">
              <a:buNone/>
            </a:pPr>
            <a:r>
              <a:rPr lang="en-US" sz="900" i="1" dirty="0">
                <a:solidFill>
                  <a:srgbClr val="667085"/>
                </a:solidFill>
                <a:latin typeface="Calibri" pitchFamily="34" charset="0"/>
                <a:ea typeface="Calibri" pitchFamily="34" charset="-122"/>
                <a:cs typeface="Calibri" pitchFamily="34" charset="-120"/>
              </a:rPr>
              <a:t>MTNMoMoProvider (core/payment_providers.py)</a:t>
            </a:r>
            <a:endParaRPr lang="en-US" sz="900" dirty="0"/>
          </a:p>
        </p:txBody>
      </p:sp>
      <p:sp>
        <p:nvSpPr>
          <p:cNvPr id="40" name="Shape 38"/>
          <p:cNvSpPr/>
          <p:nvPr/>
        </p:nvSpPr>
        <p:spPr>
          <a:xfrm>
            <a:off x="8458200" y="4114800"/>
            <a:ext cx="2606040" cy="292608"/>
          </a:xfrm>
          <a:prstGeom prst="roundRect">
            <a:avLst>
              <a:gd name="adj" fmla="val 50000"/>
            </a:avLst>
          </a:prstGeom>
          <a:solidFill>
            <a:srgbClr val="FBEBCF"/>
          </a:solidFill>
          <a:ln/>
        </p:spPr>
      </p:sp>
      <p:sp>
        <p:nvSpPr>
          <p:cNvPr id="41" name="Text 39"/>
          <p:cNvSpPr/>
          <p:nvPr/>
        </p:nvSpPr>
        <p:spPr>
          <a:xfrm>
            <a:off x="8458200" y="4114800"/>
            <a:ext cx="2606040" cy="292608"/>
          </a:xfrm>
          <a:prstGeom prst="rect">
            <a:avLst/>
          </a:prstGeom>
          <a:noFill/>
          <a:ln/>
        </p:spPr>
        <p:txBody>
          <a:bodyPr wrap="square"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NÉCESSITE CONFIG. EXTERNE</a:t>
            </a:r>
            <a:endParaRPr lang="en-US" sz="950" dirty="0"/>
          </a:p>
        </p:txBody>
      </p:sp>
      <p:sp>
        <p:nvSpPr>
          <p:cNvPr id="42" name="Text 40"/>
          <p:cNvSpPr/>
          <p:nvPr/>
        </p:nvSpPr>
        <p:spPr>
          <a:xfrm>
            <a:off x="8458200" y="4480560"/>
            <a:ext cx="3154680" cy="1005840"/>
          </a:xfrm>
          <a:prstGeom prst="rect">
            <a:avLst/>
          </a:prstGeom>
          <a:noFill/>
          <a:ln/>
        </p:spPr>
        <p:txBody>
          <a:bodyPr wrap="square" rtlCol="0" anchor="t"/>
          <a:lstStyle/>
          <a:p>
            <a:pPr indent="0" marL="0">
              <a:lnSpc>
                <a:spcPct val="110000"/>
              </a:lnSpc>
              <a:buNone/>
            </a:pPr>
            <a:r>
              <a:rPr lang="en-US" sz="1000" dirty="0">
                <a:solidFill>
                  <a:srgbClr val="1F2937"/>
                </a:solidFill>
                <a:latin typeface="Calibri" pitchFamily="34" charset="0"/>
                <a:ea typeface="Calibri" pitchFamily="34" charset="-122"/>
                <a:cs typeface="Calibri" pitchFamily="34" charset="-120"/>
              </a:rPr>
              <a:t>Intégration MTN MoMo codée selon le même schéma. Nécessite des identifiants marchands MTN en production.</a:t>
            </a:r>
            <a:endParaRPr lang="en-US" sz="1000" dirty="0"/>
          </a:p>
        </p:txBody>
      </p:sp>
      <p:sp>
        <p:nvSpPr>
          <p:cNvPr id="43" name="Text 41"/>
          <p:cNvSpPr/>
          <p:nvPr/>
        </p:nvSpPr>
        <p:spPr>
          <a:xfrm>
            <a:off x="548640" y="5806440"/>
            <a:ext cx="11064240" cy="457200"/>
          </a:xfrm>
          <a:prstGeom prst="rect">
            <a:avLst/>
          </a:prstGeom>
          <a:noFill/>
          <a:ln/>
        </p:spPr>
        <p:txBody>
          <a:bodyPr wrap="square"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Sécurité : montant calculé côté serveur depuis le prix en base (jamais transmis par le client) — clé d'idempotence (Idempotency-Key) pour éviter les doubles transactions.</a:t>
            </a:r>
            <a:endParaRPr lang="en-US" sz="1000" dirty="0"/>
          </a:p>
        </p:txBody>
      </p:sp>
      <p:sp>
        <p:nvSpPr>
          <p:cNvPr id="44" name="Text 42"/>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Paiements</a:t>
            </a:r>
            <a:endParaRPr lang="en-US" sz="900" dirty="0"/>
          </a:p>
        </p:txBody>
      </p:sp>
      <p:sp>
        <p:nvSpPr>
          <p:cNvPr id="45" name="Text 43"/>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46" name="Text 44"/>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DÉMONSTRATION — PORTAIL PUBLIC</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Assistance : Assistant IA, Éligibilité, Help Center</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29768" y="1344168"/>
            <a:ext cx="5221224" cy="3397374"/>
          </a:xfrm>
          <a:prstGeom prst="roundRect">
            <a:avLst>
              <a:gd name="adj" fmla="val 1615"/>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7" name="Image 0" descr="/home/claude/onportal_deck/assets/assistant_frame.png">    </p:cNvPr>
          <p:cNvPicPr>
            <a:picLocks noChangeAspect="1"/>
          </p:cNvPicPr>
          <p:nvPr/>
        </p:nvPicPr>
        <p:blipFill>
          <a:blip r:embed="rId1"/>
          <a:stretch>
            <a:fillRect/>
          </a:stretch>
        </p:blipFill>
        <p:spPr>
          <a:xfrm>
            <a:off x="502920" y="1417320"/>
            <a:ext cx="5074920" cy="3251070"/>
          </a:xfrm>
          <a:prstGeom prst="rect">
            <a:avLst/>
          </a:prstGeom>
        </p:spPr>
      </p:pic>
      <p:sp>
        <p:nvSpPr>
          <p:cNvPr id="8" name="Text 5"/>
          <p:cNvSpPr/>
          <p:nvPr/>
        </p:nvSpPr>
        <p:spPr>
          <a:xfrm>
            <a:off x="502920" y="4759830"/>
            <a:ext cx="507492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Assistant CAMTEL — questions suggérées</a:t>
            </a:r>
            <a:endParaRPr lang="en-US" sz="950" dirty="0"/>
          </a:p>
        </p:txBody>
      </p:sp>
      <p:sp>
        <p:nvSpPr>
          <p:cNvPr id="9" name="Shape 6"/>
          <p:cNvSpPr/>
          <p:nvPr/>
        </p:nvSpPr>
        <p:spPr>
          <a:xfrm>
            <a:off x="5733288" y="1344168"/>
            <a:ext cx="5221224" cy="3397374"/>
          </a:xfrm>
          <a:prstGeom prst="roundRect">
            <a:avLst>
              <a:gd name="adj" fmla="val 1615"/>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10" name="Image 1" descr="/home/claude/onportal_deck/assets/eligibility_frame.png">    </p:cNvPr>
          <p:cNvPicPr>
            <a:picLocks noChangeAspect="1"/>
          </p:cNvPicPr>
          <p:nvPr/>
        </p:nvPicPr>
        <p:blipFill>
          <a:blip r:embed="rId2"/>
          <a:stretch>
            <a:fillRect/>
          </a:stretch>
        </p:blipFill>
        <p:spPr>
          <a:xfrm>
            <a:off x="5806440" y="1417320"/>
            <a:ext cx="5074920" cy="3251070"/>
          </a:xfrm>
          <a:prstGeom prst="rect">
            <a:avLst/>
          </a:prstGeom>
        </p:spPr>
      </p:pic>
      <p:sp>
        <p:nvSpPr>
          <p:cNvPr id="11" name="Text 7"/>
          <p:cNvSpPr/>
          <p:nvPr/>
        </p:nvSpPr>
        <p:spPr>
          <a:xfrm>
            <a:off x="5806440" y="4759830"/>
            <a:ext cx="507492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Vérification d'éligibilité (simulation indicative)</a:t>
            </a:r>
            <a:endParaRPr lang="en-US" sz="950" dirty="0"/>
          </a:p>
        </p:txBody>
      </p:sp>
      <p:sp>
        <p:nvSpPr>
          <p:cNvPr id="12" name="Shape 8"/>
          <p:cNvSpPr/>
          <p:nvPr/>
        </p:nvSpPr>
        <p:spPr>
          <a:xfrm>
            <a:off x="548640" y="5074920"/>
            <a:ext cx="2606040" cy="457200"/>
          </a:xfrm>
          <a:prstGeom prst="roundRect">
            <a:avLst>
              <a:gd name="adj" fmla="val 12000"/>
            </a:avLst>
          </a:prstGeom>
          <a:solidFill>
            <a:srgbClr val="EAF3FC"/>
          </a:solidFill>
          <a:ln/>
        </p:spPr>
      </p:sp>
      <p:sp>
        <p:nvSpPr>
          <p:cNvPr id="13" name="Text 9"/>
          <p:cNvSpPr/>
          <p:nvPr/>
        </p:nvSpPr>
        <p:spPr>
          <a:xfrm>
            <a:off x="548640" y="5074920"/>
            <a:ext cx="2606040" cy="457200"/>
          </a:xfrm>
          <a:prstGeom prst="rect">
            <a:avLst/>
          </a:prstGeom>
          <a:noFill/>
          <a:ln/>
        </p:spPr>
        <p:txBody>
          <a:bodyPr wrap="square" rtlCol="0" anchor="ctr"/>
          <a:lstStyle/>
          <a:p>
            <a:pPr algn="ctr" indent="0" marL="0">
              <a:buNone/>
            </a:pPr>
            <a:r>
              <a:rPr lang="en-US" sz="950" b="1" dirty="0">
                <a:solidFill>
                  <a:srgbClr val="0A2C54"/>
                </a:solidFill>
                <a:latin typeface="Calibri" pitchFamily="34" charset="0"/>
                <a:ea typeface="Calibri" pitchFamily="34" charset="-122"/>
                <a:cs typeface="Calibri" pitchFamily="34" charset="-120"/>
              </a:rPr>
              <a:t>Question</a:t>
            </a:r>
            <a:endParaRPr lang="en-US" sz="950" dirty="0"/>
          </a:p>
        </p:txBody>
      </p:sp>
      <p:sp>
        <p:nvSpPr>
          <p:cNvPr id="14" name="Text 10"/>
          <p:cNvSpPr/>
          <p:nvPr/>
        </p:nvSpPr>
        <p:spPr>
          <a:xfrm>
            <a:off x="3154680" y="5148072"/>
            <a:ext cx="228600" cy="320040"/>
          </a:xfrm>
          <a:prstGeom prst="rect">
            <a:avLst/>
          </a:prstGeom>
          <a:noFill/>
          <a:ln/>
        </p:spPr>
        <p:txBody>
          <a:bodyPr wrap="square" rtlCol="0" anchor="ctr"/>
          <a:lstStyle/>
          <a:p>
            <a:pPr indent="0" marL="0">
              <a:buNone/>
            </a:pPr>
            <a:r>
              <a:rPr lang="en-US" sz="1200" b="1" dirty="0">
                <a:solidFill>
                  <a:srgbClr val="0B57A4"/>
                </a:solidFill>
              </a:rPr>
              <a:t>➜</a:t>
            </a:r>
            <a:endParaRPr lang="en-US" sz="1200" dirty="0"/>
          </a:p>
        </p:txBody>
      </p:sp>
      <p:sp>
        <p:nvSpPr>
          <p:cNvPr id="15" name="Shape 11"/>
          <p:cNvSpPr/>
          <p:nvPr/>
        </p:nvSpPr>
        <p:spPr>
          <a:xfrm>
            <a:off x="3383280" y="5074920"/>
            <a:ext cx="2606040" cy="457200"/>
          </a:xfrm>
          <a:prstGeom prst="roundRect">
            <a:avLst>
              <a:gd name="adj" fmla="val 12000"/>
            </a:avLst>
          </a:prstGeom>
          <a:solidFill>
            <a:srgbClr val="EAF3FC"/>
          </a:solidFill>
          <a:ln/>
        </p:spPr>
      </p:sp>
      <p:sp>
        <p:nvSpPr>
          <p:cNvPr id="16" name="Text 12"/>
          <p:cNvSpPr/>
          <p:nvPr/>
        </p:nvSpPr>
        <p:spPr>
          <a:xfrm>
            <a:off x="3383280" y="5074920"/>
            <a:ext cx="2606040" cy="457200"/>
          </a:xfrm>
          <a:prstGeom prst="rect">
            <a:avLst/>
          </a:prstGeom>
          <a:noFill/>
          <a:ln/>
        </p:spPr>
        <p:txBody>
          <a:bodyPr wrap="square" rtlCol="0" anchor="ctr"/>
          <a:lstStyle/>
          <a:p>
            <a:pPr algn="ctr" indent="0" marL="0">
              <a:buNone/>
            </a:pPr>
            <a:r>
              <a:rPr lang="en-US" sz="950" b="1" dirty="0">
                <a:solidFill>
                  <a:srgbClr val="0A2C54"/>
                </a:solidFill>
                <a:latin typeface="Calibri" pitchFamily="34" charset="0"/>
                <a:ea typeface="Calibri" pitchFamily="34" charset="-122"/>
                <a:cs typeface="Calibri" pitchFamily="34" charset="-120"/>
              </a:rPr>
              <a:t>Recherche / DB produits</a:t>
            </a:r>
            <a:endParaRPr lang="en-US" sz="950" dirty="0"/>
          </a:p>
        </p:txBody>
      </p:sp>
      <p:sp>
        <p:nvSpPr>
          <p:cNvPr id="17" name="Text 13"/>
          <p:cNvSpPr/>
          <p:nvPr/>
        </p:nvSpPr>
        <p:spPr>
          <a:xfrm>
            <a:off x="5989320" y="5148072"/>
            <a:ext cx="228600" cy="320040"/>
          </a:xfrm>
          <a:prstGeom prst="rect">
            <a:avLst/>
          </a:prstGeom>
          <a:noFill/>
          <a:ln/>
        </p:spPr>
        <p:txBody>
          <a:bodyPr wrap="square" rtlCol="0" anchor="ctr"/>
          <a:lstStyle/>
          <a:p>
            <a:pPr indent="0" marL="0">
              <a:buNone/>
            </a:pPr>
            <a:r>
              <a:rPr lang="en-US" sz="1200" b="1" dirty="0">
                <a:solidFill>
                  <a:srgbClr val="0B57A4"/>
                </a:solidFill>
              </a:rPr>
              <a:t>➜</a:t>
            </a:r>
            <a:endParaRPr lang="en-US" sz="1200" dirty="0"/>
          </a:p>
        </p:txBody>
      </p:sp>
      <p:sp>
        <p:nvSpPr>
          <p:cNvPr id="18" name="Shape 14"/>
          <p:cNvSpPr/>
          <p:nvPr/>
        </p:nvSpPr>
        <p:spPr>
          <a:xfrm>
            <a:off x="6217920" y="5074920"/>
            <a:ext cx="2606040" cy="457200"/>
          </a:xfrm>
          <a:prstGeom prst="roundRect">
            <a:avLst>
              <a:gd name="adj" fmla="val 12000"/>
            </a:avLst>
          </a:prstGeom>
          <a:solidFill>
            <a:srgbClr val="EAF3FC"/>
          </a:solidFill>
          <a:ln/>
        </p:spPr>
      </p:sp>
      <p:sp>
        <p:nvSpPr>
          <p:cNvPr id="19" name="Text 15"/>
          <p:cNvSpPr/>
          <p:nvPr/>
        </p:nvSpPr>
        <p:spPr>
          <a:xfrm>
            <a:off x="6217920" y="5074920"/>
            <a:ext cx="2606040" cy="457200"/>
          </a:xfrm>
          <a:prstGeom prst="rect">
            <a:avLst/>
          </a:prstGeom>
          <a:noFill/>
          <a:ln/>
        </p:spPr>
        <p:txBody>
          <a:bodyPr wrap="square" rtlCol="0" anchor="ctr"/>
          <a:lstStyle/>
          <a:p>
            <a:pPr algn="ctr" indent="0" marL="0">
              <a:buNone/>
            </a:pPr>
            <a:r>
              <a:rPr lang="en-US" sz="950" b="1" dirty="0">
                <a:solidFill>
                  <a:srgbClr val="0A2C54"/>
                </a:solidFill>
                <a:latin typeface="Calibri" pitchFamily="34" charset="0"/>
                <a:ea typeface="Calibri" pitchFamily="34" charset="-122"/>
                <a:cs typeface="Calibri" pitchFamily="34" charset="-120"/>
              </a:rPr>
              <a:t>Réponse (prix, FAQ)</a:t>
            </a:r>
            <a:endParaRPr lang="en-US" sz="950" dirty="0"/>
          </a:p>
        </p:txBody>
      </p:sp>
      <p:sp>
        <p:nvSpPr>
          <p:cNvPr id="20" name="Text 16"/>
          <p:cNvSpPr/>
          <p:nvPr/>
        </p:nvSpPr>
        <p:spPr>
          <a:xfrm>
            <a:off x="8823960" y="5148072"/>
            <a:ext cx="228600" cy="320040"/>
          </a:xfrm>
          <a:prstGeom prst="rect">
            <a:avLst/>
          </a:prstGeom>
          <a:noFill/>
          <a:ln/>
        </p:spPr>
        <p:txBody>
          <a:bodyPr wrap="square" rtlCol="0" anchor="ctr"/>
          <a:lstStyle/>
          <a:p>
            <a:pPr indent="0" marL="0">
              <a:buNone/>
            </a:pPr>
            <a:r>
              <a:rPr lang="en-US" sz="1200" b="1" dirty="0">
                <a:solidFill>
                  <a:srgbClr val="0B57A4"/>
                </a:solidFill>
              </a:rPr>
              <a:t>➜</a:t>
            </a:r>
            <a:endParaRPr lang="en-US" sz="1200" dirty="0"/>
          </a:p>
        </p:txBody>
      </p:sp>
      <p:sp>
        <p:nvSpPr>
          <p:cNvPr id="21" name="Shape 17"/>
          <p:cNvSpPr/>
          <p:nvPr/>
        </p:nvSpPr>
        <p:spPr>
          <a:xfrm>
            <a:off x="9052560" y="5074920"/>
            <a:ext cx="2606040" cy="457200"/>
          </a:xfrm>
          <a:prstGeom prst="roundRect">
            <a:avLst>
              <a:gd name="adj" fmla="val 12000"/>
            </a:avLst>
          </a:prstGeom>
          <a:solidFill>
            <a:srgbClr val="EAF3FC"/>
          </a:solidFill>
          <a:ln/>
        </p:spPr>
      </p:sp>
      <p:sp>
        <p:nvSpPr>
          <p:cNvPr id="22" name="Text 18"/>
          <p:cNvSpPr/>
          <p:nvPr/>
        </p:nvSpPr>
        <p:spPr>
          <a:xfrm>
            <a:off x="9052560" y="5074920"/>
            <a:ext cx="2606040" cy="457200"/>
          </a:xfrm>
          <a:prstGeom prst="rect">
            <a:avLst/>
          </a:prstGeom>
          <a:noFill/>
          <a:ln/>
        </p:spPr>
        <p:txBody>
          <a:bodyPr wrap="square" rtlCol="0" anchor="ctr"/>
          <a:lstStyle/>
          <a:p>
            <a:pPr algn="ctr" indent="0" marL="0">
              <a:buNone/>
            </a:pPr>
            <a:r>
              <a:rPr lang="en-US" sz="950" b="1" dirty="0">
                <a:solidFill>
                  <a:srgbClr val="0A2C54"/>
                </a:solidFill>
                <a:latin typeface="Calibri" pitchFamily="34" charset="0"/>
                <a:ea typeface="Calibri" pitchFamily="34" charset="-122"/>
                <a:cs typeface="Calibri" pitchFamily="34" charset="-120"/>
              </a:rPr>
              <a:t>Assistance humaine si besoin</a:t>
            </a:r>
            <a:endParaRPr lang="en-US" sz="950" dirty="0"/>
          </a:p>
        </p:txBody>
      </p:sp>
      <p:sp>
        <p:nvSpPr>
          <p:cNvPr id="23" name="Text 19"/>
          <p:cNvSpPr/>
          <p:nvPr/>
        </p:nvSpPr>
        <p:spPr>
          <a:xfrm>
            <a:off x="548640" y="5669280"/>
            <a:ext cx="11064240" cy="594360"/>
          </a:xfrm>
          <a:prstGeom prst="rect">
            <a:avLst/>
          </a:prstGeom>
          <a:noFill/>
          <a:ln/>
        </p:spPr>
        <p:txBody>
          <a:bodyPr wrap="square"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Le chatbot répond aux questions de prix directement depuis la base produit (source + date incluses), avec repli automatique sur une recherche FAQ si aucun LLM n'est configuré (CHATBOT_PROVIDER=none par défaut).</a:t>
            </a:r>
            <a:endParaRPr lang="en-US" sz="1000" dirty="0"/>
          </a:p>
        </p:txBody>
      </p:sp>
      <p:sp>
        <p:nvSpPr>
          <p:cNvPr id="24" name="Text 20"/>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Assistance</a:t>
            </a:r>
            <a:endParaRPr lang="en-US" sz="900" dirty="0"/>
          </a:p>
        </p:txBody>
      </p:sp>
      <p:sp>
        <p:nvSpPr>
          <p:cNvPr id="25" name="Text 21"/>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6" name="Text 22"/>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DÉMONSTRATION — BACK-OFFICE</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Tableau de bord</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29768" y="1344168"/>
            <a:ext cx="7095744" cy="4598219"/>
          </a:xfrm>
          <a:prstGeom prst="roundRect">
            <a:avLst>
              <a:gd name="adj" fmla="val 1193"/>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7" name="Image 0" descr="/home/claude/onportal_deck/assets/admin_dashboard_frame.png">    </p:cNvPr>
          <p:cNvPicPr>
            <a:picLocks noChangeAspect="1"/>
          </p:cNvPicPr>
          <p:nvPr/>
        </p:nvPicPr>
        <p:blipFill>
          <a:blip r:embed="rId1"/>
          <a:stretch>
            <a:fillRect/>
          </a:stretch>
        </p:blipFill>
        <p:spPr>
          <a:xfrm>
            <a:off x="502920" y="1417320"/>
            <a:ext cx="6949440" cy="4451915"/>
          </a:xfrm>
          <a:prstGeom prst="rect">
            <a:avLst/>
          </a:prstGeom>
        </p:spPr>
      </p:pic>
      <p:sp>
        <p:nvSpPr>
          <p:cNvPr id="8" name="Text 5"/>
          <p:cNvSpPr/>
          <p:nvPr/>
        </p:nvSpPr>
        <p:spPr>
          <a:xfrm>
            <a:off x="502920" y="5960675"/>
            <a:ext cx="694944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Tableau de bord — données réelles de l'environnement de démonstration</a:t>
            </a:r>
            <a:endParaRPr lang="en-US" sz="950" dirty="0"/>
          </a:p>
        </p:txBody>
      </p:sp>
      <p:sp>
        <p:nvSpPr>
          <p:cNvPr id="9" name="Shape 6"/>
          <p:cNvSpPr/>
          <p:nvPr/>
        </p:nvSpPr>
        <p:spPr>
          <a:xfrm>
            <a:off x="7726680" y="1508760"/>
            <a:ext cx="256032" cy="256032"/>
          </a:xfrm>
          <a:prstGeom prst="ellipse">
            <a:avLst/>
          </a:prstGeom>
          <a:solidFill>
            <a:srgbClr val="0B57A4"/>
          </a:solidFill>
          <a:ln/>
        </p:spPr>
      </p:sp>
      <p:sp>
        <p:nvSpPr>
          <p:cNvPr id="10" name="Text 7"/>
          <p:cNvSpPr/>
          <p:nvPr/>
        </p:nvSpPr>
        <p:spPr>
          <a:xfrm>
            <a:off x="7726680" y="150876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092440" y="1490472"/>
            <a:ext cx="3566160" cy="621792"/>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Sidebar : Catalogue, Services, Offres, Produits, Sources, Qualité, Souscriptions, Tickets, Clients, Utilisateurs, Analyses…</a:t>
            </a:r>
            <a:endParaRPr lang="en-US" sz="1150" dirty="0"/>
          </a:p>
        </p:txBody>
      </p:sp>
      <p:sp>
        <p:nvSpPr>
          <p:cNvPr id="12" name="Shape 9"/>
          <p:cNvSpPr/>
          <p:nvPr/>
        </p:nvSpPr>
        <p:spPr>
          <a:xfrm>
            <a:off x="7726680" y="2130552"/>
            <a:ext cx="256032" cy="256032"/>
          </a:xfrm>
          <a:prstGeom prst="ellipse">
            <a:avLst/>
          </a:prstGeom>
          <a:solidFill>
            <a:srgbClr val="0B57A4"/>
          </a:solidFill>
          <a:ln/>
        </p:spPr>
      </p:sp>
      <p:sp>
        <p:nvSpPr>
          <p:cNvPr id="13" name="Text 10"/>
          <p:cNvSpPr/>
          <p:nvPr/>
        </p:nvSpPr>
        <p:spPr>
          <a:xfrm>
            <a:off x="7726680" y="2130552"/>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8092440" y="2112264"/>
            <a:ext cx="3566160" cy="621792"/>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Compteurs en direct : produits publiés, souscriptions, paiements en attente, tickets ouverts</a:t>
            </a:r>
            <a:endParaRPr lang="en-US" sz="1150" dirty="0"/>
          </a:p>
        </p:txBody>
      </p:sp>
      <p:sp>
        <p:nvSpPr>
          <p:cNvPr id="15" name="Shape 12"/>
          <p:cNvSpPr/>
          <p:nvPr/>
        </p:nvSpPr>
        <p:spPr>
          <a:xfrm>
            <a:off x="7726680" y="2752344"/>
            <a:ext cx="256032" cy="256032"/>
          </a:xfrm>
          <a:prstGeom prst="ellipse">
            <a:avLst/>
          </a:prstGeom>
          <a:solidFill>
            <a:srgbClr val="0B57A4"/>
          </a:solidFill>
          <a:ln/>
        </p:spPr>
      </p:sp>
      <p:sp>
        <p:nvSpPr>
          <p:cNvPr id="16" name="Text 13"/>
          <p:cNvSpPr/>
          <p:nvPr/>
        </p:nvSpPr>
        <p:spPr>
          <a:xfrm>
            <a:off x="7726680" y="275234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8092440" y="2734056"/>
            <a:ext cx="3566160" cy="621792"/>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Switch « Portail » en un clic vers le site public (voir diapo dédiée)</a:t>
            </a:r>
            <a:endParaRPr lang="en-US" sz="1150" dirty="0"/>
          </a:p>
        </p:txBody>
      </p:sp>
      <p:sp>
        <p:nvSpPr>
          <p:cNvPr id="18" name="Shape 15"/>
          <p:cNvSpPr/>
          <p:nvPr/>
        </p:nvSpPr>
        <p:spPr>
          <a:xfrm>
            <a:off x="7726680" y="3374136"/>
            <a:ext cx="256032" cy="256032"/>
          </a:xfrm>
          <a:prstGeom prst="ellipse">
            <a:avLst/>
          </a:prstGeom>
          <a:solidFill>
            <a:srgbClr val="0B57A4"/>
          </a:solidFill>
          <a:ln/>
        </p:spPr>
      </p:sp>
      <p:sp>
        <p:nvSpPr>
          <p:cNvPr id="19" name="Text 16"/>
          <p:cNvSpPr/>
          <p:nvPr/>
        </p:nvSpPr>
        <p:spPr>
          <a:xfrm>
            <a:off x="7726680" y="3374136"/>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8092440" y="3355848"/>
            <a:ext cx="3566160" cy="621792"/>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Bloc Qualité des données — contrôle continu du catalogue</a:t>
            </a:r>
            <a:endParaRPr lang="en-US" sz="1150" dirty="0"/>
          </a:p>
        </p:txBody>
      </p:sp>
      <p:sp>
        <p:nvSpPr>
          <p:cNvPr id="21" name="Text 18"/>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Back-office</a:t>
            </a:r>
            <a:endParaRPr lang="en-US" sz="900" dirty="0"/>
          </a:p>
        </p:txBody>
      </p:sp>
      <p:sp>
        <p:nvSpPr>
          <p:cNvPr id="22" name="Text 19"/>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3" name="Text 20"/>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SÉCURITÉ</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RBAC — contrôle d'accès par rôle</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548640" y="1463040"/>
            <a:ext cx="2103120" cy="457200"/>
          </a:xfrm>
          <a:prstGeom prst="rect">
            <a:avLst/>
          </a:prstGeom>
          <a:solidFill>
            <a:srgbClr val="0A2C54"/>
          </a:solidFill>
          <a:ln w="6350">
            <a:solidFill>
              <a:srgbClr val="FFFFFF"/>
            </a:solidFill>
            <a:prstDash val="solid"/>
          </a:ln>
        </p:spPr>
      </p:sp>
      <p:sp>
        <p:nvSpPr>
          <p:cNvPr id="7" name="Shape 5"/>
          <p:cNvSpPr/>
          <p:nvPr/>
        </p:nvSpPr>
        <p:spPr>
          <a:xfrm>
            <a:off x="2651760" y="1463040"/>
            <a:ext cx="1691640" cy="457200"/>
          </a:xfrm>
          <a:prstGeom prst="rect">
            <a:avLst/>
          </a:prstGeom>
          <a:solidFill>
            <a:srgbClr val="0A2C54"/>
          </a:solidFill>
          <a:ln w="6350">
            <a:solidFill>
              <a:srgbClr val="FFFFFF"/>
            </a:solidFill>
            <a:prstDash val="solid"/>
          </a:ln>
        </p:spPr>
      </p:sp>
      <p:sp>
        <p:nvSpPr>
          <p:cNvPr id="8" name="Text 6"/>
          <p:cNvSpPr/>
          <p:nvPr/>
        </p:nvSpPr>
        <p:spPr>
          <a:xfrm>
            <a:off x="2651760" y="1463040"/>
            <a:ext cx="169164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SUPER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ADMIN</a:t>
            </a:r>
            <a:endParaRPr lang="en-US" sz="1000" dirty="0"/>
          </a:p>
        </p:txBody>
      </p:sp>
      <p:sp>
        <p:nvSpPr>
          <p:cNvPr id="9" name="Shape 7"/>
          <p:cNvSpPr/>
          <p:nvPr/>
        </p:nvSpPr>
        <p:spPr>
          <a:xfrm>
            <a:off x="4343400" y="1463040"/>
            <a:ext cx="1691640" cy="457200"/>
          </a:xfrm>
          <a:prstGeom prst="rect">
            <a:avLst/>
          </a:prstGeom>
          <a:solidFill>
            <a:srgbClr val="0A2C54"/>
          </a:solidFill>
          <a:ln w="6350">
            <a:solidFill>
              <a:srgbClr val="FFFFFF"/>
            </a:solidFill>
            <a:prstDash val="solid"/>
          </a:ln>
        </p:spPr>
      </p:sp>
      <p:sp>
        <p:nvSpPr>
          <p:cNvPr id="10" name="Text 8"/>
          <p:cNvSpPr/>
          <p:nvPr/>
        </p:nvSpPr>
        <p:spPr>
          <a:xfrm>
            <a:off x="4343400" y="1463040"/>
            <a:ext cx="169164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ADMIN</a:t>
            </a:r>
            <a:endParaRPr lang="en-US" sz="1000" dirty="0"/>
          </a:p>
        </p:txBody>
      </p:sp>
      <p:sp>
        <p:nvSpPr>
          <p:cNvPr id="11" name="Shape 9"/>
          <p:cNvSpPr/>
          <p:nvPr/>
        </p:nvSpPr>
        <p:spPr>
          <a:xfrm>
            <a:off x="6035040" y="1463040"/>
            <a:ext cx="1691640" cy="457200"/>
          </a:xfrm>
          <a:prstGeom prst="rect">
            <a:avLst/>
          </a:prstGeom>
          <a:solidFill>
            <a:srgbClr val="0A2C54"/>
          </a:solidFill>
          <a:ln w="6350">
            <a:solidFill>
              <a:srgbClr val="FFFFFF"/>
            </a:solidFill>
            <a:prstDash val="solid"/>
          </a:ln>
        </p:spPr>
      </p:sp>
      <p:sp>
        <p:nvSpPr>
          <p:cNvPr id="12" name="Text 10"/>
          <p:cNvSpPr/>
          <p:nvPr/>
        </p:nvSpPr>
        <p:spPr>
          <a:xfrm>
            <a:off x="6035040" y="1463040"/>
            <a:ext cx="169164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PRODUCT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MANAGER</a:t>
            </a:r>
            <a:endParaRPr lang="en-US" sz="1000" dirty="0"/>
          </a:p>
        </p:txBody>
      </p:sp>
      <p:sp>
        <p:nvSpPr>
          <p:cNvPr id="13" name="Shape 11"/>
          <p:cNvSpPr/>
          <p:nvPr/>
        </p:nvSpPr>
        <p:spPr>
          <a:xfrm>
            <a:off x="7726680" y="1463040"/>
            <a:ext cx="1691640" cy="457200"/>
          </a:xfrm>
          <a:prstGeom prst="rect">
            <a:avLst/>
          </a:prstGeom>
          <a:solidFill>
            <a:srgbClr val="0A2C54"/>
          </a:solidFill>
          <a:ln w="6350">
            <a:solidFill>
              <a:srgbClr val="FFFFFF"/>
            </a:solidFill>
            <a:prstDash val="solid"/>
          </a:ln>
        </p:spPr>
      </p:sp>
      <p:sp>
        <p:nvSpPr>
          <p:cNvPr id="14" name="Text 12"/>
          <p:cNvSpPr/>
          <p:nvPr/>
        </p:nvSpPr>
        <p:spPr>
          <a:xfrm>
            <a:off x="7726680" y="1463040"/>
            <a:ext cx="169164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EDITOR</a:t>
            </a:r>
            <a:endParaRPr lang="en-US" sz="1000" dirty="0"/>
          </a:p>
        </p:txBody>
      </p:sp>
      <p:sp>
        <p:nvSpPr>
          <p:cNvPr id="15" name="Shape 13"/>
          <p:cNvSpPr/>
          <p:nvPr/>
        </p:nvSpPr>
        <p:spPr>
          <a:xfrm>
            <a:off x="9418320" y="1463040"/>
            <a:ext cx="1691640" cy="457200"/>
          </a:xfrm>
          <a:prstGeom prst="rect">
            <a:avLst/>
          </a:prstGeom>
          <a:solidFill>
            <a:srgbClr val="0A2C54"/>
          </a:solidFill>
          <a:ln w="6350">
            <a:solidFill>
              <a:srgbClr val="FFFFFF"/>
            </a:solidFill>
            <a:prstDash val="solid"/>
          </a:ln>
        </p:spPr>
      </p:sp>
      <p:sp>
        <p:nvSpPr>
          <p:cNvPr id="16" name="Text 14"/>
          <p:cNvSpPr/>
          <p:nvPr/>
        </p:nvSpPr>
        <p:spPr>
          <a:xfrm>
            <a:off x="9418320" y="1463040"/>
            <a:ext cx="169164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a:t>
            </a:r>
            <a:endParaRPr lang="en-US" sz="1000" dirty="0"/>
          </a:p>
        </p:txBody>
      </p:sp>
      <p:sp>
        <p:nvSpPr>
          <p:cNvPr id="17" name="Shape 15"/>
          <p:cNvSpPr/>
          <p:nvPr/>
        </p:nvSpPr>
        <p:spPr>
          <a:xfrm>
            <a:off x="548640" y="1920240"/>
            <a:ext cx="2103120" cy="457200"/>
          </a:xfrm>
          <a:prstGeom prst="rect">
            <a:avLst/>
          </a:prstGeom>
          <a:solidFill>
            <a:srgbClr val="F4F6F8"/>
          </a:solidFill>
          <a:ln w="6350">
            <a:solidFill>
              <a:srgbClr val="D9DEE4"/>
            </a:solidFill>
            <a:prstDash val="solid"/>
          </a:ln>
        </p:spPr>
      </p:sp>
      <p:sp>
        <p:nvSpPr>
          <p:cNvPr id="18" name="Text 16"/>
          <p:cNvSpPr/>
          <p:nvPr/>
        </p:nvSpPr>
        <p:spPr>
          <a:xfrm>
            <a:off x="640080" y="1920240"/>
            <a:ext cx="1920240" cy="457200"/>
          </a:xfrm>
          <a:prstGeom prst="rect">
            <a:avLst/>
          </a:prstGeom>
          <a:noFill/>
          <a:ln/>
        </p:spPr>
        <p:txBody>
          <a:bodyPr wrap="square"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Accès back-office</a:t>
            </a:r>
            <a:endParaRPr lang="en-US" sz="1050" dirty="0"/>
          </a:p>
        </p:txBody>
      </p:sp>
      <p:sp>
        <p:nvSpPr>
          <p:cNvPr id="19" name="Shape 17"/>
          <p:cNvSpPr/>
          <p:nvPr/>
        </p:nvSpPr>
        <p:spPr>
          <a:xfrm>
            <a:off x="2651760" y="1920240"/>
            <a:ext cx="1691640" cy="457200"/>
          </a:xfrm>
          <a:prstGeom prst="rect">
            <a:avLst/>
          </a:prstGeom>
          <a:solidFill>
            <a:srgbClr val="F4F6F8"/>
          </a:solidFill>
          <a:ln w="6350">
            <a:solidFill>
              <a:srgbClr val="D9DEE4"/>
            </a:solidFill>
            <a:prstDash val="solid"/>
          </a:ln>
        </p:spPr>
      </p:sp>
      <p:sp>
        <p:nvSpPr>
          <p:cNvPr id="20" name="Text 18"/>
          <p:cNvSpPr/>
          <p:nvPr/>
        </p:nvSpPr>
        <p:spPr>
          <a:xfrm>
            <a:off x="2651760" y="19202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4343400" y="1920240"/>
            <a:ext cx="1691640" cy="457200"/>
          </a:xfrm>
          <a:prstGeom prst="rect">
            <a:avLst/>
          </a:prstGeom>
          <a:solidFill>
            <a:srgbClr val="F4F6F8"/>
          </a:solidFill>
          <a:ln w="6350">
            <a:solidFill>
              <a:srgbClr val="D9DEE4"/>
            </a:solidFill>
            <a:prstDash val="solid"/>
          </a:ln>
        </p:spPr>
      </p:sp>
      <p:sp>
        <p:nvSpPr>
          <p:cNvPr id="22" name="Text 20"/>
          <p:cNvSpPr/>
          <p:nvPr/>
        </p:nvSpPr>
        <p:spPr>
          <a:xfrm>
            <a:off x="4343400" y="19202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6035040" y="1920240"/>
            <a:ext cx="1691640" cy="457200"/>
          </a:xfrm>
          <a:prstGeom prst="rect">
            <a:avLst/>
          </a:prstGeom>
          <a:solidFill>
            <a:srgbClr val="F4F6F8"/>
          </a:solidFill>
          <a:ln w="6350">
            <a:solidFill>
              <a:srgbClr val="D9DEE4"/>
            </a:solidFill>
            <a:prstDash val="solid"/>
          </a:ln>
        </p:spPr>
      </p:sp>
      <p:sp>
        <p:nvSpPr>
          <p:cNvPr id="24" name="Text 22"/>
          <p:cNvSpPr/>
          <p:nvPr/>
        </p:nvSpPr>
        <p:spPr>
          <a:xfrm>
            <a:off x="6035040" y="19202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7726680" y="1920240"/>
            <a:ext cx="1691640" cy="457200"/>
          </a:xfrm>
          <a:prstGeom prst="rect">
            <a:avLst/>
          </a:prstGeom>
          <a:solidFill>
            <a:srgbClr val="F4F6F8"/>
          </a:solidFill>
          <a:ln w="6350">
            <a:solidFill>
              <a:srgbClr val="D9DEE4"/>
            </a:solidFill>
            <a:prstDash val="solid"/>
          </a:ln>
        </p:spPr>
      </p:sp>
      <p:sp>
        <p:nvSpPr>
          <p:cNvPr id="26" name="Text 24"/>
          <p:cNvSpPr/>
          <p:nvPr/>
        </p:nvSpPr>
        <p:spPr>
          <a:xfrm>
            <a:off x="7726680" y="19202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27" name="Shape 25"/>
          <p:cNvSpPr/>
          <p:nvPr/>
        </p:nvSpPr>
        <p:spPr>
          <a:xfrm>
            <a:off x="9418320" y="1920240"/>
            <a:ext cx="1691640" cy="457200"/>
          </a:xfrm>
          <a:prstGeom prst="rect">
            <a:avLst/>
          </a:prstGeom>
          <a:solidFill>
            <a:srgbClr val="F4F6F8"/>
          </a:solidFill>
          <a:ln w="6350">
            <a:solidFill>
              <a:srgbClr val="D9DEE4"/>
            </a:solidFill>
            <a:prstDash val="solid"/>
          </a:ln>
        </p:spPr>
      </p:sp>
      <p:sp>
        <p:nvSpPr>
          <p:cNvPr id="28" name="Text 26"/>
          <p:cNvSpPr/>
          <p:nvPr/>
        </p:nvSpPr>
        <p:spPr>
          <a:xfrm>
            <a:off x="9418320" y="19202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29" name="Shape 27"/>
          <p:cNvSpPr/>
          <p:nvPr/>
        </p:nvSpPr>
        <p:spPr>
          <a:xfrm>
            <a:off x="548640" y="2377440"/>
            <a:ext cx="2103120" cy="457200"/>
          </a:xfrm>
          <a:prstGeom prst="rect">
            <a:avLst/>
          </a:prstGeom>
          <a:solidFill>
            <a:srgbClr val="FFFFFF"/>
          </a:solidFill>
          <a:ln w="6350">
            <a:solidFill>
              <a:srgbClr val="D9DEE4"/>
            </a:solidFill>
            <a:prstDash val="solid"/>
          </a:ln>
        </p:spPr>
      </p:sp>
      <p:sp>
        <p:nvSpPr>
          <p:cNvPr id="30" name="Text 28"/>
          <p:cNvSpPr/>
          <p:nvPr/>
        </p:nvSpPr>
        <p:spPr>
          <a:xfrm>
            <a:off x="640080" y="2377440"/>
            <a:ext cx="1920240" cy="457200"/>
          </a:xfrm>
          <a:prstGeom prst="rect">
            <a:avLst/>
          </a:prstGeom>
          <a:noFill/>
          <a:ln/>
        </p:spPr>
        <p:txBody>
          <a:bodyPr wrap="square" rtlCol="0" anchor="ctr"/>
          <a:lstStyle/>
          <a:p>
            <a:pPr indent="0" marL="0">
              <a:buNone/>
            </a:pPr>
            <a:r>
              <a:rPr lang="en-US" sz="1050" dirty="0">
                <a:solidFill>
                  <a:srgbClr val="1F2937"/>
                </a:solidFill>
                <a:latin typeface="Calibri" pitchFamily="34" charset="0"/>
                <a:ea typeface="Calibri" pitchFamily="34" charset="-122"/>
                <a:cs typeface="Calibri" pitchFamily="34" charset="-120"/>
              </a:rPr>
              <a:t>Gérer catalogue</a:t>
            </a:r>
            <a:endParaRPr lang="en-US" sz="1050" dirty="0"/>
          </a:p>
        </p:txBody>
      </p:sp>
      <p:sp>
        <p:nvSpPr>
          <p:cNvPr id="31" name="Shape 29"/>
          <p:cNvSpPr/>
          <p:nvPr/>
        </p:nvSpPr>
        <p:spPr>
          <a:xfrm>
            <a:off x="2651760" y="2377440"/>
            <a:ext cx="1691640" cy="457200"/>
          </a:xfrm>
          <a:prstGeom prst="rect">
            <a:avLst/>
          </a:prstGeom>
          <a:solidFill>
            <a:srgbClr val="FFFFFF"/>
          </a:solidFill>
          <a:ln w="6350">
            <a:solidFill>
              <a:srgbClr val="D9DEE4"/>
            </a:solidFill>
            <a:prstDash val="solid"/>
          </a:ln>
        </p:spPr>
      </p:sp>
      <p:sp>
        <p:nvSpPr>
          <p:cNvPr id="32" name="Text 30"/>
          <p:cNvSpPr/>
          <p:nvPr/>
        </p:nvSpPr>
        <p:spPr>
          <a:xfrm>
            <a:off x="2651760" y="23774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4343400" y="2377440"/>
            <a:ext cx="1691640" cy="457200"/>
          </a:xfrm>
          <a:prstGeom prst="rect">
            <a:avLst/>
          </a:prstGeom>
          <a:solidFill>
            <a:srgbClr val="FFFFFF"/>
          </a:solidFill>
          <a:ln w="6350">
            <a:solidFill>
              <a:srgbClr val="D9DEE4"/>
            </a:solidFill>
            <a:prstDash val="solid"/>
          </a:ln>
        </p:spPr>
      </p:sp>
      <p:sp>
        <p:nvSpPr>
          <p:cNvPr id="34" name="Text 32"/>
          <p:cNvSpPr/>
          <p:nvPr/>
        </p:nvSpPr>
        <p:spPr>
          <a:xfrm>
            <a:off x="4343400" y="23774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35" name="Shape 33"/>
          <p:cNvSpPr/>
          <p:nvPr/>
        </p:nvSpPr>
        <p:spPr>
          <a:xfrm>
            <a:off x="6035040" y="2377440"/>
            <a:ext cx="1691640" cy="457200"/>
          </a:xfrm>
          <a:prstGeom prst="rect">
            <a:avLst/>
          </a:prstGeom>
          <a:solidFill>
            <a:srgbClr val="FFFFFF"/>
          </a:solidFill>
          <a:ln w="6350">
            <a:solidFill>
              <a:srgbClr val="D9DEE4"/>
            </a:solidFill>
            <a:prstDash val="solid"/>
          </a:ln>
        </p:spPr>
      </p:sp>
      <p:sp>
        <p:nvSpPr>
          <p:cNvPr id="36" name="Text 34"/>
          <p:cNvSpPr/>
          <p:nvPr/>
        </p:nvSpPr>
        <p:spPr>
          <a:xfrm>
            <a:off x="6035040" y="23774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37" name="Shape 35"/>
          <p:cNvSpPr/>
          <p:nvPr/>
        </p:nvSpPr>
        <p:spPr>
          <a:xfrm>
            <a:off x="7726680" y="2377440"/>
            <a:ext cx="1691640" cy="457200"/>
          </a:xfrm>
          <a:prstGeom prst="rect">
            <a:avLst/>
          </a:prstGeom>
          <a:solidFill>
            <a:srgbClr val="FFFFFF"/>
          </a:solidFill>
          <a:ln w="6350">
            <a:solidFill>
              <a:srgbClr val="D9DEE4"/>
            </a:solidFill>
            <a:prstDash val="solid"/>
          </a:ln>
        </p:spPr>
      </p:sp>
      <p:sp>
        <p:nvSpPr>
          <p:cNvPr id="38" name="Text 36"/>
          <p:cNvSpPr/>
          <p:nvPr/>
        </p:nvSpPr>
        <p:spPr>
          <a:xfrm>
            <a:off x="7726680" y="23774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39" name="Shape 37"/>
          <p:cNvSpPr/>
          <p:nvPr/>
        </p:nvSpPr>
        <p:spPr>
          <a:xfrm>
            <a:off x="9418320" y="2377440"/>
            <a:ext cx="1691640" cy="457200"/>
          </a:xfrm>
          <a:prstGeom prst="rect">
            <a:avLst/>
          </a:prstGeom>
          <a:solidFill>
            <a:srgbClr val="FFFFFF"/>
          </a:solidFill>
          <a:ln w="6350">
            <a:solidFill>
              <a:srgbClr val="D9DEE4"/>
            </a:solidFill>
            <a:prstDash val="solid"/>
          </a:ln>
        </p:spPr>
      </p:sp>
      <p:sp>
        <p:nvSpPr>
          <p:cNvPr id="40" name="Text 38"/>
          <p:cNvSpPr/>
          <p:nvPr/>
        </p:nvSpPr>
        <p:spPr>
          <a:xfrm>
            <a:off x="9418320" y="23774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41" name="Shape 39"/>
          <p:cNvSpPr/>
          <p:nvPr/>
        </p:nvSpPr>
        <p:spPr>
          <a:xfrm>
            <a:off x="548640" y="2834640"/>
            <a:ext cx="2103120" cy="457200"/>
          </a:xfrm>
          <a:prstGeom prst="rect">
            <a:avLst/>
          </a:prstGeom>
          <a:solidFill>
            <a:srgbClr val="F4F6F8"/>
          </a:solidFill>
          <a:ln w="6350">
            <a:solidFill>
              <a:srgbClr val="D9DEE4"/>
            </a:solidFill>
            <a:prstDash val="solid"/>
          </a:ln>
        </p:spPr>
      </p:sp>
      <p:sp>
        <p:nvSpPr>
          <p:cNvPr id="42" name="Text 40"/>
          <p:cNvSpPr/>
          <p:nvPr/>
        </p:nvSpPr>
        <p:spPr>
          <a:xfrm>
            <a:off x="640080" y="2834640"/>
            <a:ext cx="1920240" cy="457200"/>
          </a:xfrm>
          <a:prstGeom prst="rect">
            <a:avLst/>
          </a:prstGeom>
          <a:noFill/>
          <a:ln/>
        </p:spPr>
        <p:txBody>
          <a:bodyPr wrap="square"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Publier / dépublier</a:t>
            </a:r>
            <a:endParaRPr lang="en-US" sz="1050" dirty="0"/>
          </a:p>
        </p:txBody>
      </p:sp>
      <p:sp>
        <p:nvSpPr>
          <p:cNvPr id="43" name="Shape 41"/>
          <p:cNvSpPr/>
          <p:nvPr/>
        </p:nvSpPr>
        <p:spPr>
          <a:xfrm>
            <a:off x="2651760" y="2834640"/>
            <a:ext cx="1691640" cy="457200"/>
          </a:xfrm>
          <a:prstGeom prst="rect">
            <a:avLst/>
          </a:prstGeom>
          <a:solidFill>
            <a:srgbClr val="F4F6F8"/>
          </a:solidFill>
          <a:ln w="6350">
            <a:solidFill>
              <a:srgbClr val="D9DEE4"/>
            </a:solidFill>
            <a:prstDash val="solid"/>
          </a:ln>
        </p:spPr>
      </p:sp>
      <p:sp>
        <p:nvSpPr>
          <p:cNvPr id="44" name="Text 42"/>
          <p:cNvSpPr/>
          <p:nvPr/>
        </p:nvSpPr>
        <p:spPr>
          <a:xfrm>
            <a:off x="2651760" y="28346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45" name="Shape 43"/>
          <p:cNvSpPr/>
          <p:nvPr/>
        </p:nvSpPr>
        <p:spPr>
          <a:xfrm>
            <a:off x="4343400" y="2834640"/>
            <a:ext cx="1691640" cy="457200"/>
          </a:xfrm>
          <a:prstGeom prst="rect">
            <a:avLst/>
          </a:prstGeom>
          <a:solidFill>
            <a:srgbClr val="F4F6F8"/>
          </a:solidFill>
          <a:ln w="6350">
            <a:solidFill>
              <a:srgbClr val="D9DEE4"/>
            </a:solidFill>
            <a:prstDash val="solid"/>
          </a:ln>
        </p:spPr>
      </p:sp>
      <p:sp>
        <p:nvSpPr>
          <p:cNvPr id="46" name="Text 44"/>
          <p:cNvSpPr/>
          <p:nvPr/>
        </p:nvSpPr>
        <p:spPr>
          <a:xfrm>
            <a:off x="4343400" y="28346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47" name="Shape 45"/>
          <p:cNvSpPr/>
          <p:nvPr/>
        </p:nvSpPr>
        <p:spPr>
          <a:xfrm>
            <a:off x="6035040" y="2834640"/>
            <a:ext cx="1691640" cy="457200"/>
          </a:xfrm>
          <a:prstGeom prst="rect">
            <a:avLst/>
          </a:prstGeom>
          <a:solidFill>
            <a:srgbClr val="F4F6F8"/>
          </a:solidFill>
          <a:ln w="6350">
            <a:solidFill>
              <a:srgbClr val="D9DEE4"/>
            </a:solidFill>
            <a:prstDash val="solid"/>
          </a:ln>
        </p:spPr>
      </p:sp>
      <p:sp>
        <p:nvSpPr>
          <p:cNvPr id="48" name="Text 46"/>
          <p:cNvSpPr/>
          <p:nvPr/>
        </p:nvSpPr>
        <p:spPr>
          <a:xfrm>
            <a:off x="6035040" y="28346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49" name="Shape 47"/>
          <p:cNvSpPr/>
          <p:nvPr/>
        </p:nvSpPr>
        <p:spPr>
          <a:xfrm>
            <a:off x="7726680" y="2834640"/>
            <a:ext cx="1691640" cy="457200"/>
          </a:xfrm>
          <a:prstGeom prst="rect">
            <a:avLst/>
          </a:prstGeom>
          <a:solidFill>
            <a:srgbClr val="F4F6F8"/>
          </a:solidFill>
          <a:ln w="6350">
            <a:solidFill>
              <a:srgbClr val="D9DEE4"/>
            </a:solidFill>
            <a:prstDash val="solid"/>
          </a:ln>
        </p:spPr>
      </p:sp>
      <p:sp>
        <p:nvSpPr>
          <p:cNvPr id="50" name="Text 48"/>
          <p:cNvSpPr/>
          <p:nvPr/>
        </p:nvSpPr>
        <p:spPr>
          <a:xfrm>
            <a:off x="7726680" y="28346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51" name="Shape 49"/>
          <p:cNvSpPr/>
          <p:nvPr/>
        </p:nvSpPr>
        <p:spPr>
          <a:xfrm>
            <a:off x="9418320" y="2834640"/>
            <a:ext cx="1691640" cy="457200"/>
          </a:xfrm>
          <a:prstGeom prst="rect">
            <a:avLst/>
          </a:prstGeom>
          <a:solidFill>
            <a:srgbClr val="F4F6F8"/>
          </a:solidFill>
          <a:ln w="6350">
            <a:solidFill>
              <a:srgbClr val="D9DEE4"/>
            </a:solidFill>
            <a:prstDash val="solid"/>
          </a:ln>
        </p:spPr>
      </p:sp>
      <p:sp>
        <p:nvSpPr>
          <p:cNvPr id="52" name="Text 50"/>
          <p:cNvSpPr/>
          <p:nvPr/>
        </p:nvSpPr>
        <p:spPr>
          <a:xfrm>
            <a:off x="9418320" y="28346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53" name="Shape 51"/>
          <p:cNvSpPr/>
          <p:nvPr/>
        </p:nvSpPr>
        <p:spPr>
          <a:xfrm>
            <a:off x="548640" y="3291840"/>
            <a:ext cx="2103120" cy="457200"/>
          </a:xfrm>
          <a:prstGeom prst="rect">
            <a:avLst/>
          </a:prstGeom>
          <a:solidFill>
            <a:srgbClr val="FFFFFF"/>
          </a:solidFill>
          <a:ln w="6350">
            <a:solidFill>
              <a:srgbClr val="D9DEE4"/>
            </a:solidFill>
            <a:prstDash val="solid"/>
          </a:ln>
        </p:spPr>
      </p:sp>
      <p:sp>
        <p:nvSpPr>
          <p:cNvPr id="54" name="Text 52"/>
          <p:cNvSpPr/>
          <p:nvPr/>
        </p:nvSpPr>
        <p:spPr>
          <a:xfrm>
            <a:off x="640080" y="3291840"/>
            <a:ext cx="1920240" cy="457200"/>
          </a:xfrm>
          <a:prstGeom prst="rect">
            <a:avLst/>
          </a:prstGeom>
          <a:noFill/>
          <a:ln/>
        </p:spPr>
        <p:txBody>
          <a:bodyPr wrap="square" rtlCol="0" anchor="ctr"/>
          <a:lstStyle/>
          <a:p>
            <a:pPr indent="0" marL="0">
              <a:buNone/>
            </a:pPr>
            <a:r>
              <a:rPr lang="en-US" sz="1050" dirty="0">
                <a:solidFill>
                  <a:srgbClr val="1F2937"/>
                </a:solidFill>
                <a:latin typeface="Calibri" pitchFamily="34" charset="0"/>
                <a:ea typeface="Calibri" pitchFamily="34" charset="-122"/>
                <a:cs typeface="Calibri" pitchFamily="34" charset="-120"/>
              </a:rPr>
              <a:t>Gérer utilisateurs</a:t>
            </a:r>
            <a:endParaRPr lang="en-US" sz="1050" dirty="0"/>
          </a:p>
        </p:txBody>
      </p:sp>
      <p:sp>
        <p:nvSpPr>
          <p:cNvPr id="55" name="Shape 53"/>
          <p:cNvSpPr/>
          <p:nvPr/>
        </p:nvSpPr>
        <p:spPr>
          <a:xfrm>
            <a:off x="2651760" y="3291840"/>
            <a:ext cx="1691640" cy="457200"/>
          </a:xfrm>
          <a:prstGeom prst="rect">
            <a:avLst/>
          </a:prstGeom>
          <a:solidFill>
            <a:srgbClr val="FFFFFF"/>
          </a:solidFill>
          <a:ln w="6350">
            <a:solidFill>
              <a:srgbClr val="D9DEE4"/>
            </a:solidFill>
            <a:prstDash val="solid"/>
          </a:ln>
        </p:spPr>
      </p:sp>
      <p:sp>
        <p:nvSpPr>
          <p:cNvPr id="56" name="Text 54"/>
          <p:cNvSpPr/>
          <p:nvPr/>
        </p:nvSpPr>
        <p:spPr>
          <a:xfrm>
            <a:off x="2651760" y="32918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57" name="Shape 55"/>
          <p:cNvSpPr/>
          <p:nvPr/>
        </p:nvSpPr>
        <p:spPr>
          <a:xfrm>
            <a:off x="4343400" y="3291840"/>
            <a:ext cx="1691640" cy="457200"/>
          </a:xfrm>
          <a:prstGeom prst="rect">
            <a:avLst/>
          </a:prstGeom>
          <a:solidFill>
            <a:srgbClr val="FFFFFF"/>
          </a:solidFill>
          <a:ln w="6350">
            <a:solidFill>
              <a:srgbClr val="D9DEE4"/>
            </a:solidFill>
            <a:prstDash val="solid"/>
          </a:ln>
        </p:spPr>
      </p:sp>
      <p:sp>
        <p:nvSpPr>
          <p:cNvPr id="58" name="Text 56"/>
          <p:cNvSpPr/>
          <p:nvPr/>
        </p:nvSpPr>
        <p:spPr>
          <a:xfrm>
            <a:off x="4343400" y="32918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59" name="Shape 57"/>
          <p:cNvSpPr/>
          <p:nvPr/>
        </p:nvSpPr>
        <p:spPr>
          <a:xfrm>
            <a:off x="6035040" y="3291840"/>
            <a:ext cx="1691640" cy="457200"/>
          </a:xfrm>
          <a:prstGeom prst="rect">
            <a:avLst/>
          </a:prstGeom>
          <a:solidFill>
            <a:srgbClr val="FFFFFF"/>
          </a:solidFill>
          <a:ln w="6350">
            <a:solidFill>
              <a:srgbClr val="D9DEE4"/>
            </a:solidFill>
            <a:prstDash val="solid"/>
          </a:ln>
        </p:spPr>
      </p:sp>
      <p:sp>
        <p:nvSpPr>
          <p:cNvPr id="60" name="Text 58"/>
          <p:cNvSpPr/>
          <p:nvPr/>
        </p:nvSpPr>
        <p:spPr>
          <a:xfrm>
            <a:off x="6035040" y="32918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61" name="Shape 59"/>
          <p:cNvSpPr/>
          <p:nvPr/>
        </p:nvSpPr>
        <p:spPr>
          <a:xfrm>
            <a:off x="7726680" y="3291840"/>
            <a:ext cx="1691640" cy="457200"/>
          </a:xfrm>
          <a:prstGeom prst="rect">
            <a:avLst/>
          </a:prstGeom>
          <a:solidFill>
            <a:srgbClr val="FFFFFF"/>
          </a:solidFill>
          <a:ln w="6350">
            <a:solidFill>
              <a:srgbClr val="D9DEE4"/>
            </a:solidFill>
            <a:prstDash val="solid"/>
          </a:ln>
        </p:spPr>
      </p:sp>
      <p:sp>
        <p:nvSpPr>
          <p:cNvPr id="62" name="Text 60"/>
          <p:cNvSpPr/>
          <p:nvPr/>
        </p:nvSpPr>
        <p:spPr>
          <a:xfrm>
            <a:off x="7726680" y="32918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63" name="Shape 61"/>
          <p:cNvSpPr/>
          <p:nvPr/>
        </p:nvSpPr>
        <p:spPr>
          <a:xfrm>
            <a:off x="9418320" y="3291840"/>
            <a:ext cx="1691640" cy="457200"/>
          </a:xfrm>
          <a:prstGeom prst="rect">
            <a:avLst/>
          </a:prstGeom>
          <a:solidFill>
            <a:srgbClr val="FFFFFF"/>
          </a:solidFill>
          <a:ln w="6350">
            <a:solidFill>
              <a:srgbClr val="D9DEE4"/>
            </a:solidFill>
            <a:prstDash val="solid"/>
          </a:ln>
        </p:spPr>
      </p:sp>
      <p:sp>
        <p:nvSpPr>
          <p:cNvPr id="64" name="Text 62"/>
          <p:cNvSpPr/>
          <p:nvPr/>
        </p:nvSpPr>
        <p:spPr>
          <a:xfrm>
            <a:off x="9418320" y="32918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65" name="Shape 63"/>
          <p:cNvSpPr/>
          <p:nvPr/>
        </p:nvSpPr>
        <p:spPr>
          <a:xfrm>
            <a:off x="548640" y="3749040"/>
            <a:ext cx="2103120" cy="457200"/>
          </a:xfrm>
          <a:prstGeom prst="rect">
            <a:avLst/>
          </a:prstGeom>
          <a:solidFill>
            <a:srgbClr val="F4F6F8"/>
          </a:solidFill>
          <a:ln w="6350">
            <a:solidFill>
              <a:srgbClr val="D9DEE4"/>
            </a:solidFill>
            <a:prstDash val="solid"/>
          </a:ln>
        </p:spPr>
      </p:sp>
      <p:sp>
        <p:nvSpPr>
          <p:cNvPr id="66" name="Text 64"/>
          <p:cNvSpPr/>
          <p:nvPr/>
        </p:nvSpPr>
        <p:spPr>
          <a:xfrm>
            <a:off x="640080" y="3749040"/>
            <a:ext cx="1920240" cy="457200"/>
          </a:xfrm>
          <a:prstGeom prst="rect">
            <a:avLst/>
          </a:prstGeom>
          <a:noFill/>
          <a:ln/>
        </p:spPr>
        <p:txBody>
          <a:bodyPr wrap="square" rtlCol="0" anchor="ctr"/>
          <a:lstStyle/>
          <a:p>
            <a:pPr indent="0" marL="0">
              <a:buNone/>
            </a:pPr>
            <a:r>
              <a:rPr lang="en-US" sz="1050" dirty="0">
                <a:solidFill>
                  <a:srgbClr val="1F2937"/>
                </a:solidFill>
                <a:latin typeface="Calibri" pitchFamily="34" charset="0"/>
                <a:ea typeface="Calibri" pitchFamily="34" charset="-122"/>
                <a:cs typeface="Calibri" pitchFamily="34" charset="-120"/>
              </a:rPr>
              <a:t>Voir analytics</a:t>
            </a:r>
            <a:endParaRPr lang="en-US" sz="1050" dirty="0"/>
          </a:p>
        </p:txBody>
      </p:sp>
      <p:sp>
        <p:nvSpPr>
          <p:cNvPr id="67" name="Shape 65"/>
          <p:cNvSpPr/>
          <p:nvPr/>
        </p:nvSpPr>
        <p:spPr>
          <a:xfrm>
            <a:off x="2651760" y="3749040"/>
            <a:ext cx="1691640" cy="457200"/>
          </a:xfrm>
          <a:prstGeom prst="rect">
            <a:avLst/>
          </a:prstGeom>
          <a:solidFill>
            <a:srgbClr val="F4F6F8"/>
          </a:solidFill>
          <a:ln w="6350">
            <a:solidFill>
              <a:srgbClr val="D9DEE4"/>
            </a:solidFill>
            <a:prstDash val="solid"/>
          </a:ln>
        </p:spPr>
      </p:sp>
      <p:sp>
        <p:nvSpPr>
          <p:cNvPr id="68" name="Text 66"/>
          <p:cNvSpPr/>
          <p:nvPr/>
        </p:nvSpPr>
        <p:spPr>
          <a:xfrm>
            <a:off x="2651760" y="37490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69" name="Shape 67"/>
          <p:cNvSpPr/>
          <p:nvPr/>
        </p:nvSpPr>
        <p:spPr>
          <a:xfrm>
            <a:off x="4343400" y="3749040"/>
            <a:ext cx="1691640" cy="457200"/>
          </a:xfrm>
          <a:prstGeom prst="rect">
            <a:avLst/>
          </a:prstGeom>
          <a:solidFill>
            <a:srgbClr val="F4F6F8"/>
          </a:solidFill>
          <a:ln w="6350">
            <a:solidFill>
              <a:srgbClr val="D9DEE4"/>
            </a:solidFill>
            <a:prstDash val="solid"/>
          </a:ln>
        </p:spPr>
      </p:sp>
      <p:sp>
        <p:nvSpPr>
          <p:cNvPr id="70" name="Text 68"/>
          <p:cNvSpPr/>
          <p:nvPr/>
        </p:nvSpPr>
        <p:spPr>
          <a:xfrm>
            <a:off x="4343400" y="37490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71" name="Shape 69"/>
          <p:cNvSpPr/>
          <p:nvPr/>
        </p:nvSpPr>
        <p:spPr>
          <a:xfrm>
            <a:off x="6035040" y="3749040"/>
            <a:ext cx="1691640" cy="457200"/>
          </a:xfrm>
          <a:prstGeom prst="rect">
            <a:avLst/>
          </a:prstGeom>
          <a:solidFill>
            <a:srgbClr val="F4F6F8"/>
          </a:solidFill>
          <a:ln w="6350">
            <a:solidFill>
              <a:srgbClr val="D9DEE4"/>
            </a:solidFill>
            <a:prstDash val="solid"/>
          </a:ln>
        </p:spPr>
      </p:sp>
      <p:sp>
        <p:nvSpPr>
          <p:cNvPr id="72" name="Text 70"/>
          <p:cNvSpPr/>
          <p:nvPr/>
        </p:nvSpPr>
        <p:spPr>
          <a:xfrm>
            <a:off x="6035040" y="37490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73" name="Shape 71"/>
          <p:cNvSpPr/>
          <p:nvPr/>
        </p:nvSpPr>
        <p:spPr>
          <a:xfrm>
            <a:off x="7726680" y="3749040"/>
            <a:ext cx="1691640" cy="457200"/>
          </a:xfrm>
          <a:prstGeom prst="rect">
            <a:avLst/>
          </a:prstGeom>
          <a:solidFill>
            <a:srgbClr val="F4F6F8"/>
          </a:solidFill>
          <a:ln w="6350">
            <a:solidFill>
              <a:srgbClr val="D9DEE4"/>
            </a:solidFill>
            <a:prstDash val="solid"/>
          </a:ln>
        </p:spPr>
      </p:sp>
      <p:sp>
        <p:nvSpPr>
          <p:cNvPr id="74" name="Text 72"/>
          <p:cNvSpPr/>
          <p:nvPr/>
        </p:nvSpPr>
        <p:spPr>
          <a:xfrm>
            <a:off x="7726680" y="37490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75" name="Shape 73"/>
          <p:cNvSpPr/>
          <p:nvPr/>
        </p:nvSpPr>
        <p:spPr>
          <a:xfrm>
            <a:off x="9418320" y="3749040"/>
            <a:ext cx="1691640" cy="457200"/>
          </a:xfrm>
          <a:prstGeom prst="rect">
            <a:avLst/>
          </a:prstGeom>
          <a:solidFill>
            <a:srgbClr val="F4F6F8"/>
          </a:solidFill>
          <a:ln w="6350">
            <a:solidFill>
              <a:srgbClr val="D9DEE4"/>
            </a:solidFill>
            <a:prstDash val="solid"/>
          </a:ln>
        </p:spPr>
      </p:sp>
      <p:sp>
        <p:nvSpPr>
          <p:cNvPr id="76" name="Text 74"/>
          <p:cNvSpPr/>
          <p:nvPr/>
        </p:nvSpPr>
        <p:spPr>
          <a:xfrm>
            <a:off x="9418320" y="37490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77" name="Shape 75"/>
          <p:cNvSpPr/>
          <p:nvPr/>
        </p:nvSpPr>
        <p:spPr>
          <a:xfrm>
            <a:off x="548640" y="4206240"/>
            <a:ext cx="2103120" cy="457200"/>
          </a:xfrm>
          <a:prstGeom prst="rect">
            <a:avLst/>
          </a:prstGeom>
          <a:solidFill>
            <a:srgbClr val="FFFFFF"/>
          </a:solidFill>
          <a:ln w="6350">
            <a:solidFill>
              <a:srgbClr val="D9DEE4"/>
            </a:solidFill>
            <a:prstDash val="solid"/>
          </a:ln>
        </p:spPr>
      </p:sp>
      <p:sp>
        <p:nvSpPr>
          <p:cNvPr id="78" name="Text 76"/>
          <p:cNvSpPr/>
          <p:nvPr/>
        </p:nvSpPr>
        <p:spPr>
          <a:xfrm>
            <a:off x="640080" y="4206240"/>
            <a:ext cx="1920240" cy="457200"/>
          </a:xfrm>
          <a:prstGeom prst="rect">
            <a:avLst/>
          </a:prstGeom>
          <a:noFill/>
          <a:ln/>
        </p:spPr>
        <p:txBody>
          <a:bodyPr wrap="square" rtlCol="0" anchor="ctr"/>
          <a:lstStyle/>
          <a:p>
            <a:pPr indent="0" marL="0">
              <a:buNone/>
            </a:pPr>
            <a:r>
              <a:rPr lang="en-US" sz="1050" dirty="0">
                <a:solidFill>
                  <a:srgbClr val="1F2937"/>
                </a:solidFill>
                <a:latin typeface="Calibri" pitchFamily="34" charset="0"/>
                <a:ea typeface="Calibri" pitchFamily="34" charset="-122"/>
                <a:cs typeface="Calibri" pitchFamily="34" charset="-120"/>
              </a:rPr>
              <a:t>Gérer souscriptions</a:t>
            </a:r>
            <a:endParaRPr lang="en-US" sz="1050" dirty="0"/>
          </a:p>
        </p:txBody>
      </p:sp>
      <p:sp>
        <p:nvSpPr>
          <p:cNvPr id="79" name="Shape 77"/>
          <p:cNvSpPr/>
          <p:nvPr/>
        </p:nvSpPr>
        <p:spPr>
          <a:xfrm>
            <a:off x="2651760" y="4206240"/>
            <a:ext cx="1691640" cy="457200"/>
          </a:xfrm>
          <a:prstGeom prst="rect">
            <a:avLst/>
          </a:prstGeom>
          <a:solidFill>
            <a:srgbClr val="FFFFFF"/>
          </a:solidFill>
          <a:ln w="6350">
            <a:solidFill>
              <a:srgbClr val="D9DEE4"/>
            </a:solidFill>
            <a:prstDash val="solid"/>
          </a:ln>
        </p:spPr>
      </p:sp>
      <p:sp>
        <p:nvSpPr>
          <p:cNvPr id="80" name="Text 78"/>
          <p:cNvSpPr/>
          <p:nvPr/>
        </p:nvSpPr>
        <p:spPr>
          <a:xfrm>
            <a:off x="2651760" y="42062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81" name="Shape 79"/>
          <p:cNvSpPr/>
          <p:nvPr/>
        </p:nvSpPr>
        <p:spPr>
          <a:xfrm>
            <a:off x="4343400" y="4206240"/>
            <a:ext cx="1691640" cy="457200"/>
          </a:xfrm>
          <a:prstGeom prst="rect">
            <a:avLst/>
          </a:prstGeom>
          <a:solidFill>
            <a:srgbClr val="FFFFFF"/>
          </a:solidFill>
          <a:ln w="6350">
            <a:solidFill>
              <a:srgbClr val="D9DEE4"/>
            </a:solidFill>
            <a:prstDash val="solid"/>
          </a:ln>
        </p:spPr>
      </p:sp>
      <p:sp>
        <p:nvSpPr>
          <p:cNvPr id="82" name="Text 80"/>
          <p:cNvSpPr/>
          <p:nvPr/>
        </p:nvSpPr>
        <p:spPr>
          <a:xfrm>
            <a:off x="4343400" y="4206240"/>
            <a:ext cx="1691640" cy="457200"/>
          </a:xfrm>
          <a:prstGeom prst="rect">
            <a:avLst/>
          </a:prstGeom>
          <a:noFill/>
          <a:ln/>
        </p:spPr>
        <p:txBody>
          <a:bodyPr wrap="square" rtlCol="0" anchor="ctr"/>
          <a:lstStyle/>
          <a:p>
            <a:pPr algn="ctr" indent="0" marL="0">
              <a:buNone/>
            </a:pPr>
            <a:r>
              <a:rPr lang="en-US" sz="1300" b="1" dirty="0">
                <a:solidFill>
                  <a:srgbClr val="1AA260"/>
                </a:solidFill>
                <a:latin typeface="Calibri" pitchFamily="34" charset="0"/>
                <a:ea typeface="Calibri" pitchFamily="34" charset="-122"/>
                <a:cs typeface="Calibri" pitchFamily="34" charset="-120"/>
              </a:rPr>
              <a:t>✓</a:t>
            </a:r>
            <a:endParaRPr lang="en-US" sz="1300" dirty="0"/>
          </a:p>
        </p:txBody>
      </p:sp>
      <p:sp>
        <p:nvSpPr>
          <p:cNvPr id="83" name="Shape 81"/>
          <p:cNvSpPr/>
          <p:nvPr/>
        </p:nvSpPr>
        <p:spPr>
          <a:xfrm>
            <a:off x="6035040" y="4206240"/>
            <a:ext cx="1691640" cy="457200"/>
          </a:xfrm>
          <a:prstGeom prst="rect">
            <a:avLst/>
          </a:prstGeom>
          <a:solidFill>
            <a:srgbClr val="FFFFFF"/>
          </a:solidFill>
          <a:ln w="6350">
            <a:solidFill>
              <a:srgbClr val="D9DEE4"/>
            </a:solidFill>
            <a:prstDash val="solid"/>
          </a:ln>
        </p:spPr>
      </p:sp>
      <p:sp>
        <p:nvSpPr>
          <p:cNvPr id="84" name="Text 82"/>
          <p:cNvSpPr/>
          <p:nvPr/>
        </p:nvSpPr>
        <p:spPr>
          <a:xfrm>
            <a:off x="6035040" y="42062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85" name="Shape 83"/>
          <p:cNvSpPr/>
          <p:nvPr/>
        </p:nvSpPr>
        <p:spPr>
          <a:xfrm>
            <a:off x="7726680" y="4206240"/>
            <a:ext cx="1691640" cy="457200"/>
          </a:xfrm>
          <a:prstGeom prst="rect">
            <a:avLst/>
          </a:prstGeom>
          <a:solidFill>
            <a:srgbClr val="FFFFFF"/>
          </a:solidFill>
          <a:ln w="6350">
            <a:solidFill>
              <a:srgbClr val="D9DEE4"/>
            </a:solidFill>
            <a:prstDash val="solid"/>
          </a:ln>
        </p:spPr>
      </p:sp>
      <p:sp>
        <p:nvSpPr>
          <p:cNvPr id="86" name="Text 84"/>
          <p:cNvSpPr/>
          <p:nvPr/>
        </p:nvSpPr>
        <p:spPr>
          <a:xfrm>
            <a:off x="7726680" y="42062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87" name="Shape 85"/>
          <p:cNvSpPr/>
          <p:nvPr/>
        </p:nvSpPr>
        <p:spPr>
          <a:xfrm>
            <a:off x="9418320" y="4206240"/>
            <a:ext cx="1691640" cy="457200"/>
          </a:xfrm>
          <a:prstGeom prst="rect">
            <a:avLst/>
          </a:prstGeom>
          <a:solidFill>
            <a:srgbClr val="FFFFFF"/>
          </a:solidFill>
          <a:ln w="6350">
            <a:solidFill>
              <a:srgbClr val="D9DEE4"/>
            </a:solidFill>
            <a:prstDash val="solid"/>
          </a:ln>
        </p:spPr>
      </p:sp>
      <p:sp>
        <p:nvSpPr>
          <p:cNvPr id="88" name="Text 86"/>
          <p:cNvSpPr/>
          <p:nvPr/>
        </p:nvSpPr>
        <p:spPr>
          <a:xfrm>
            <a:off x="9418320" y="4206240"/>
            <a:ext cx="1691640" cy="457200"/>
          </a:xfrm>
          <a:prstGeom prst="rect">
            <a:avLst/>
          </a:prstGeom>
          <a:noFill/>
          <a:ln/>
        </p:spPr>
        <p:txBody>
          <a:bodyPr wrap="square" rtlCol="0" anchor="ctr"/>
          <a:lstStyle/>
          <a:p>
            <a:pPr algn="ctr" indent="0" marL="0">
              <a:buNone/>
            </a:pPr>
            <a:r>
              <a:rPr lang="en-US" sz="1300" b="1" dirty="0">
                <a:solidFill>
                  <a:srgbClr val="C4C9D1"/>
                </a:solidFill>
                <a:latin typeface="Calibri" pitchFamily="34" charset="0"/>
                <a:ea typeface="Calibri" pitchFamily="34" charset="-122"/>
                <a:cs typeface="Calibri" pitchFamily="34" charset="-120"/>
              </a:rPr>
              <a:t>—</a:t>
            </a:r>
            <a:endParaRPr lang="en-US" sz="1300" dirty="0"/>
          </a:p>
        </p:txBody>
      </p:sp>
      <p:sp>
        <p:nvSpPr>
          <p:cNvPr id="89" name="Text 87"/>
          <p:cNvSpPr/>
          <p:nvPr/>
        </p:nvSpPr>
        <p:spPr>
          <a:xfrm>
            <a:off x="548640" y="4892040"/>
            <a:ext cx="11064240" cy="548640"/>
          </a:xfrm>
          <a:prstGeom prst="rect">
            <a:avLst/>
          </a:prstGeom>
          <a:noFill/>
          <a:ln/>
        </p:spPr>
        <p:txBody>
          <a:bodyPr wrap="square" rtlCol="0" anchor="ctr"/>
          <a:lstStyle/>
          <a:p>
            <a:pPr indent="0" marL="0">
              <a:buNone/>
            </a:pPr>
            <a:r>
              <a:rPr lang="en-US" sz="1050" i="1" dirty="0">
                <a:solidFill>
                  <a:srgbClr val="667085"/>
                </a:solidFill>
                <a:latin typeface="Calibri" pitchFamily="34" charset="0"/>
                <a:ea typeface="Calibri" pitchFamily="34" charset="-122"/>
                <a:cs typeface="Calibri" pitchFamily="34" charset="-120"/>
              </a:rPr>
              <a:t>Chaque rôle possède ses propres menus et actions dans l'interface — mais la vérification qui compte est celle du serveur : les permissions sont recontrôlées à chaque requête API (classes de permission DRF), jamais déléguées au frontend seul.</a:t>
            </a:r>
            <a:endParaRPr lang="en-US" sz="1050" dirty="0"/>
          </a:p>
        </p:txBody>
      </p:sp>
      <p:sp>
        <p:nvSpPr>
          <p:cNvPr id="90" name="Text 88"/>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Sécurité — RBAC</a:t>
            </a:r>
            <a:endParaRPr lang="en-US" sz="900" dirty="0"/>
          </a:p>
        </p:txBody>
      </p:sp>
      <p:sp>
        <p:nvSpPr>
          <p:cNvPr id="91" name="Text 89"/>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92" name="Text 90"/>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DÉMONSTRATION — BACK-OFFICE</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Gestion des utilisateurs et des rôles</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29768" y="1344168"/>
            <a:ext cx="5586984" cy="3631685"/>
          </a:xfrm>
          <a:prstGeom prst="roundRect">
            <a:avLst>
              <a:gd name="adj" fmla="val 1511"/>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7" name="Image 0" descr="/home/claude/onportal_deck/assets/admin_users_frame.png">    </p:cNvPr>
          <p:cNvPicPr>
            <a:picLocks noChangeAspect="1"/>
          </p:cNvPicPr>
          <p:nvPr/>
        </p:nvPicPr>
        <p:blipFill>
          <a:blip r:embed="rId1"/>
          <a:stretch>
            <a:fillRect/>
          </a:stretch>
        </p:blipFill>
        <p:spPr>
          <a:xfrm>
            <a:off x="502920" y="1417320"/>
            <a:ext cx="5440680" cy="3485381"/>
          </a:xfrm>
          <a:prstGeom prst="rect">
            <a:avLst/>
          </a:prstGeom>
        </p:spPr>
      </p:pic>
      <p:sp>
        <p:nvSpPr>
          <p:cNvPr id="8" name="Text 5"/>
          <p:cNvSpPr/>
          <p:nvPr/>
        </p:nvSpPr>
        <p:spPr>
          <a:xfrm>
            <a:off x="502920" y="4994141"/>
            <a:ext cx="544068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Utilisateurs — changement de rôle par ligne</a:t>
            </a:r>
            <a:endParaRPr lang="en-US" sz="950" dirty="0"/>
          </a:p>
        </p:txBody>
      </p:sp>
      <p:sp>
        <p:nvSpPr>
          <p:cNvPr id="9" name="Shape 6"/>
          <p:cNvSpPr/>
          <p:nvPr/>
        </p:nvSpPr>
        <p:spPr>
          <a:xfrm>
            <a:off x="6190488" y="1344168"/>
            <a:ext cx="5586984" cy="3631685"/>
          </a:xfrm>
          <a:prstGeom prst="roundRect">
            <a:avLst>
              <a:gd name="adj" fmla="val 1511"/>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10" name="Image 1" descr="/home/claude/onportal_deck/assets/admin_roles_frame.png">    </p:cNvPr>
          <p:cNvPicPr>
            <a:picLocks noChangeAspect="1"/>
          </p:cNvPicPr>
          <p:nvPr/>
        </p:nvPicPr>
        <p:blipFill>
          <a:blip r:embed="rId2"/>
          <a:stretch>
            <a:fillRect/>
          </a:stretch>
        </p:blipFill>
        <p:spPr>
          <a:xfrm>
            <a:off x="6263640" y="1417320"/>
            <a:ext cx="5440680" cy="3485381"/>
          </a:xfrm>
          <a:prstGeom prst="rect">
            <a:avLst/>
          </a:prstGeom>
        </p:spPr>
      </p:pic>
      <p:sp>
        <p:nvSpPr>
          <p:cNvPr id="11" name="Text 7"/>
          <p:cNvSpPr/>
          <p:nvPr/>
        </p:nvSpPr>
        <p:spPr>
          <a:xfrm>
            <a:off x="6263640" y="4994141"/>
            <a:ext cx="544068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Rôles et permissions — vue de consultation</a:t>
            </a:r>
            <a:endParaRPr lang="en-US" sz="950" dirty="0"/>
          </a:p>
        </p:txBody>
      </p:sp>
      <p:sp>
        <p:nvSpPr>
          <p:cNvPr id="12" name="Text 8"/>
          <p:cNvSpPr/>
          <p:nvPr/>
        </p:nvSpPr>
        <p:spPr>
          <a:xfrm>
            <a:off x="548640" y="4709160"/>
            <a:ext cx="5486400" cy="274320"/>
          </a:xfrm>
          <a:prstGeom prst="rect">
            <a:avLst/>
          </a:prstGeom>
          <a:noFill/>
          <a:ln/>
        </p:spPr>
        <p:txBody>
          <a:bodyPr wrap="square" rtlCol="0" anchor="ctr"/>
          <a:lstStyle/>
          <a:p>
            <a:pPr indent="0" marL="0">
              <a:buNone/>
            </a:pPr>
            <a:r>
              <a:rPr lang="en-US" sz="1050" b="1" spc="120" kern="0" dirty="0">
                <a:solidFill>
                  <a:srgbClr val="0B57A4"/>
                </a:solidFill>
                <a:latin typeface="Calibri" pitchFamily="34" charset="0"/>
                <a:ea typeface="Calibri" pitchFamily="34" charset="-122"/>
                <a:cs typeface="Calibri" pitchFamily="34" charset="-120"/>
              </a:rPr>
              <a:t>PARCOURS RÉEL</a:t>
            </a:r>
            <a:endParaRPr lang="en-US" sz="1050" dirty="0"/>
          </a:p>
        </p:txBody>
      </p:sp>
      <p:sp>
        <p:nvSpPr>
          <p:cNvPr id="13" name="Shape 9"/>
          <p:cNvSpPr/>
          <p:nvPr/>
        </p:nvSpPr>
        <p:spPr>
          <a:xfrm>
            <a:off x="548640" y="5029200"/>
            <a:ext cx="2148840" cy="457200"/>
          </a:xfrm>
          <a:prstGeom prst="roundRect">
            <a:avLst>
              <a:gd name="adj" fmla="val 12000"/>
            </a:avLst>
          </a:prstGeom>
          <a:solidFill>
            <a:srgbClr val="0A2C54"/>
          </a:solidFill>
          <a:ln/>
        </p:spPr>
      </p:sp>
      <p:sp>
        <p:nvSpPr>
          <p:cNvPr id="14" name="Text 10"/>
          <p:cNvSpPr/>
          <p:nvPr/>
        </p:nvSpPr>
        <p:spPr>
          <a:xfrm>
            <a:off x="548640" y="5029200"/>
            <a:ext cx="2148840" cy="45720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Super Admin</a:t>
            </a:r>
            <a:endParaRPr lang="en-US" sz="950" dirty="0"/>
          </a:p>
        </p:txBody>
      </p:sp>
      <p:sp>
        <p:nvSpPr>
          <p:cNvPr id="15" name="Text 11"/>
          <p:cNvSpPr/>
          <p:nvPr/>
        </p:nvSpPr>
        <p:spPr>
          <a:xfrm>
            <a:off x="2752344" y="5120640"/>
            <a:ext cx="182880" cy="274320"/>
          </a:xfrm>
          <a:prstGeom prst="rect">
            <a:avLst/>
          </a:prstGeom>
          <a:noFill/>
          <a:ln/>
        </p:spPr>
        <p:txBody>
          <a:bodyPr wrap="square" rtlCol="0" anchor="ctr"/>
          <a:lstStyle/>
          <a:p>
            <a:pPr indent="0" marL="0">
              <a:buNone/>
            </a:pPr>
            <a:r>
              <a:rPr lang="en-US" sz="1100" b="1" dirty="0">
                <a:solidFill>
                  <a:srgbClr val="0B57A4"/>
                </a:solidFill>
              </a:rPr>
              <a:t>➜</a:t>
            </a:r>
            <a:endParaRPr lang="en-US" sz="1100" dirty="0"/>
          </a:p>
        </p:txBody>
      </p:sp>
      <p:sp>
        <p:nvSpPr>
          <p:cNvPr id="16" name="Shape 12"/>
          <p:cNvSpPr/>
          <p:nvPr/>
        </p:nvSpPr>
        <p:spPr>
          <a:xfrm>
            <a:off x="2935224" y="5029200"/>
            <a:ext cx="2148840" cy="457200"/>
          </a:xfrm>
          <a:prstGeom prst="roundRect">
            <a:avLst>
              <a:gd name="adj" fmla="val 12000"/>
            </a:avLst>
          </a:prstGeom>
          <a:solidFill>
            <a:srgbClr val="EAF3FC"/>
          </a:solidFill>
          <a:ln/>
        </p:spPr>
      </p:sp>
      <p:sp>
        <p:nvSpPr>
          <p:cNvPr id="17" name="Text 13"/>
          <p:cNvSpPr/>
          <p:nvPr/>
        </p:nvSpPr>
        <p:spPr>
          <a:xfrm>
            <a:off x="2935224" y="5029200"/>
            <a:ext cx="2148840" cy="457200"/>
          </a:xfrm>
          <a:prstGeom prst="rect">
            <a:avLst/>
          </a:prstGeom>
          <a:noFill/>
          <a:ln/>
        </p:spPr>
        <p:txBody>
          <a:bodyPr wrap="square" rtlCol="0" anchor="ctr"/>
          <a:lstStyle/>
          <a:p>
            <a:pPr algn="ctr" indent="0" marL="0">
              <a:buNone/>
            </a:pPr>
            <a:r>
              <a:rPr lang="en-US" sz="950" b="1" dirty="0">
                <a:solidFill>
                  <a:srgbClr val="0A2C54"/>
                </a:solidFill>
                <a:latin typeface="Calibri" pitchFamily="34" charset="0"/>
                <a:ea typeface="Calibri" pitchFamily="34" charset="-122"/>
                <a:cs typeface="Calibri" pitchFamily="34" charset="-120"/>
              </a:rPr>
              <a:t>Utilisateurs</a:t>
            </a:r>
            <a:endParaRPr lang="en-US" sz="950" dirty="0"/>
          </a:p>
        </p:txBody>
      </p:sp>
      <p:sp>
        <p:nvSpPr>
          <p:cNvPr id="18" name="Text 14"/>
          <p:cNvSpPr/>
          <p:nvPr/>
        </p:nvSpPr>
        <p:spPr>
          <a:xfrm>
            <a:off x="5138928" y="5120640"/>
            <a:ext cx="182880" cy="274320"/>
          </a:xfrm>
          <a:prstGeom prst="rect">
            <a:avLst/>
          </a:prstGeom>
          <a:noFill/>
          <a:ln/>
        </p:spPr>
        <p:txBody>
          <a:bodyPr wrap="square" rtlCol="0" anchor="ctr"/>
          <a:lstStyle/>
          <a:p>
            <a:pPr indent="0" marL="0">
              <a:buNone/>
            </a:pPr>
            <a:r>
              <a:rPr lang="en-US" sz="1100" b="1" dirty="0">
                <a:solidFill>
                  <a:srgbClr val="0B57A4"/>
                </a:solidFill>
              </a:rPr>
              <a:t>➜</a:t>
            </a:r>
            <a:endParaRPr lang="en-US" sz="1100" dirty="0"/>
          </a:p>
        </p:txBody>
      </p:sp>
      <p:sp>
        <p:nvSpPr>
          <p:cNvPr id="19" name="Shape 15"/>
          <p:cNvSpPr/>
          <p:nvPr/>
        </p:nvSpPr>
        <p:spPr>
          <a:xfrm>
            <a:off x="5321808" y="5029200"/>
            <a:ext cx="2148840" cy="457200"/>
          </a:xfrm>
          <a:prstGeom prst="roundRect">
            <a:avLst>
              <a:gd name="adj" fmla="val 12000"/>
            </a:avLst>
          </a:prstGeom>
          <a:solidFill>
            <a:srgbClr val="EAF3FC"/>
          </a:solidFill>
          <a:ln/>
        </p:spPr>
      </p:sp>
      <p:sp>
        <p:nvSpPr>
          <p:cNvPr id="20" name="Text 16"/>
          <p:cNvSpPr/>
          <p:nvPr/>
        </p:nvSpPr>
        <p:spPr>
          <a:xfrm>
            <a:off x="5321808" y="5029200"/>
            <a:ext cx="2148840" cy="457200"/>
          </a:xfrm>
          <a:prstGeom prst="rect">
            <a:avLst/>
          </a:prstGeom>
          <a:noFill/>
          <a:ln/>
        </p:spPr>
        <p:txBody>
          <a:bodyPr wrap="square" rtlCol="0" anchor="ctr"/>
          <a:lstStyle/>
          <a:p>
            <a:pPr algn="ctr" indent="0" marL="0">
              <a:buNone/>
            </a:pPr>
            <a:r>
              <a:rPr lang="en-US" sz="950" b="1" dirty="0">
                <a:solidFill>
                  <a:srgbClr val="0A2C54"/>
                </a:solidFill>
                <a:latin typeface="Calibri" pitchFamily="34" charset="0"/>
                <a:ea typeface="Calibri" pitchFamily="34" charset="-122"/>
                <a:cs typeface="Calibri" pitchFamily="34" charset="-120"/>
              </a:rPr>
              <a:t>Sélectionner un utilisateur</a:t>
            </a:r>
            <a:endParaRPr lang="en-US" sz="950" dirty="0"/>
          </a:p>
        </p:txBody>
      </p:sp>
      <p:sp>
        <p:nvSpPr>
          <p:cNvPr id="21" name="Text 17"/>
          <p:cNvSpPr/>
          <p:nvPr/>
        </p:nvSpPr>
        <p:spPr>
          <a:xfrm>
            <a:off x="7525512" y="5120640"/>
            <a:ext cx="182880" cy="274320"/>
          </a:xfrm>
          <a:prstGeom prst="rect">
            <a:avLst/>
          </a:prstGeom>
          <a:noFill/>
          <a:ln/>
        </p:spPr>
        <p:txBody>
          <a:bodyPr wrap="square" rtlCol="0" anchor="ctr"/>
          <a:lstStyle/>
          <a:p>
            <a:pPr indent="0" marL="0">
              <a:buNone/>
            </a:pPr>
            <a:r>
              <a:rPr lang="en-US" sz="1100" b="1" dirty="0">
                <a:solidFill>
                  <a:srgbClr val="0B57A4"/>
                </a:solidFill>
              </a:rPr>
              <a:t>➜</a:t>
            </a:r>
            <a:endParaRPr lang="en-US" sz="1100" dirty="0"/>
          </a:p>
        </p:txBody>
      </p:sp>
      <p:sp>
        <p:nvSpPr>
          <p:cNvPr id="22" name="Shape 18"/>
          <p:cNvSpPr/>
          <p:nvPr/>
        </p:nvSpPr>
        <p:spPr>
          <a:xfrm>
            <a:off x="7708392" y="5029200"/>
            <a:ext cx="2148840" cy="457200"/>
          </a:xfrm>
          <a:prstGeom prst="roundRect">
            <a:avLst>
              <a:gd name="adj" fmla="val 12000"/>
            </a:avLst>
          </a:prstGeom>
          <a:solidFill>
            <a:srgbClr val="EAF3FC"/>
          </a:solidFill>
          <a:ln/>
        </p:spPr>
      </p:sp>
      <p:sp>
        <p:nvSpPr>
          <p:cNvPr id="23" name="Text 19"/>
          <p:cNvSpPr/>
          <p:nvPr/>
        </p:nvSpPr>
        <p:spPr>
          <a:xfrm>
            <a:off x="7708392" y="5029200"/>
            <a:ext cx="2148840" cy="457200"/>
          </a:xfrm>
          <a:prstGeom prst="rect">
            <a:avLst/>
          </a:prstGeom>
          <a:noFill/>
          <a:ln/>
        </p:spPr>
        <p:txBody>
          <a:bodyPr wrap="square" rtlCol="0" anchor="ctr"/>
          <a:lstStyle/>
          <a:p>
            <a:pPr algn="ctr" indent="0" marL="0">
              <a:buNone/>
            </a:pPr>
            <a:r>
              <a:rPr lang="en-US" sz="950" b="1" dirty="0">
                <a:solidFill>
                  <a:srgbClr val="0A2C54"/>
                </a:solidFill>
                <a:latin typeface="Calibri" pitchFamily="34" charset="0"/>
                <a:ea typeface="Calibri" pitchFamily="34" charset="-122"/>
                <a:cs typeface="Calibri" pitchFamily="34" charset="-120"/>
              </a:rPr>
              <a:t>Changer le rôle (liste)</a:t>
            </a:r>
            <a:endParaRPr lang="en-US" sz="950" dirty="0"/>
          </a:p>
        </p:txBody>
      </p:sp>
      <p:sp>
        <p:nvSpPr>
          <p:cNvPr id="24" name="Text 20"/>
          <p:cNvSpPr/>
          <p:nvPr/>
        </p:nvSpPr>
        <p:spPr>
          <a:xfrm>
            <a:off x="9912096" y="5120640"/>
            <a:ext cx="182880" cy="274320"/>
          </a:xfrm>
          <a:prstGeom prst="rect">
            <a:avLst/>
          </a:prstGeom>
          <a:noFill/>
          <a:ln/>
        </p:spPr>
        <p:txBody>
          <a:bodyPr wrap="square" rtlCol="0" anchor="ctr"/>
          <a:lstStyle/>
          <a:p>
            <a:pPr indent="0" marL="0">
              <a:buNone/>
            </a:pPr>
            <a:r>
              <a:rPr lang="en-US" sz="1100" b="1" dirty="0">
                <a:solidFill>
                  <a:srgbClr val="0B57A4"/>
                </a:solidFill>
              </a:rPr>
              <a:t>➜</a:t>
            </a:r>
            <a:endParaRPr lang="en-US" sz="1100" dirty="0"/>
          </a:p>
        </p:txBody>
      </p:sp>
      <p:sp>
        <p:nvSpPr>
          <p:cNvPr id="25" name="Shape 21"/>
          <p:cNvSpPr/>
          <p:nvPr/>
        </p:nvSpPr>
        <p:spPr>
          <a:xfrm>
            <a:off x="10094976" y="5029200"/>
            <a:ext cx="2148840" cy="457200"/>
          </a:xfrm>
          <a:prstGeom prst="roundRect">
            <a:avLst>
              <a:gd name="adj" fmla="val 12000"/>
            </a:avLst>
          </a:prstGeom>
          <a:solidFill>
            <a:srgbClr val="EAF3FC"/>
          </a:solidFill>
          <a:ln/>
        </p:spPr>
      </p:sp>
      <p:sp>
        <p:nvSpPr>
          <p:cNvPr id="26" name="Text 22"/>
          <p:cNvSpPr/>
          <p:nvPr/>
        </p:nvSpPr>
        <p:spPr>
          <a:xfrm>
            <a:off x="10094976" y="5029200"/>
            <a:ext cx="2148840" cy="457200"/>
          </a:xfrm>
          <a:prstGeom prst="rect">
            <a:avLst/>
          </a:prstGeom>
          <a:noFill/>
          <a:ln/>
        </p:spPr>
        <p:txBody>
          <a:bodyPr wrap="square" rtlCol="0" anchor="ctr"/>
          <a:lstStyle/>
          <a:p>
            <a:pPr algn="ctr" indent="0" marL="0">
              <a:buNone/>
            </a:pPr>
            <a:r>
              <a:rPr lang="en-US" sz="950" b="1" dirty="0">
                <a:solidFill>
                  <a:srgbClr val="0A2C54"/>
                </a:solidFill>
                <a:latin typeface="Calibri" pitchFamily="34" charset="0"/>
                <a:ea typeface="Calibri" pitchFamily="34" charset="-122"/>
                <a:cs typeface="Calibri" pitchFamily="34" charset="-120"/>
              </a:rPr>
              <a:t>MAJ backend + journalisation</a:t>
            </a:r>
            <a:endParaRPr lang="en-US" sz="950" dirty="0"/>
          </a:p>
        </p:txBody>
      </p:sp>
      <p:sp>
        <p:nvSpPr>
          <p:cNvPr id="27" name="Text 23"/>
          <p:cNvSpPr/>
          <p:nvPr/>
        </p:nvSpPr>
        <p:spPr>
          <a:xfrm>
            <a:off x="548640" y="5715000"/>
            <a:ext cx="11064240" cy="685800"/>
          </a:xfrm>
          <a:prstGeom prst="rect">
            <a:avLst/>
          </a:prstGeom>
          <a:noFill/>
          <a:ln/>
        </p:spPr>
        <p:txBody>
          <a:bodyPr wrap="square"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Page « Rôles » : lecture seule. Elle liste les rôles et leur nombre de comptes, mais n'autorise pas la modification des permissions depuis l'interface — « les permissions des rôles sont centralisées dans le code source ». Seul le rôle attribué à un utilisateur se change, via la page Utilisateurs.</a:t>
            </a:r>
            <a:endParaRPr lang="en-US" sz="1050" dirty="0"/>
          </a:p>
        </p:txBody>
      </p:sp>
      <p:sp>
        <p:nvSpPr>
          <p:cNvPr id="28" name="Text 24"/>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Back-office — Rôles</a:t>
            </a:r>
            <a:endParaRPr lang="en-US" sz="900" dirty="0"/>
          </a:p>
        </p:txBody>
      </p:sp>
      <p:sp>
        <p:nvSpPr>
          <p:cNvPr id="29" name="Text 25"/>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30" name="Text 26"/>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NAVIGATION</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Switch Portail ↔ Back-office</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29768" y="1344168"/>
            <a:ext cx="7095744" cy="4598219"/>
          </a:xfrm>
          <a:prstGeom prst="roundRect">
            <a:avLst>
              <a:gd name="adj" fmla="val 1193"/>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7" name="Image 0" descr="/home/claude/onportal_deck/assets/admin_administration_frame.png">    </p:cNvPr>
          <p:cNvPicPr>
            <a:picLocks noChangeAspect="1"/>
          </p:cNvPicPr>
          <p:nvPr/>
        </p:nvPicPr>
        <p:blipFill>
          <a:blip r:embed="rId1"/>
          <a:stretch>
            <a:fillRect/>
          </a:stretch>
        </p:blipFill>
        <p:spPr>
          <a:xfrm>
            <a:off x="502920" y="1417320"/>
            <a:ext cx="6949440" cy="4451915"/>
          </a:xfrm>
          <a:prstGeom prst="rect">
            <a:avLst/>
          </a:prstGeom>
        </p:spPr>
      </p:pic>
      <p:sp>
        <p:nvSpPr>
          <p:cNvPr id="8" name="Text 5"/>
          <p:cNvSpPr/>
          <p:nvPr/>
        </p:nvSpPr>
        <p:spPr>
          <a:xfrm>
            <a:off x="502920" y="5960675"/>
            <a:ext cx="694944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Bouton « Portail » visible dans l'en-tête du back-office (coin supérieur droit)</a:t>
            </a:r>
            <a:endParaRPr lang="en-US" sz="950" dirty="0"/>
          </a:p>
        </p:txBody>
      </p:sp>
      <p:sp>
        <p:nvSpPr>
          <p:cNvPr id="9" name="Shape 6"/>
          <p:cNvSpPr/>
          <p:nvPr/>
        </p:nvSpPr>
        <p:spPr>
          <a:xfrm>
            <a:off x="7726680" y="1600200"/>
            <a:ext cx="256032" cy="256032"/>
          </a:xfrm>
          <a:prstGeom prst="ellipse">
            <a:avLst/>
          </a:prstGeom>
          <a:solidFill>
            <a:srgbClr val="0B57A4"/>
          </a:solidFill>
          <a:ln/>
        </p:spPr>
      </p:sp>
      <p:sp>
        <p:nvSpPr>
          <p:cNvPr id="10" name="Text 7"/>
          <p:cNvSpPr/>
          <p:nvPr/>
        </p:nvSpPr>
        <p:spPr>
          <a:xfrm>
            <a:off x="7726680" y="160020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092440" y="1581912"/>
            <a:ext cx="3566160" cy="7772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Le bouton « Portail » bascule vers le site public sans déconnexion</a:t>
            </a:r>
            <a:endParaRPr lang="en-US" sz="1150" dirty="0"/>
          </a:p>
        </p:txBody>
      </p:sp>
      <p:sp>
        <p:nvSpPr>
          <p:cNvPr id="12" name="Shape 9"/>
          <p:cNvSpPr/>
          <p:nvPr/>
        </p:nvSpPr>
        <p:spPr>
          <a:xfrm>
            <a:off x="7726680" y="2377440"/>
            <a:ext cx="256032" cy="256032"/>
          </a:xfrm>
          <a:prstGeom prst="ellipse">
            <a:avLst/>
          </a:prstGeom>
          <a:solidFill>
            <a:srgbClr val="0B57A4"/>
          </a:solidFill>
          <a:ln/>
        </p:spPr>
      </p:sp>
      <p:sp>
        <p:nvSpPr>
          <p:cNvPr id="13" name="Text 10"/>
          <p:cNvSpPr/>
          <p:nvPr/>
        </p:nvSpPr>
        <p:spPr>
          <a:xfrm>
            <a:off x="7726680" y="237744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8092440" y="2359152"/>
            <a:ext cx="3566160" cy="7772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Disponibilité conditionnée par le rôle : un CUSTOMER n'a jamais ce bouton côté back-office (il n'y a pas accès)</a:t>
            </a:r>
            <a:endParaRPr lang="en-US" sz="1150" dirty="0"/>
          </a:p>
        </p:txBody>
      </p:sp>
      <p:sp>
        <p:nvSpPr>
          <p:cNvPr id="15" name="Shape 12"/>
          <p:cNvSpPr/>
          <p:nvPr/>
        </p:nvSpPr>
        <p:spPr>
          <a:xfrm>
            <a:off x="7726680" y="3154680"/>
            <a:ext cx="256032" cy="256032"/>
          </a:xfrm>
          <a:prstGeom prst="ellipse">
            <a:avLst/>
          </a:prstGeom>
          <a:solidFill>
            <a:srgbClr val="0B57A4"/>
          </a:solidFill>
          <a:ln/>
        </p:spPr>
      </p:sp>
      <p:sp>
        <p:nvSpPr>
          <p:cNvPr id="16" name="Text 13"/>
          <p:cNvSpPr/>
          <p:nvPr/>
        </p:nvSpPr>
        <p:spPr>
          <a:xfrm>
            <a:off x="7726680" y="315468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8092440" y="3136392"/>
            <a:ext cx="3566160" cy="777240"/>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La session JWT reste active des deux côtés — un seul compte, deux expériences</a:t>
            </a:r>
            <a:endParaRPr lang="en-US" sz="1150" dirty="0"/>
          </a:p>
        </p:txBody>
      </p:sp>
      <p:sp>
        <p:nvSpPr>
          <p:cNvPr id="18" name="Text 15"/>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Navigation — Switch</a:t>
            </a:r>
            <a:endParaRPr lang="en-US" sz="900" dirty="0"/>
          </a:p>
        </p:txBody>
      </p:sp>
      <p:sp>
        <p:nvSpPr>
          <p:cNvPr id="19" name="Text 16"/>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0" name="Text 17"/>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Architecture technique globale</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3017520" y="1417320"/>
            <a:ext cx="6035040" cy="640080"/>
          </a:xfrm>
          <a:prstGeom prst="roundRect">
            <a:avLst>
              <a:gd name="adj" fmla="val 8571"/>
            </a:avLst>
          </a:prstGeom>
          <a:solidFill>
            <a:srgbClr val="F4F6F8"/>
          </a:solidFill>
          <a:ln/>
        </p:spPr>
      </p:sp>
      <p:sp>
        <p:nvSpPr>
          <p:cNvPr id="7" name="Text 5"/>
          <p:cNvSpPr/>
          <p:nvPr/>
        </p:nvSpPr>
        <p:spPr>
          <a:xfrm>
            <a:off x="3218688" y="1472184"/>
            <a:ext cx="5632704" cy="256032"/>
          </a:xfrm>
          <a:prstGeom prst="rect">
            <a:avLst/>
          </a:prstGeom>
          <a:noFill/>
          <a:ln/>
        </p:spPr>
        <p:txBody>
          <a:bodyPr wrap="square"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Utilisateur</a:t>
            </a:r>
            <a:endParaRPr lang="en-US" sz="1200" dirty="0"/>
          </a:p>
        </p:txBody>
      </p:sp>
      <p:sp>
        <p:nvSpPr>
          <p:cNvPr id="8" name="Text 6"/>
          <p:cNvSpPr/>
          <p:nvPr/>
        </p:nvSpPr>
        <p:spPr>
          <a:xfrm>
            <a:off x="3218688" y="1737360"/>
            <a:ext cx="5632704" cy="274320"/>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Navigateur web (desktop / mobile)</a:t>
            </a:r>
            <a:endParaRPr lang="en-US" sz="850" dirty="0"/>
          </a:p>
        </p:txBody>
      </p:sp>
      <p:sp>
        <p:nvSpPr>
          <p:cNvPr id="9" name="Text 7"/>
          <p:cNvSpPr/>
          <p:nvPr/>
        </p:nvSpPr>
        <p:spPr>
          <a:xfrm>
            <a:off x="5943600" y="2066544"/>
            <a:ext cx="182880" cy="182880"/>
          </a:xfrm>
          <a:prstGeom prst="rect">
            <a:avLst/>
          </a:prstGeom>
          <a:noFill/>
          <a:ln/>
        </p:spPr>
        <p:txBody>
          <a:bodyPr wrap="square" rtlCol="0" anchor="ctr"/>
          <a:lstStyle/>
          <a:p>
            <a:pPr algn="ctr" indent="0" marL="0">
              <a:buNone/>
            </a:pPr>
            <a:r>
              <a:rPr lang="en-US" sz="1000" dirty="0">
                <a:solidFill>
                  <a:srgbClr val="667085"/>
                </a:solidFill>
              </a:rPr>
              <a:t>▼</a:t>
            </a:r>
            <a:endParaRPr lang="en-US" sz="1000" dirty="0"/>
          </a:p>
        </p:txBody>
      </p:sp>
      <p:sp>
        <p:nvSpPr>
          <p:cNvPr id="10" name="Shape 8"/>
          <p:cNvSpPr/>
          <p:nvPr/>
        </p:nvSpPr>
        <p:spPr>
          <a:xfrm>
            <a:off x="3017520" y="2276856"/>
            <a:ext cx="6035040" cy="640080"/>
          </a:xfrm>
          <a:prstGeom prst="roundRect">
            <a:avLst>
              <a:gd name="adj" fmla="val 8571"/>
            </a:avLst>
          </a:prstGeom>
          <a:solidFill>
            <a:srgbClr val="EAF3FC"/>
          </a:solidFill>
          <a:ln/>
        </p:spPr>
      </p:sp>
      <p:sp>
        <p:nvSpPr>
          <p:cNvPr id="11" name="Text 9"/>
          <p:cNvSpPr/>
          <p:nvPr/>
        </p:nvSpPr>
        <p:spPr>
          <a:xfrm>
            <a:off x="3218688" y="2331720"/>
            <a:ext cx="5632704" cy="256032"/>
          </a:xfrm>
          <a:prstGeom prst="rect">
            <a:avLst/>
          </a:prstGeom>
          <a:noFill/>
          <a:ln/>
        </p:spPr>
        <p:txBody>
          <a:bodyPr wrap="square" rtlCol="0" anchor="ctr"/>
          <a:lstStyle/>
          <a:p>
            <a:pPr indent="0" marL="0">
              <a:buNone/>
            </a:pPr>
            <a:r>
              <a:rPr lang="en-US" sz="1200" b="1" dirty="0">
                <a:solidFill>
                  <a:srgbClr val="0A2C54"/>
                </a:solidFill>
                <a:latin typeface="Calibri" pitchFamily="34" charset="0"/>
                <a:ea typeface="Calibri" pitchFamily="34" charset="-122"/>
                <a:cs typeface="Calibri" pitchFamily="34" charset="-120"/>
              </a:rPr>
              <a:t>React 18 + TypeScript + Vite</a:t>
            </a:r>
            <a:endParaRPr lang="en-US" sz="1200" dirty="0"/>
          </a:p>
        </p:txBody>
      </p:sp>
      <p:sp>
        <p:nvSpPr>
          <p:cNvPr id="12" name="Text 10"/>
          <p:cNvSpPr/>
          <p:nvPr/>
        </p:nvSpPr>
        <p:spPr>
          <a:xfrm>
            <a:off x="3218688" y="2596896"/>
            <a:ext cx="5632704" cy="274320"/>
          </a:xfrm>
          <a:prstGeom prst="rect">
            <a:avLst/>
          </a:prstGeom>
          <a:noFill/>
          <a:ln/>
        </p:spPr>
        <p:txBody>
          <a:bodyPr wrap="square" rtlCol="0" anchor="ctr"/>
          <a:lstStyle/>
          <a:p>
            <a:pPr indent="0" marL="0">
              <a:buNone/>
            </a:pPr>
            <a:r>
              <a:rPr lang="en-US" sz="850" dirty="0">
                <a:solidFill>
                  <a:srgbClr val="0A2C54"/>
                </a:solidFill>
                <a:latin typeface="Calibri" pitchFamily="34" charset="0"/>
                <a:ea typeface="Calibri" pitchFamily="34" charset="-122"/>
                <a:cs typeface="Calibri" pitchFamily="34" charset="-120"/>
              </a:rPr>
              <a:t>React Router 7 · TanStack Query 5 · Axios · Tailwind · react-hook-form/Zod · i18next</a:t>
            </a:r>
            <a:endParaRPr lang="en-US" sz="850" dirty="0"/>
          </a:p>
        </p:txBody>
      </p:sp>
      <p:sp>
        <p:nvSpPr>
          <p:cNvPr id="13" name="Text 11"/>
          <p:cNvSpPr/>
          <p:nvPr/>
        </p:nvSpPr>
        <p:spPr>
          <a:xfrm>
            <a:off x="5943600" y="2926080"/>
            <a:ext cx="182880" cy="182880"/>
          </a:xfrm>
          <a:prstGeom prst="rect">
            <a:avLst/>
          </a:prstGeom>
          <a:noFill/>
          <a:ln/>
        </p:spPr>
        <p:txBody>
          <a:bodyPr wrap="square" rtlCol="0" anchor="ctr"/>
          <a:lstStyle/>
          <a:p>
            <a:pPr algn="ctr" indent="0" marL="0">
              <a:buNone/>
            </a:pPr>
            <a:r>
              <a:rPr lang="en-US" sz="1000" dirty="0">
                <a:solidFill>
                  <a:srgbClr val="667085"/>
                </a:solidFill>
              </a:rPr>
              <a:t>▼</a:t>
            </a:r>
            <a:endParaRPr lang="en-US" sz="1000" dirty="0"/>
          </a:p>
        </p:txBody>
      </p:sp>
      <p:sp>
        <p:nvSpPr>
          <p:cNvPr id="14" name="Shape 12"/>
          <p:cNvSpPr/>
          <p:nvPr/>
        </p:nvSpPr>
        <p:spPr>
          <a:xfrm>
            <a:off x="3017520" y="3136392"/>
            <a:ext cx="6035040" cy="640080"/>
          </a:xfrm>
          <a:prstGeom prst="roundRect">
            <a:avLst>
              <a:gd name="adj" fmla="val 8571"/>
            </a:avLst>
          </a:prstGeom>
          <a:solidFill>
            <a:srgbClr val="CFE6F7"/>
          </a:solidFill>
          <a:ln/>
        </p:spPr>
      </p:sp>
      <p:sp>
        <p:nvSpPr>
          <p:cNvPr id="15" name="Text 13"/>
          <p:cNvSpPr/>
          <p:nvPr/>
        </p:nvSpPr>
        <p:spPr>
          <a:xfrm>
            <a:off x="3218688" y="3191256"/>
            <a:ext cx="5632704" cy="256032"/>
          </a:xfrm>
          <a:prstGeom prst="rect">
            <a:avLst/>
          </a:prstGeom>
          <a:noFill/>
          <a:ln/>
        </p:spPr>
        <p:txBody>
          <a:bodyPr wrap="square" rtlCol="0" anchor="ctr"/>
          <a:lstStyle/>
          <a:p>
            <a:pPr indent="0" marL="0">
              <a:buNone/>
            </a:pPr>
            <a:r>
              <a:rPr lang="en-US" sz="1200" b="1" dirty="0">
                <a:solidFill>
                  <a:srgbClr val="0A2C54"/>
                </a:solidFill>
                <a:latin typeface="Calibri" pitchFamily="34" charset="0"/>
                <a:ea typeface="Calibri" pitchFamily="34" charset="-122"/>
                <a:cs typeface="Calibri" pitchFamily="34" charset="-120"/>
              </a:rPr>
              <a:t>Nginx</a:t>
            </a:r>
            <a:endParaRPr lang="en-US" sz="1200" dirty="0"/>
          </a:p>
        </p:txBody>
      </p:sp>
      <p:sp>
        <p:nvSpPr>
          <p:cNvPr id="16" name="Text 14"/>
          <p:cNvSpPr/>
          <p:nvPr/>
        </p:nvSpPr>
        <p:spPr>
          <a:xfrm>
            <a:off x="3218688" y="3456432"/>
            <a:ext cx="5632704" cy="274320"/>
          </a:xfrm>
          <a:prstGeom prst="rect">
            <a:avLst/>
          </a:prstGeom>
          <a:noFill/>
          <a:ln/>
        </p:spPr>
        <p:txBody>
          <a:bodyPr wrap="square" rtlCol="0" anchor="ctr"/>
          <a:lstStyle/>
          <a:p>
            <a:pPr indent="0" marL="0">
              <a:buNone/>
            </a:pPr>
            <a:r>
              <a:rPr lang="en-US" sz="850" dirty="0">
                <a:solidFill>
                  <a:srgbClr val="0A2C54"/>
                </a:solidFill>
                <a:latin typeface="Calibri" pitchFamily="34" charset="0"/>
                <a:ea typeface="Calibri" pitchFamily="34" charset="-122"/>
                <a:cs typeface="Calibri" pitchFamily="34" charset="-120"/>
              </a:rPr>
              <a:t>Reverse proxy — sert le build statique, route /api/* vers Django (Gunicorn)</a:t>
            </a:r>
            <a:endParaRPr lang="en-US" sz="850" dirty="0"/>
          </a:p>
        </p:txBody>
      </p:sp>
      <p:sp>
        <p:nvSpPr>
          <p:cNvPr id="17" name="Text 15"/>
          <p:cNvSpPr/>
          <p:nvPr/>
        </p:nvSpPr>
        <p:spPr>
          <a:xfrm>
            <a:off x="5943600" y="3785616"/>
            <a:ext cx="182880" cy="182880"/>
          </a:xfrm>
          <a:prstGeom prst="rect">
            <a:avLst/>
          </a:prstGeom>
          <a:noFill/>
          <a:ln/>
        </p:spPr>
        <p:txBody>
          <a:bodyPr wrap="square" rtlCol="0" anchor="ctr"/>
          <a:lstStyle/>
          <a:p>
            <a:pPr algn="ctr" indent="0" marL="0">
              <a:buNone/>
            </a:pPr>
            <a:r>
              <a:rPr lang="en-US" sz="1000" dirty="0">
                <a:solidFill>
                  <a:srgbClr val="667085"/>
                </a:solidFill>
              </a:rPr>
              <a:t>▼</a:t>
            </a:r>
            <a:endParaRPr lang="en-US" sz="1000" dirty="0"/>
          </a:p>
        </p:txBody>
      </p:sp>
      <p:sp>
        <p:nvSpPr>
          <p:cNvPr id="18" name="Shape 16"/>
          <p:cNvSpPr/>
          <p:nvPr/>
        </p:nvSpPr>
        <p:spPr>
          <a:xfrm>
            <a:off x="3017520" y="3995928"/>
            <a:ext cx="6035040" cy="640080"/>
          </a:xfrm>
          <a:prstGeom prst="roundRect">
            <a:avLst>
              <a:gd name="adj" fmla="val 8571"/>
            </a:avLst>
          </a:prstGeom>
          <a:solidFill>
            <a:srgbClr val="0B57A4"/>
          </a:solidFill>
          <a:ln/>
        </p:spPr>
      </p:sp>
      <p:sp>
        <p:nvSpPr>
          <p:cNvPr id="19" name="Text 17"/>
          <p:cNvSpPr/>
          <p:nvPr/>
        </p:nvSpPr>
        <p:spPr>
          <a:xfrm>
            <a:off x="3218688" y="4050792"/>
            <a:ext cx="5632704"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Django 6 + Django REST Framework</a:t>
            </a:r>
            <a:endParaRPr lang="en-US" sz="1200" dirty="0"/>
          </a:p>
        </p:txBody>
      </p:sp>
      <p:sp>
        <p:nvSpPr>
          <p:cNvPr id="20" name="Text 18"/>
          <p:cNvSpPr/>
          <p:nvPr/>
        </p:nvSpPr>
        <p:spPr>
          <a:xfrm>
            <a:off x="3218688" y="4315968"/>
            <a:ext cx="5632704" cy="27432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API REST /api/v1/, JWT (SimpleJWT), documentation OpenAPI (drf-spectacular)</a:t>
            </a:r>
            <a:endParaRPr lang="en-US" sz="850" dirty="0"/>
          </a:p>
        </p:txBody>
      </p:sp>
      <p:sp>
        <p:nvSpPr>
          <p:cNvPr id="21" name="Text 19"/>
          <p:cNvSpPr/>
          <p:nvPr/>
        </p:nvSpPr>
        <p:spPr>
          <a:xfrm>
            <a:off x="5943600" y="4645152"/>
            <a:ext cx="182880" cy="182880"/>
          </a:xfrm>
          <a:prstGeom prst="rect">
            <a:avLst/>
          </a:prstGeom>
          <a:noFill/>
          <a:ln/>
        </p:spPr>
        <p:txBody>
          <a:bodyPr wrap="square" rtlCol="0" anchor="ctr"/>
          <a:lstStyle/>
          <a:p>
            <a:pPr algn="ctr" indent="0" marL="0">
              <a:buNone/>
            </a:pPr>
            <a:r>
              <a:rPr lang="en-US" sz="1000" dirty="0">
                <a:solidFill>
                  <a:srgbClr val="667085"/>
                </a:solidFill>
              </a:rPr>
              <a:t>▼</a:t>
            </a:r>
            <a:endParaRPr lang="en-US" sz="1000" dirty="0"/>
          </a:p>
        </p:txBody>
      </p:sp>
      <p:sp>
        <p:nvSpPr>
          <p:cNvPr id="22" name="Shape 20"/>
          <p:cNvSpPr/>
          <p:nvPr/>
        </p:nvSpPr>
        <p:spPr>
          <a:xfrm>
            <a:off x="3017520" y="4855464"/>
            <a:ext cx="6035040" cy="640080"/>
          </a:xfrm>
          <a:prstGeom prst="roundRect">
            <a:avLst>
              <a:gd name="adj" fmla="val 8571"/>
            </a:avLst>
          </a:prstGeom>
          <a:solidFill>
            <a:srgbClr val="0A2C54"/>
          </a:solidFill>
          <a:ln/>
        </p:spPr>
      </p:sp>
      <p:sp>
        <p:nvSpPr>
          <p:cNvPr id="23" name="Text 21"/>
          <p:cNvSpPr/>
          <p:nvPr/>
        </p:nvSpPr>
        <p:spPr>
          <a:xfrm>
            <a:off x="3218688" y="4910328"/>
            <a:ext cx="5632704"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Base de données</a:t>
            </a:r>
            <a:endParaRPr lang="en-US" sz="1200" dirty="0"/>
          </a:p>
        </p:txBody>
      </p:sp>
      <p:sp>
        <p:nvSpPr>
          <p:cNvPr id="24" name="Text 22"/>
          <p:cNvSpPr/>
          <p:nvPr/>
        </p:nvSpPr>
        <p:spPr>
          <a:xfrm>
            <a:off x="3218688" y="5175504"/>
            <a:ext cx="5632704" cy="27432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SQLite (dev/CI) — PostgreSQL (prod, testé en CI)</a:t>
            </a:r>
            <a:endParaRPr lang="en-US" sz="850" dirty="0"/>
          </a:p>
        </p:txBody>
      </p:sp>
      <p:sp>
        <p:nvSpPr>
          <p:cNvPr id="25" name="Text 23"/>
          <p:cNvSpPr/>
          <p:nvPr/>
        </p:nvSpPr>
        <p:spPr>
          <a:xfrm>
            <a:off x="548640" y="1417320"/>
            <a:ext cx="2286000" cy="274320"/>
          </a:xfrm>
          <a:prstGeom prst="rect">
            <a:avLst/>
          </a:prstGeom>
          <a:noFill/>
          <a:ln/>
        </p:spPr>
        <p:txBody>
          <a:bodyPr wrap="square" rtlCol="0" anchor="ctr"/>
          <a:lstStyle/>
          <a:p>
            <a:pPr indent="0" marL="0">
              <a:buNone/>
            </a:pPr>
            <a:r>
              <a:rPr lang="en-US" sz="1200" b="1" dirty="0">
                <a:solidFill>
                  <a:srgbClr val="0A2C54"/>
                </a:solidFill>
                <a:latin typeface="Calibri" pitchFamily="34" charset="0"/>
                <a:ea typeface="Calibri" pitchFamily="34" charset="-122"/>
                <a:cs typeface="Calibri" pitchFamily="34" charset="-120"/>
              </a:rPr>
              <a:t>Docker Compose</a:t>
            </a:r>
            <a:endParaRPr lang="en-US" sz="1200" dirty="0"/>
          </a:p>
        </p:txBody>
      </p:sp>
      <p:sp>
        <p:nvSpPr>
          <p:cNvPr id="26" name="Text 24"/>
          <p:cNvSpPr/>
          <p:nvPr/>
        </p:nvSpPr>
        <p:spPr>
          <a:xfrm>
            <a:off x="548640" y="1737360"/>
            <a:ext cx="2331720" cy="2926080"/>
          </a:xfrm>
          <a:prstGeom prst="rect">
            <a:avLst/>
          </a:prstGeom>
          <a:noFill/>
          <a:ln/>
        </p:spPr>
        <p:txBody>
          <a:bodyPr wrap="square" rtlCol="0" anchor="t"/>
          <a:lstStyle/>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db (Postgres)</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backend (Django/Gunicorn)</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frontend (build statique)</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nginx (reverse proxy)</a:t>
            </a:r>
            <a:endParaRPr lang="en-US" sz="1050" dirty="0"/>
          </a:p>
        </p:txBody>
      </p:sp>
      <p:sp>
        <p:nvSpPr>
          <p:cNvPr id="27" name="Text 25"/>
          <p:cNvSpPr/>
          <p:nvPr/>
        </p:nvSpPr>
        <p:spPr>
          <a:xfrm>
            <a:off x="9326880" y="1417320"/>
            <a:ext cx="2286000" cy="274320"/>
          </a:xfrm>
          <a:prstGeom prst="rect">
            <a:avLst/>
          </a:prstGeom>
          <a:noFill/>
          <a:ln/>
        </p:spPr>
        <p:txBody>
          <a:bodyPr wrap="square" rtlCol="0" anchor="ctr"/>
          <a:lstStyle/>
          <a:p>
            <a:pPr indent="0" marL="0">
              <a:buNone/>
            </a:pPr>
            <a:r>
              <a:rPr lang="en-US" sz="1200" b="1" dirty="0">
                <a:solidFill>
                  <a:srgbClr val="0A2C54"/>
                </a:solidFill>
                <a:latin typeface="Calibri" pitchFamily="34" charset="0"/>
                <a:ea typeface="Calibri" pitchFamily="34" charset="-122"/>
                <a:cs typeface="Calibri" pitchFamily="34" charset="-120"/>
              </a:rPr>
              <a:t>CI/CD</a:t>
            </a:r>
            <a:endParaRPr lang="en-US" sz="1200" dirty="0"/>
          </a:p>
        </p:txBody>
      </p:sp>
      <p:sp>
        <p:nvSpPr>
          <p:cNvPr id="28" name="Text 26"/>
          <p:cNvSpPr/>
          <p:nvPr/>
        </p:nvSpPr>
        <p:spPr>
          <a:xfrm>
            <a:off x="9326880" y="1737360"/>
            <a:ext cx="2331720" cy="3291840"/>
          </a:xfrm>
          <a:prstGeom prst="rect">
            <a:avLst/>
          </a:prstGeom>
          <a:noFill/>
          <a:ln/>
        </p:spPr>
        <p:txBody>
          <a:bodyPr wrap="square" rtlCol="0" anchor="t"/>
          <a:lstStyle/>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Tests SQLite + PostgreSQL</a:t>
            </a:r>
            <a:endParaRPr lang="en-US" sz="1000" dirty="0"/>
          </a:p>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pip-audit / npm audit</a:t>
            </a:r>
            <a:endParaRPr lang="en-US" sz="1000" dirty="0"/>
          </a:p>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Validation catalogue</a:t>
            </a:r>
            <a:endParaRPr lang="en-US" sz="1000" dirty="0"/>
          </a:p>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Lint + migrations</a:t>
            </a:r>
            <a:endParaRPr lang="en-US" sz="1000" dirty="0"/>
          </a:p>
        </p:txBody>
      </p:sp>
      <p:sp>
        <p:nvSpPr>
          <p:cNvPr id="29" name="Text 27"/>
          <p:cNvSpPr/>
          <p:nvPr/>
        </p:nvSpPr>
        <p:spPr>
          <a:xfrm>
            <a:off x="548640" y="6126480"/>
            <a:ext cx="11064240" cy="457200"/>
          </a:xfrm>
          <a:prstGeom prst="rect">
            <a:avLst/>
          </a:prstGeom>
          <a:noFill/>
          <a:ln/>
        </p:spPr>
        <p:txBody>
          <a:bodyPr wrap="square"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Architecture reconstituée à partir de docker-compose.yml, config/settings/, et de l'exécution réelle du projet (backend + frontend démarrés pendant l'analyse).</a:t>
            </a:r>
            <a:endParaRPr lang="en-US" sz="1000" dirty="0"/>
          </a:p>
        </p:txBody>
      </p:sp>
      <p:sp>
        <p:nvSpPr>
          <p:cNvPr id="30" name="Text 28"/>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Architecture</a:t>
            </a:r>
            <a:endParaRPr lang="en-US" sz="900" dirty="0"/>
          </a:p>
        </p:txBody>
      </p:sp>
      <p:sp>
        <p:nvSpPr>
          <p:cNvPr id="31" name="Text 29"/>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32" name="Text 30"/>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Architecture backend</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Text 4"/>
          <p:cNvSpPr/>
          <p:nvPr/>
        </p:nvSpPr>
        <p:spPr>
          <a:xfrm>
            <a:off x="548640" y="1417320"/>
            <a:ext cx="5486400" cy="274320"/>
          </a:xfrm>
          <a:prstGeom prst="rect">
            <a:avLst/>
          </a:prstGeom>
          <a:noFill/>
          <a:ln/>
        </p:spPr>
        <p:txBody>
          <a:bodyPr wrap="square" rtlCol="0" anchor="ctr"/>
          <a:lstStyle/>
          <a:p>
            <a:pPr indent="0" marL="0">
              <a:buNone/>
            </a:pPr>
            <a:r>
              <a:rPr lang="en-US" sz="1050" b="1" spc="120" kern="0" dirty="0">
                <a:solidFill>
                  <a:srgbClr val="0B57A4"/>
                </a:solidFill>
                <a:latin typeface="Calibri" pitchFamily="34" charset="0"/>
                <a:ea typeface="Calibri" pitchFamily="34" charset="-122"/>
                <a:cs typeface="Calibri" pitchFamily="34" charset="-120"/>
              </a:rPr>
              <a:t>APPS DJANGO (PAR DOMAINE MÉTIER)</a:t>
            </a:r>
            <a:endParaRPr lang="en-US" sz="1050" dirty="0"/>
          </a:p>
        </p:txBody>
      </p:sp>
      <p:sp>
        <p:nvSpPr>
          <p:cNvPr id="7" name="Shape 5"/>
          <p:cNvSpPr/>
          <p:nvPr/>
        </p:nvSpPr>
        <p:spPr>
          <a:xfrm>
            <a:off x="548640" y="1783080"/>
            <a:ext cx="2084832" cy="384048"/>
          </a:xfrm>
          <a:prstGeom prst="roundRect">
            <a:avLst>
              <a:gd name="adj" fmla="val 50000"/>
            </a:avLst>
          </a:prstGeom>
          <a:solidFill>
            <a:srgbClr val="F4F6F8"/>
          </a:solidFill>
          <a:ln w="9525">
            <a:solidFill>
              <a:srgbClr val="D9DEE4"/>
            </a:solidFill>
            <a:prstDash val="solid"/>
          </a:ln>
        </p:spPr>
      </p:sp>
      <p:sp>
        <p:nvSpPr>
          <p:cNvPr id="8" name="Text 6"/>
          <p:cNvSpPr/>
          <p:nvPr/>
        </p:nvSpPr>
        <p:spPr>
          <a:xfrm>
            <a:off x="548640" y="1783080"/>
            <a:ext cx="2084832"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users</a:t>
            </a:r>
            <a:endParaRPr lang="en-US" sz="1000" dirty="0"/>
          </a:p>
        </p:txBody>
      </p:sp>
      <p:sp>
        <p:nvSpPr>
          <p:cNvPr id="9" name="Shape 7"/>
          <p:cNvSpPr/>
          <p:nvPr/>
        </p:nvSpPr>
        <p:spPr>
          <a:xfrm>
            <a:off x="2761488" y="1783080"/>
            <a:ext cx="2084832" cy="384048"/>
          </a:xfrm>
          <a:prstGeom prst="roundRect">
            <a:avLst>
              <a:gd name="adj" fmla="val 50000"/>
            </a:avLst>
          </a:prstGeom>
          <a:solidFill>
            <a:srgbClr val="F4F6F8"/>
          </a:solidFill>
          <a:ln w="9525">
            <a:solidFill>
              <a:srgbClr val="D9DEE4"/>
            </a:solidFill>
            <a:prstDash val="solid"/>
          </a:ln>
        </p:spPr>
      </p:sp>
      <p:sp>
        <p:nvSpPr>
          <p:cNvPr id="10" name="Text 8"/>
          <p:cNvSpPr/>
          <p:nvPr/>
        </p:nvSpPr>
        <p:spPr>
          <a:xfrm>
            <a:off x="2761488" y="1783080"/>
            <a:ext cx="2084832"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products</a:t>
            </a:r>
            <a:endParaRPr lang="en-US" sz="1000" dirty="0"/>
          </a:p>
        </p:txBody>
      </p:sp>
      <p:sp>
        <p:nvSpPr>
          <p:cNvPr id="11" name="Shape 9"/>
          <p:cNvSpPr/>
          <p:nvPr/>
        </p:nvSpPr>
        <p:spPr>
          <a:xfrm>
            <a:off x="4974336" y="1783080"/>
            <a:ext cx="2084832" cy="384048"/>
          </a:xfrm>
          <a:prstGeom prst="roundRect">
            <a:avLst>
              <a:gd name="adj" fmla="val 50000"/>
            </a:avLst>
          </a:prstGeom>
          <a:solidFill>
            <a:srgbClr val="F4F6F8"/>
          </a:solidFill>
          <a:ln w="9525">
            <a:solidFill>
              <a:srgbClr val="D9DEE4"/>
            </a:solidFill>
            <a:prstDash val="solid"/>
          </a:ln>
        </p:spPr>
      </p:sp>
      <p:sp>
        <p:nvSpPr>
          <p:cNvPr id="12" name="Text 10"/>
          <p:cNvSpPr/>
          <p:nvPr/>
        </p:nvSpPr>
        <p:spPr>
          <a:xfrm>
            <a:off x="4974336" y="1783080"/>
            <a:ext cx="2084832"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categories</a:t>
            </a:r>
            <a:endParaRPr lang="en-US" sz="1000" dirty="0"/>
          </a:p>
        </p:txBody>
      </p:sp>
      <p:sp>
        <p:nvSpPr>
          <p:cNvPr id="13" name="Shape 11"/>
          <p:cNvSpPr/>
          <p:nvPr/>
        </p:nvSpPr>
        <p:spPr>
          <a:xfrm>
            <a:off x="7187184" y="1783080"/>
            <a:ext cx="2084832" cy="384048"/>
          </a:xfrm>
          <a:prstGeom prst="roundRect">
            <a:avLst>
              <a:gd name="adj" fmla="val 50000"/>
            </a:avLst>
          </a:prstGeom>
          <a:solidFill>
            <a:srgbClr val="F4F6F8"/>
          </a:solidFill>
          <a:ln w="9525">
            <a:solidFill>
              <a:srgbClr val="D9DEE4"/>
            </a:solidFill>
            <a:prstDash val="solid"/>
          </a:ln>
        </p:spPr>
      </p:sp>
      <p:sp>
        <p:nvSpPr>
          <p:cNvPr id="14" name="Text 12"/>
          <p:cNvSpPr/>
          <p:nvPr/>
        </p:nvSpPr>
        <p:spPr>
          <a:xfrm>
            <a:off x="7187184" y="1783080"/>
            <a:ext cx="2084832"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subscriptions</a:t>
            </a:r>
            <a:endParaRPr lang="en-US" sz="1000" dirty="0"/>
          </a:p>
        </p:txBody>
      </p:sp>
      <p:sp>
        <p:nvSpPr>
          <p:cNvPr id="15" name="Shape 13"/>
          <p:cNvSpPr/>
          <p:nvPr/>
        </p:nvSpPr>
        <p:spPr>
          <a:xfrm>
            <a:off x="9400032" y="1783080"/>
            <a:ext cx="2084832" cy="384048"/>
          </a:xfrm>
          <a:prstGeom prst="roundRect">
            <a:avLst>
              <a:gd name="adj" fmla="val 50000"/>
            </a:avLst>
          </a:prstGeom>
          <a:solidFill>
            <a:srgbClr val="F4F6F8"/>
          </a:solidFill>
          <a:ln w="9525">
            <a:solidFill>
              <a:srgbClr val="D9DEE4"/>
            </a:solidFill>
            <a:prstDash val="solid"/>
          </a:ln>
        </p:spPr>
      </p:sp>
      <p:sp>
        <p:nvSpPr>
          <p:cNvPr id="16" name="Text 14"/>
          <p:cNvSpPr/>
          <p:nvPr/>
        </p:nvSpPr>
        <p:spPr>
          <a:xfrm>
            <a:off x="9400032" y="1783080"/>
            <a:ext cx="2084832"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core</a:t>
            </a:r>
            <a:endParaRPr lang="en-US" sz="1000" dirty="0"/>
          </a:p>
        </p:txBody>
      </p:sp>
      <p:sp>
        <p:nvSpPr>
          <p:cNvPr id="17" name="Shape 15"/>
          <p:cNvSpPr/>
          <p:nvPr/>
        </p:nvSpPr>
        <p:spPr>
          <a:xfrm>
            <a:off x="548640" y="2286000"/>
            <a:ext cx="2084832" cy="384048"/>
          </a:xfrm>
          <a:prstGeom prst="roundRect">
            <a:avLst>
              <a:gd name="adj" fmla="val 50000"/>
            </a:avLst>
          </a:prstGeom>
          <a:solidFill>
            <a:srgbClr val="F4F6F8"/>
          </a:solidFill>
          <a:ln w="9525">
            <a:solidFill>
              <a:srgbClr val="D9DEE4"/>
            </a:solidFill>
            <a:prstDash val="solid"/>
          </a:ln>
        </p:spPr>
      </p:sp>
      <p:sp>
        <p:nvSpPr>
          <p:cNvPr id="18" name="Text 16"/>
          <p:cNvSpPr/>
          <p:nvPr/>
        </p:nvSpPr>
        <p:spPr>
          <a:xfrm>
            <a:off x="548640" y="2286000"/>
            <a:ext cx="2084832"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news</a:t>
            </a:r>
            <a:endParaRPr lang="en-US" sz="1000" dirty="0"/>
          </a:p>
        </p:txBody>
      </p:sp>
      <p:sp>
        <p:nvSpPr>
          <p:cNvPr id="19" name="Shape 17"/>
          <p:cNvSpPr/>
          <p:nvPr/>
        </p:nvSpPr>
        <p:spPr>
          <a:xfrm>
            <a:off x="2761488" y="2286000"/>
            <a:ext cx="2084832" cy="384048"/>
          </a:xfrm>
          <a:prstGeom prst="roundRect">
            <a:avLst>
              <a:gd name="adj" fmla="val 50000"/>
            </a:avLst>
          </a:prstGeom>
          <a:solidFill>
            <a:srgbClr val="F4F6F8"/>
          </a:solidFill>
          <a:ln w="9525">
            <a:solidFill>
              <a:srgbClr val="D9DEE4"/>
            </a:solidFill>
            <a:prstDash val="solid"/>
          </a:ln>
        </p:spPr>
      </p:sp>
      <p:sp>
        <p:nvSpPr>
          <p:cNvPr id="20" name="Text 18"/>
          <p:cNvSpPr/>
          <p:nvPr/>
        </p:nvSpPr>
        <p:spPr>
          <a:xfrm>
            <a:off x="2761488" y="2286000"/>
            <a:ext cx="2084832"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promotions</a:t>
            </a:r>
            <a:endParaRPr lang="en-US" sz="1000" dirty="0"/>
          </a:p>
        </p:txBody>
      </p:sp>
      <p:sp>
        <p:nvSpPr>
          <p:cNvPr id="21" name="Shape 19"/>
          <p:cNvSpPr/>
          <p:nvPr/>
        </p:nvSpPr>
        <p:spPr>
          <a:xfrm>
            <a:off x="4974336" y="2286000"/>
            <a:ext cx="2084832" cy="384048"/>
          </a:xfrm>
          <a:prstGeom prst="roundRect">
            <a:avLst>
              <a:gd name="adj" fmla="val 50000"/>
            </a:avLst>
          </a:prstGeom>
          <a:solidFill>
            <a:srgbClr val="F4F6F8"/>
          </a:solidFill>
          <a:ln w="9525">
            <a:solidFill>
              <a:srgbClr val="D9DEE4"/>
            </a:solidFill>
            <a:prstDash val="solid"/>
          </a:ln>
        </p:spPr>
      </p:sp>
      <p:sp>
        <p:nvSpPr>
          <p:cNvPr id="22" name="Text 20"/>
          <p:cNvSpPr/>
          <p:nvPr/>
        </p:nvSpPr>
        <p:spPr>
          <a:xfrm>
            <a:off x="4974336" y="2286000"/>
            <a:ext cx="2084832"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media</a:t>
            </a:r>
            <a:endParaRPr lang="en-US" sz="1000" dirty="0"/>
          </a:p>
        </p:txBody>
      </p:sp>
      <p:sp>
        <p:nvSpPr>
          <p:cNvPr id="23" name="Shape 21"/>
          <p:cNvSpPr/>
          <p:nvPr/>
        </p:nvSpPr>
        <p:spPr>
          <a:xfrm>
            <a:off x="7187184" y="2286000"/>
            <a:ext cx="2084832" cy="384048"/>
          </a:xfrm>
          <a:prstGeom prst="roundRect">
            <a:avLst>
              <a:gd name="adj" fmla="val 50000"/>
            </a:avLst>
          </a:prstGeom>
          <a:solidFill>
            <a:srgbClr val="F4F6F8"/>
          </a:solidFill>
          <a:ln w="9525">
            <a:solidFill>
              <a:srgbClr val="D9DEE4"/>
            </a:solidFill>
            <a:prstDash val="solid"/>
          </a:ln>
        </p:spPr>
      </p:sp>
      <p:sp>
        <p:nvSpPr>
          <p:cNvPr id="24" name="Text 22"/>
          <p:cNvSpPr/>
          <p:nvPr/>
        </p:nvSpPr>
        <p:spPr>
          <a:xfrm>
            <a:off x="7187184" y="2286000"/>
            <a:ext cx="2084832"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contacts</a:t>
            </a:r>
            <a:endParaRPr lang="en-US" sz="1000" dirty="0"/>
          </a:p>
        </p:txBody>
      </p:sp>
      <p:sp>
        <p:nvSpPr>
          <p:cNvPr id="25" name="Shape 23"/>
          <p:cNvSpPr/>
          <p:nvPr/>
        </p:nvSpPr>
        <p:spPr>
          <a:xfrm>
            <a:off x="9400032" y="2286000"/>
            <a:ext cx="2084832" cy="384048"/>
          </a:xfrm>
          <a:prstGeom prst="roundRect">
            <a:avLst>
              <a:gd name="adj" fmla="val 50000"/>
            </a:avLst>
          </a:prstGeom>
          <a:solidFill>
            <a:srgbClr val="F4F6F8"/>
          </a:solidFill>
          <a:ln w="9525">
            <a:solidFill>
              <a:srgbClr val="D9DEE4"/>
            </a:solidFill>
            <a:prstDash val="solid"/>
          </a:ln>
        </p:spPr>
      </p:sp>
      <p:sp>
        <p:nvSpPr>
          <p:cNvPr id="26" name="Text 24"/>
          <p:cNvSpPr/>
          <p:nvPr/>
        </p:nvSpPr>
        <p:spPr>
          <a:xfrm>
            <a:off x="9400032" y="2286000"/>
            <a:ext cx="2084832" cy="384048"/>
          </a:xfrm>
          <a:prstGeom prst="rect">
            <a:avLst/>
          </a:prstGeom>
          <a:noFill/>
          <a:ln/>
        </p:spPr>
        <p:txBody>
          <a:bodyPr wrap="square" rtlCol="0" anchor="ctr"/>
          <a:lstStyle/>
          <a:p>
            <a:pPr algn="ctr" indent="0" marL="0">
              <a:buNone/>
            </a:pPr>
            <a:r>
              <a:rPr lang="en-US" sz="1000" b="1" dirty="0">
                <a:solidFill>
                  <a:srgbClr val="0A2C54"/>
                </a:solidFill>
                <a:latin typeface="Courier New" pitchFamily="34" charset="0"/>
                <a:ea typeface="Courier New" pitchFamily="34" charset="-122"/>
                <a:cs typeface="Courier New" pitchFamily="34" charset="-120"/>
              </a:rPr>
              <a:t>partners</a:t>
            </a:r>
            <a:endParaRPr lang="en-US" sz="1000" dirty="0"/>
          </a:p>
        </p:txBody>
      </p:sp>
      <p:sp>
        <p:nvSpPr>
          <p:cNvPr id="27" name="Text 25"/>
          <p:cNvSpPr/>
          <p:nvPr/>
        </p:nvSpPr>
        <p:spPr>
          <a:xfrm>
            <a:off x="548640" y="3017520"/>
            <a:ext cx="5486400" cy="274320"/>
          </a:xfrm>
          <a:prstGeom prst="rect">
            <a:avLst/>
          </a:prstGeom>
          <a:noFill/>
          <a:ln/>
        </p:spPr>
        <p:txBody>
          <a:bodyPr wrap="square" rtlCol="0" anchor="ctr"/>
          <a:lstStyle/>
          <a:p>
            <a:pPr indent="0" marL="0">
              <a:buNone/>
            </a:pPr>
            <a:r>
              <a:rPr lang="en-US" sz="1050" b="1" spc="120" kern="0" dirty="0">
                <a:solidFill>
                  <a:srgbClr val="0B57A4"/>
                </a:solidFill>
                <a:latin typeface="Calibri" pitchFamily="34" charset="0"/>
                <a:ea typeface="Calibri" pitchFamily="34" charset="-122"/>
                <a:cs typeface="Calibri" pitchFamily="34" charset="-120"/>
              </a:rPr>
              <a:t>SERVICES TRANSVERSES DANS CORE/</a:t>
            </a:r>
            <a:endParaRPr lang="en-US" sz="1050" dirty="0"/>
          </a:p>
        </p:txBody>
      </p:sp>
      <p:sp>
        <p:nvSpPr>
          <p:cNvPr id="28" name="Shape 26"/>
          <p:cNvSpPr/>
          <p:nvPr/>
        </p:nvSpPr>
        <p:spPr>
          <a:xfrm>
            <a:off x="548640" y="3383280"/>
            <a:ext cx="3200400" cy="420624"/>
          </a:xfrm>
          <a:prstGeom prst="roundRect">
            <a:avLst>
              <a:gd name="adj" fmla="val 10870"/>
            </a:avLst>
          </a:prstGeom>
          <a:solidFill>
            <a:srgbClr val="EAF3FC"/>
          </a:solidFill>
          <a:ln/>
        </p:spPr>
      </p:sp>
      <p:sp>
        <p:nvSpPr>
          <p:cNvPr id="29" name="Text 27"/>
          <p:cNvSpPr/>
          <p:nvPr/>
        </p:nvSpPr>
        <p:spPr>
          <a:xfrm>
            <a:off x="640080" y="3383280"/>
            <a:ext cx="3017520" cy="420624"/>
          </a:xfrm>
          <a:prstGeom prst="rect">
            <a:avLst/>
          </a:prstGeom>
          <a:noFill/>
          <a:ln/>
        </p:spPr>
        <p:txBody>
          <a:bodyPr wrap="square" rtlCol="0" anchor="ctr"/>
          <a:lstStyle/>
          <a:p>
            <a:pPr indent="0" marL="0">
              <a:buNone/>
            </a:pPr>
            <a:r>
              <a:rPr lang="en-US" sz="850" b="1" dirty="0">
                <a:solidFill>
                  <a:srgbClr val="0A2C54"/>
                </a:solidFill>
                <a:latin typeface="Courier New" pitchFamily="34" charset="0"/>
                <a:ea typeface="Courier New" pitchFamily="34" charset="-122"/>
                <a:cs typeface="Courier New" pitchFamily="34" charset="-120"/>
              </a:rPr>
              <a:t>permissions.py</a:t>
            </a:r>
            <a:endParaRPr lang="en-US" sz="850" dirty="0"/>
          </a:p>
        </p:txBody>
      </p:sp>
      <p:sp>
        <p:nvSpPr>
          <p:cNvPr id="30" name="Text 28"/>
          <p:cNvSpPr/>
          <p:nvPr/>
        </p:nvSpPr>
        <p:spPr>
          <a:xfrm>
            <a:off x="3886200" y="3383280"/>
            <a:ext cx="7589520" cy="420624"/>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Classes de permission DRF par rôle (RBAC serveur)</a:t>
            </a:r>
            <a:endParaRPr lang="en-US" sz="1000" dirty="0"/>
          </a:p>
        </p:txBody>
      </p:sp>
      <p:sp>
        <p:nvSpPr>
          <p:cNvPr id="31" name="Shape 29"/>
          <p:cNvSpPr/>
          <p:nvPr/>
        </p:nvSpPr>
        <p:spPr>
          <a:xfrm>
            <a:off x="548640" y="3858768"/>
            <a:ext cx="3200400" cy="420624"/>
          </a:xfrm>
          <a:prstGeom prst="roundRect">
            <a:avLst>
              <a:gd name="adj" fmla="val 10870"/>
            </a:avLst>
          </a:prstGeom>
          <a:solidFill>
            <a:srgbClr val="EAF3FC"/>
          </a:solidFill>
          <a:ln/>
        </p:spPr>
      </p:sp>
      <p:sp>
        <p:nvSpPr>
          <p:cNvPr id="32" name="Text 30"/>
          <p:cNvSpPr/>
          <p:nvPr/>
        </p:nvSpPr>
        <p:spPr>
          <a:xfrm>
            <a:off x="640080" y="3858768"/>
            <a:ext cx="3017520" cy="420624"/>
          </a:xfrm>
          <a:prstGeom prst="rect">
            <a:avLst/>
          </a:prstGeom>
          <a:noFill/>
          <a:ln/>
        </p:spPr>
        <p:txBody>
          <a:bodyPr wrap="square" rtlCol="0" anchor="ctr"/>
          <a:lstStyle/>
          <a:p>
            <a:pPr indent="0" marL="0">
              <a:buNone/>
            </a:pPr>
            <a:r>
              <a:rPr lang="en-US" sz="850" b="1" dirty="0">
                <a:solidFill>
                  <a:srgbClr val="0A2C54"/>
                </a:solidFill>
                <a:latin typeface="Courier New" pitchFamily="34" charset="0"/>
                <a:ea typeface="Courier New" pitchFamily="34" charset="-122"/>
                <a:cs typeface="Courier New" pitchFamily="34" charset="-120"/>
              </a:rPr>
              <a:t>payment_providers.py</a:t>
            </a:r>
            <a:endParaRPr lang="en-US" sz="850" dirty="0"/>
          </a:p>
        </p:txBody>
      </p:sp>
      <p:sp>
        <p:nvSpPr>
          <p:cNvPr id="33" name="Text 31"/>
          <p:cNvSpPr/>
          <p:nvPr/>
        </p:nvSpPr>
        <p:spPr>
          <a:xfrm>
            <a:off x="3886200" y="3858768"/>
            <a:ext cx="7589520" cy="420624"/>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Abstraction Mock / Orange Money / MTN MoMo</a:t>
            </a:r>
            <a:endParaRPr lang="en-US" sz="1000" dirty="0"/>
          </a:p>
        </p:txBody>
      </p:sp>
      <p:sp>
        <p:nvSpPr>
          <p:cNvPr id="34" name="Shape 32"/>
          <p:cNvSpPr/>
          <p:nvPr/>
        </p:nvSpPr>
        <p:spPr>
          <a:xfrm>
            <a:off x="548640" y="4334256"/>
            <a:ext cx="3200400" cy="420624"/>
          </a:xfrm>
          <a:prstGeom prst="roundRect">
            <a:avLst>
              <a:gd name="adj" fmla="val 10870"/>
            </a:avLst>
          </a:prstGeom>
          <a:solidFill>
            <a:srgbClr val="EAF3FC"/>
          </a:solidFill>
          <a:ln/>
        </p:spPr>
      </p:sp>
      <p:sp>
        <p:nvSpPr>
          <p:cNvPr id="35" name="Text 33"/>
          <p:cNvSpPr/>
          <p:nvPr/>
        </p:nvSpPr>
        <p:spPr>
          <a:xfrm>
            <a:off x="640080" y="4334256"/>
            <a:ext cx="3017520" cy="420624"/>
          </a:xfrm>
          <a:prstGeom prst="rect">
            <a:avLst/>
          </a:prstGeom>
          <a:noFill/>
          <a:ln/>
        </p:spPr>
        <p:txBody>
          <a:bodyPr wrap="square" rtlCol="0" anchor="ctr"/>
          <a:lstStyle/>
          <a:p>
            <a:pPr indent="0" marL="0">
              <a:buNone/>
            </a:pPr>
            <a:r>
              <a:rPr lang="en-US" sz="850" b="1" dirty="0">
                <a:solidFill>
                  <a:srgbClr val="0A2C54"/>
                </a:solidFill>
                <a:latin typeface="Courier New" pitchFamily="34" charset="0"/>
                <a:ea typeface="Courier New" pitchFamily="34" charset="-122"/>
                <a:cs typeface="Courier New" pitchFamily="34" charset="-120"/>
              </a:rPr>
              <a:t>chatbot_service.py / providers.py</a:t>
            </a:r>
            <a:endParaRPr lang="en-US" sz="850" dirty="0"/>
          </a:p>
        </p:txBody>
      </p:sp>
      <p:sp>
        <p:nvSpPr>
          <p:cNvPr id="36" name="Text 34"/>
          <p:cNvSpPr/>
          <p:nvPr/>
        </p:nvSpPr>
        <p:spPr>
          <a:xfrm>
            <a:off x="3886200" y="4334256"/>
            <a:ext cx="7589520" cy="420624"/>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Assistant IA — Mock / Gemini / OpenAI / Ollama</a:t>
            </a:r>
            <a:endParaRPr lang="en-US" sz="1000" dirty="0"/>
          </a:p>
        </p:txBody>
      </p:sp>
      <p:sp>
        <p:nvSpPr>
          <p:cNvPr id="37" name="Shape 35"/>
          <p:cNvSpPr/>
          <p:nvPr/>
        </p:nvSpPr>
        <p:spPr>
          <a:xfrm>
            <a:off x="548640" y="4809744"/>
            <a:ext cx="3200400" cy="420624"/>
          </a:xfrm>
          <a:prstGeom prst="roundRect">
            <a:avLst>
              <a:gd name="adj" fmla="val 10870"/>
            </a:avLst>
          </a:prstGeom>
          <a:solidFill>
            <a:srgbClr val="EAF3FC"/>
          </a:solidFill>
          <a:ln/>
        </p:spPr>
      </p:sp>
      <p:sp>
        <p:nvSpPr>
          <p:cNvPr id="38" name="Text 36"/>
          <p:cNvSpPr/>
          <p:nvPr/>
        </p:nvSpPr>
        <p:spPr>
          <a:xfrm>
            <a:off x="640080" y="4809744"/>
            <a:ext cx="3017520" cy="420624"/>
          </a:xfrm>
          <a:prstGeom prst="rect">
            <a:avLst/>
          </a:prstGeom>
          <a:noFill/>
          <a:ln/>
        </p:spPr>
        <p:txBody>
          <a:bodyPr wrap="square" rtlCol="0" anchor="ctr"/>
          <a:lstStyle/>
          <a:p>
            <a:pPr indent="0" marL="0">
              <a:buNone/>
            </a:pPr>
            <a:r>
              <a:rPr lang="en-US" sz="850" b="1" dirty="0">
                <a:solidFill>
                  <a:srgbClr val="0A2C54"/>
                </a:solidFill>
                <a:latin typeface="Courier New" pitchFamily="34" charset="0"/>
                <a:ea typeface="Courier New" pitchFamily="34" charset="-122"/>
                <a:cs typeface="Courier New" pitchFamily="34" charset="-120"/>
              </a:rPr>
              <a:t>analytics.py</a:t>
            </a:r>
            <a:endParaRPr lang="en-US" sz="850" dirty="0"/>
          </a:p>
        </p:txBody>
      </p:sp>
      <p:sp>
        <p:nvSpPr>
          <p:cNvPr id="39" name="Text 37"/>
          <p:cNvSpPr/>
          <p:nvPr/>
        </p:nvSpPr>
        <p:spPr>
          <a:xfrm>
            <a:off x="3886200" y="4809744"/>
            <a:ext cx="7589520" cy="420624"/>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Événements produit (offer_view, search, comparison…)</a:t>
            </a:r>
            <a:endParaRPr lang="en-US" sz="1000" dirty="0"/>
          </a:p>
        </p:txBody>
      </p:sp>
      <p:sp>
        <p:nvSpPr>
          <p:cNvPr id="40" name="Shape 38"/>
          <p:cNvSpPr/>
          <p:nvPr/>
        </p:nvSpPr>
        <p:spPr>
          <a:xfrm>
            <a:off x="548640" y="5285232"/>
            <a:ext cx="3200400" cy="420624"/>
          </a:xfrm>
          <a:prstGeom prst="roundRect">
            <a:avLst>
              <a:gd name="adj" fmla="val 10870"/>
            </a:avLst>
          </a:prstGeom>
          <a:solidFill>
            <a:srgbClr val="EAF3FC"/>
          </a:solidFill>
          <a:ln/>
        </p:spPr>
      </p:sp>
      <p:sp>
        <p:nvSpPr>
          <p:cNvPr id="41" name="Text 39"/>
          <p:cNvSpPr/>
          <p:nvPr/>
        </p:nvSpPr>
        <p:spPr>
          <a:xfrm>
            <a:off x="640080" y="5285232"/>
            <a:ext cx="3017520" cy="420624"/>
          </a:xfrm>
          <a:prstGeom prst="rect">
            <a:avLst/>
          </a:prstGeom>
          <a:noFill/>
          <a:ln/>
        </p:spPr>
        <p:txBody>
          <a:bodyPr wrap="square" rtlCol="0" anchor="ctr"/>
          <a:lstStyle/>
          <a:p>
            <a:pPr indent="0" marL="0">
              <a:buNone/>
            </a:pPr>
            <a:r>
              <a:rPr lang="en-US" sz="850" b="1" dirty="0">
                <a:solidFill>
                  <a:srgbClr val="0A2C54"/>
                </a:solidFill>
                <a:latin typeface="Courier New" pitchFamily="34" charset="0"/>
                <a:ea typeface="Courier New" pitchFamily="34" charset="-122"/>
                <a:cs typeface="Courier New" pitchFamily="34" charset="-120"/>
              </a:rPr>
              <a:t>v2_services.py / v3_services.py</a:t>
            </a:r>
            <a:endParaRPr lang="en-US" sz="850" dirty="0"/>
          </a:p>
        </p:txBody>
      </p:sp>
      <p:sp>
        <p:nvSpPr>
          <p:cNvPr id="42" name="Text 40"/>
          <p:cNvSpPr/>
          <p:nvPr/>
        </p:nvSpPr>
        <p:spPr>
          <a:xfrm>
            <a:off x="3886200" y="5285232"/>
            <a:ext cx="7589520" cy="420624"/>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Éligibilité, recommandations, fonctionnalités avancées</a:t>
            </a:r>
            <a:endParaRPr lang="en-US" sz="1000" dirty="0"/>
          </a:p>
        </p:txBody>
      </p:sp>
      <p:sp>
        <p:nvSpPr>
          <p:cNvPr id="43" name="Shape 41"/>
          <p:cNvSpPr/>
          <p:nvPr/>
        </p:nvSpPr>
        <p:spPr>
          <a:xfrm>
            <a:off x="548640" y="5760720"/>
            <a:ext cx="3200400" cy="420624"/>
          </a:xfrm>
          <a:prstGeom prst="roundRect">
            <a:avLst>
              <a:gd name="adj" fmla="val 10870"/>
            </a:avLst>
          </a:prstGeom>
          <a:solidFill>
            <a:srgbClr val="EAF3FC"/>
          </a:solidFill>
          <a:ln/>
        </p:spPr>
      </p:sp>
      <p:sp>
        <p:nvSpPr>
          <p:cNvPr id="44" name="Text 42"/>
          <p:cNvSpPr/>
          <p:nvPr/>
        </p:nvSpPr>
        <p:spPr>
          <a:xfrm>
            <a:off x="640080" y="5760720"/>
            <a:ext cx="3017520" cy="420624"/>
          </a:xfrm>
          <a:prstGeom prst="rect">
            <a:avLst/>
          </a:prstGeom>
          <a:noFill/>
          <a:ln/>
        </p:spPr>
        <p:txBody>
          <a:bodyPr wrap="square" rtlCol="0" anchor="ctr"/>
          <a:lstStyle/>
          <a:p>
            <a:pPr indent="0" marL="0">
              <a:buNone/>
            </a:pPr>
            <a:r>
              <a:rPr lang="en-US" sz="850" b="1" dirty="0">
                <a:solidFill>
                  <a:srgbClr val="0A2C54"/>
                </a:solidFill>
                <a:latin typeface="Courier New" pitchFamily="34" charset="0"/>
                <a:ea typeface="Courier New" pitchFamily="34" charset="-122"/>
                <a:cs typeface="Courier New" pitchFamily="34" charset="-120"/>
              </a:rPr>
              <a:t>throttling.py / upload_validation.py</a:t>
            </a:r>
            <a:endParaRPr lang="en-US" sz="850" dirty="0"/>
          </a:p>
        </p:txBody>
      </p:sp>
      <p:sp>
        <p:nvSpPr>
          <p:cNvPr id="45" name="Text 43"/>
          <p:cNvSpPr/>
          <p:nvPr/>
        </p:nvSpPr>
        <p:spPr>
          <a:xfrm>
            <a:off x="3886200" y="5760720"/>
            <a:ext cx="7589520" cy="420624"/>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Rate limiting et validation des fichiers uploadés</a:t>
            </a:r>
            <a:endParaRPr lang="en-US" sz="1000" dirty="0"/>
          </a:p>
        </p:txBody>
      </p:sp>
      <p:sp>
        <p:nvSpPr>
          <p:cNvPr id="46" name="Text 44"/>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Architecture backend</a:t>
            </a:r>
            <a:endParaRPr lang="en-US" sz="900" dirty="0"/>
          </a:p>
        </p:txBody>
      </p:sp>
      <p:sp>
        <p:nvSpPr>
          <p:cNvPr id="47" name="Text 45"/>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48" name="Text 46"/>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DONNÉES</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Pipeline de gestion du catalogue</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548640" y="1554480"/>
            <a:ext cx="1572768" cy="1051560"/>
          </a:xfrm>
          <a:prstGeom prst="roundRect">
            <a:avLst>
              <a:gd name="adj" fmla="val 5217"/>
            </a:avLst>
          </a:prstGeom>
          <a:solidFill>
            <a:srgbClr val="0A2C54"/>
          </a:solidFill>
          <a:ln/>
        </p:spPr>
      </p:sp>
      <p:sp>
        <p:nvSpPr>
          <p:cNvPr id="7" name="Text 5"/>
          <p:cNvSpPr/>
          <p:nvPr/>
        </p:nvSpPr>
        <p:spPr>
          <a:xfrm>
            <a:off x="603504" y="1554480"/>
            <a:ext cx="1463040" cy="105156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SOURCE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(sites officiels CAMTEL)</a:t>
            </a:r>
            <a:endParaRPr lang="en-US" sz="800" dirty="0"/>
          </a:p>
        </p:txBody>
      </p:sp>
      <p:sp>
        <p:nvSpPr>
          <p:cNvPr id="8" name="Text 6"/>
          <p:cNvSpPr/>
          <p:nvPr/>
        </p:nvSpPr>
        <p:spPr>
          <a:xfrm>
            <a:off x="2093976" y="1938528"/>
            <a:ext cx="164592" cy="274320"/>
          </a:xfrm>
          <a:prstGeom prst="rect">
            <a:avLst/>
          </a:prstGeom>
          <a:noFill/>
          <a:ln/>
        </p:spPr>
        <p:txBody>
          <a:bodyPr wrap="square" rtlCol="0" anchor="ctr"/>
          <a:lstStyle/>
          <a:p>
            <a:pPr indent="0" marL="0">
              <a:buNone/>
            </a:pPr>
            <a:r>
              <a:rPr lang="en-US" sz="1000" b="1" dirty="0">
                <a:solidFill>
                  <a:srgbClr val="0B57A4"/>
                </a:solidFill>
              </a:rPr>
              <a:t>➜</a:t>
            </a:r>
            <a:endParaRPr lang="en-US" sz="1000" dirty="0"/>
          </a:p>
        </p:txBody>
      </p:sp>
      <p:sp>
        <p:nvSpPr>
          <p:cNvPr id="9" name="Shape 7"/>
          <p:cNvSpPr/>
          <p:nvPr/>
        </p:nvSpPr>
        <p:spPr>
          <a:xfrm>
            <a:off x="2176272" y="1554480"/>
            <a:ext cx="1572768" cy="1051560"/>
          </a:xfrm>
          <a:prstGeom prst="roundRect">
            <a:avLst>
              <a:gd name="adj" fmla="val 5217"/>
            </a:avLst>
          </a:prstGeom>
          <a:solidFill>
            <a:srgbClr val="EAF3FC"/>
          </a:solidFill>
          <a:ln/>
        </p:spPr>
      </p:sp>
      <p:sp>
        <p:nvSpPr>
          <p:cNvPr id="10" name="Text 8"/>
          <p:cNvSpPr/>
          <p:nvPr/>
        </p:nvSpPr>
        <p:spPr>
          <a:xfrm>
            <a:off x="2231136" y="1554480"/>
            <a:ext cx="1463040" cy="1051560"/>
          </a:xfrm>
          <a:prstGeom prst="rect">
            <a:avLst/>
          </a:prstGeom>
          <a:noFill/>
          <a:ln/>
        </p:spPr>
        <p:txBody>
          <a:bodyPr wrap="square" rtlCol="0" anchor="ctr"/>
          <a:lstStyle/>
          <a:p>
            <a:pPr algn="ctr" indent="0" marL="0">
              <a:buNone/>
            </a:pPr>
            <a:r>
              <a:rPr lang="en-US" sz="800" b="1" dirty="0">
                <a:solidFill>
                  <a:srgbClr val="0A2C54"/>
                </a:solidFill>
                <a:latin typeface="Calibri" pitchFamily="34" charset="0"/>
                <a:ea typeface="Calibri" pitchFamily="34" charset="-122"/>
                <a:cs typeface="Calibri" pitchFamily="34" charset="-120"/>
              </a:rPr>
              <a:t>SNAPSHOT DATÉ</a:t>
            </a:r>
            <a:endParaRPr lang="en-US" sz="800" dirty="0"/>
          </a:p>
          <a:p>
            <a:pPr algn="ctr" indent="0" marL="0">
              <a:buNone/>
            </a:pPr>
            <a:r>
              <a:rPr lang="en-US" sz="800" b="1" dirty="0">
                <a:solidFill>
                  <a:srgbClr val="0A2C54"/>
                </a:solidFill>
                <a:latin typeface="Calibri" pitchFamily="34" charset="0"/>
                <a:ea typeface="Calibri" pitchFamily="34" charset="-122"/>
                <a:cs typeface="Calibri" pitchFamily="34" charset="-120"/>
              </a:rPr>
              <a:t>(data/camtel_catalog/AAAA-MM-JJ)</a:t>
            </a:r>
            <a:endParaRPr lang="en-US" sz="800" dirty="0"/>
          </a:p>
        </p:txBody>
      </p:sp>
      <p:sp>
        <p:nvSpPr>
          <p:cNvPr id="11" name="Text 9"/>
          <p:cNvSpPr/>
          <p:nvPr/>
        </p:nvSpPr>
        <p:spPr>
          <a:xfrm>
            <a:off x="3721608" y="1938528"/>
            <a:ext cx="164592" cy="274320"/>
          </a:xfrm>
          <a:prstGeom prst="rect">
            <a:avLst/>
          </a:prstGeom>
          <a:noFill/>
          <a:ln/>
        </p:spPr>
        <p:txBody>
          <a:bodyPr wrap="square" rtlCol="0" anchor="ctr"/>
          <a:lstStyle/>
          <a:p>
            <a:pPr indent="0" marL="0">
              <a:buNone/>
            </a:pPr>
            <a:r>
              <a:rPr lang="en-US" sz="1000" b="1" dirty="0">
                <a:solidFill>
                  <a:srgbClr val="0B57A4"/>
                </a:solidFill>
              </a:rPr>
              <a:t>➜</a:t>
            </a:r>
            <a:endParaRPr lang="en-US" sz="1000" dirty="0"/>
          </a:p>
        </p:txBody>
      </p:sp>
      <p:sp>
        <p:nvSpPr>
          <p:cNvPr id="12" name="Shape 10"/>
          <p:cNvSpPr/>
          <p:nvPr/>
        </p:nvSpPr>
        <p:spPr>
          <a:xfrm>
            <a:off x="3803904" y="1554480"/>
            <a:ext cx="1572768" cy="1051560"/>
          </a:xfrm>
          <a:prstGeom prst="roundRect">
            <a:avLst>
              <a:gd name="adj" fmla="val 5217"/>
            </a:avLst>
          </a:prstGeom>
          <a:solidFill>
            <a:srgbClr val="0A2C54"/>
          </a:solidFill>
          <a:ln/>
        </p:spPr>
      </p:sp>
      <p:sp>
        <p:nvSpPr>
          <p:cNvPr id="13" name="Text 11"/>
          <p:cNvSpPr/>
          <p:nvPr/>
        </p:nvSpPr>
        <p:spPr>
          <a:xfrm>
            <a:off x="3858768" y="1554480"/>
            <a:ext cx="1463040" cy="105156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IMPORT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(import_camtel_catalog)</a:t>
            </a:r>
            <a:endParaRPr lang="en-US" sz="800" dirty="0"/>
          </a:p>
        </p:txBody>
      </p:sp>
      <p:sp>
        <p:nvSpPr>
          <p:cNvPr id="14" name="Text 12"/>
          <p:cNvSpPr/>
          <p:nvPr/>
        </p:nvSpPr>
        <p:spPr>
          <a:xfrm>
            <a:off x="5349240" y="1938528"/>
            <a:ext cx="164592" cy="274320"/>
          </a:xfrm>
          <a:prstGeom prst="rect">
            <a:avLst/>
          </a:prstGeom>
          <a:noFill/>
          <a:ln/>
        </p:spPr>
        <p:txBody>
          <a:bodyPr wrap="square" rtlCol="0" anchor="ctr"/>
          <a:lstStyle/>
          <a:p>
            <a:pPr indent="0" marL="0">
              <a:buNone/>
            </a:pPr>
            <a:r>
              <a:rPr lang="en-US" sz="1000" b="1" dirty="0">
                <a:solidFill>
                  <a:srgbClr val="0B57A4"/>
                </a:solidFill>
              </a:rPr>
              <a:t>➜</a:t>
            </a:r>
            <a:endParaRPr lang="en-US" sz="1000" dirty="0"/>
          </a:p>
        </p:txBody>
      </p:sp>
      <p:sp>
        <p:nvSpPr>
          <p:cNvPr id="15" name="Shape 13"/>
          <p:cNvSpPr/>
          <p:nvPr/>
        </p:nvSpPr>
        <p:spPr>
          <a:xfrm>
            <a:off x="5431536" y="1554480"/>
            <a:ext cx="1572768" cy="1051560"/>
          </a:xfrm>
          <a:prstGeom prst="roundRect">
            <a:avLst>
              <a:gd name="adj" fmla="val 5217"/>
            </a:avLst>
          </a:prstGeom>
          <a:solidFill>
            <a:srgbClr val="EAF3FC"/>
          </a:solidFill>
          <a:ln/>
        </p:spPr>
      </p:sp>
      <p:sp>
        <p:nvSpPr>
          <p:cNvPr id="16" name="Text 14"/>
          <p:cNvSpPr/>
          <p:nvPr/>
        </p:nvSpPr>
        <p:spPr>
          <a:xfrm>
            <a:off x="5486400" y="1554480"/>
            <a:ext cx="1463040" cy="1051560"/>
          </a:xfrm>
          <a:prstGeom prst="rect">
            <a:avLst/>
          </a:prstGeom>
          <a:noFill/>
          <a:ln/>
        </p:spPr>
        <p:txBody>
          <a:bodyPr wrap="square" rtlCol="0" anchor="ctr"/>
          <a:lstStyle/>
          <a:p>
            <a:pPr algn="ctr" indent="0" marL="0">
              <a:buNone/>
            </a:pPr>
            <a:r>
              <a:rPr lang="en-US" sz="800" b="1" dirty="0">
                <a:solidFill>
                  <a:srgbClr val="0A2C54"/>
                </a:solidFill>
                <a:latin typeface="Calibri" pitchFamily="34" charset="0"/>
                <a:ea typeface="Calibri" pitchFamily="34" charset="-122"/>
                <a:cs typeface="Calibri" pitchFamily="34" charset="-120"/>
              </a:rPr>
              <a:t>VALIDATION</a:t>
            </a:r>
            <a:endParaRPr lang="en-US" sz="800" dirty="0"/>
          </a:p>
          <a:p>
            <a:pPr algn="ctr" indent="0" marL="0">
              <a:buNone/>
            </a:pPr>
            <a:r>
              <a:rPr lang="en-US" sz="800" b="1" dirty="0">
                <a:solidFill>
                  <a:srgbClr val="0A2C54"/>
                </a:solidFill>
                <a:latin typeface="Calibri" pitchFamily="34" charset="0"/>
                <a:ea typeface="Calibri" pitchFamily="34" charset="-122"/>
                <a:cs typeface="Calibri" pitchFamily="34" charset="-120"/>
              </a:rPr>
              <a:t>(source obligatoire si OFFICIAL)</a:t>
            </a:r>
            <a:endParaRPr lang="en-US" sz="800" dirty="0"/>
          </a:p>
        </p:txBody>
      </p:sp>
      <p:sp>
        <p:nvSpPr>
          <p:cNvPr id="17" name="Text 15"/>
          <p:cNvSpPr/>
          <p:nvPr/>
        </p:nvSpPr>
        <p:spPr>
          <a:xfrm>
            <a:off x="6976872" y="1938528"/>
            <a:ext cx="164592" cy="274320"/>
          </a:xfrm>
          <a:prstGeom prst="rect">
            <a:avLst/>
          </a:prstGeom>
          <a:noFill/>
          <a:ln/>
        </p:spPr>
        <p:txBody>
          <a:bodyPr wrap="square" rtlCol="0" anchor="ctr"/>
          <a:lstStyle/>
          <a:p>
            <a:pPr indent="0" marL="0">
              <a:buNone/>
            </a:pPr>
            <a:r>
              <a:rPr lang="en-US" sz="1000" b="1" dirty="0">
                <a:solidFill>
                  <a:srgbClr val="0B57A4"/>
                </a:solidFill>
              </a:rPr>
              <a:t>➜</a:t>
            </a:r>
            <a:endParaRPr lang="en-US" sz="1000" dirty="0"/>
          </a:p>
        </p:txBody>
      </p:sp>
      <p:sp>
        <p:nvSpPr>
          <p:cNvPr id="18" name="Shape 16"/>
          <p:cNvSpPr/>
          <p:nvPr/>
        </p:nvSpPr>
        <p:spPr>
          <a:xfrm>
            <a:off x="7059168" y="1554480"/>
            <a:ext cx="1572768" cy="1051560"/>
          </a:xfrm>
          <a:prstGeom prst="roundRect">
            <a:avLst>
              <a:gd name="adj" fmla="val 5217"/>
            </a:avLst>
          </a:prstGeom>
          <a:solidFill>
            <a:srgbClr val="0A2C54"/>
          </a:solidFill>
          <a:ln/>
        </p:spPr>
      </p:sp>
      <p:sp>
        <p:nvSpPr>
          <p:cNvPr id="19" name="Text 17"/>
          <p:cNvSpPr/>
          <p:nvPr/>
        </p:nvSpPr>
        <p:spPr>
          <a:xfrm>
            <a:off x="7114032" y="1554480"/>
            <a:ext cx="1463040" cy="105156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BASE DE DONNÉES</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(Service/Segment/Product)</a:t>
            </a:r>
            <a:endParaRPr lang="en-US" sz="800" dirty="0"/>
          </a:p>
        </p:txBody>
      </p:sp>
      <p:sp>
        <p:nvSpPr>
          <p:cNvPr id="20" name="Text 18"/>
          <p:cNvSpPr/>
          <p:nvPr/>
        </p:nvSpPr>
        <p:spPr>
          <a:xfrm>
            <a:off x="8604504" y="1938528"/>
            <a:ext cx="164592" cy="274320"/>
          </a:xfrm>
          <a:prstGeom prst="rect">
            <a:avLst/>
          </a:prstGeom>
          <a:noFill/>
          <a:ln/>
        </p:spPr>
        <p:txBody>
          <a:bodyPr wrap="square" rtlCol="0" anchor="ctr"/>
          <a:lstStyle/>
          <a:p>
            <a:pPr indent="0" marL="0">
              <a:buNone/>
            </a:pPr>
            <a:r>
              <a:rPr lang="en-US" sz="1000" b="1" dirty="0">
                <a:solidFill>
                  <a:srgbClr val="0B57A4"/>
                </a:solidFill>
              </a:rPr>
              <a:t>➜</a:t>
            </a:r>
            <a:endParaRPr lang="en-US" sz="1000" dirty="0"/>
          </a:p>
        </p:txBody>
      </p:sp>
      <p:sp>
        <p:nvSpPr>
          <p:cNvPr id="21" name="Shape 19"/>
          <p:cNvSpPr/>
          <p:nvPr/>
        </p:nvSpPr>
        <p:spPr>
          <a:xfrm>
            <a:off x="8686800" y="1554480"/>
            <a:ext cx="1572768" cy="1051560"/>
          </a:xfrm>
          <a:prstGeom prst="roundRect">
            <a:avLst>
              <a:gd name="adj" fmla="val 5217"/>
            </a:avLst>
          </a:prstGeom>
          <a:solidFill>
            <a:srgbClr val="EAF3FC"/>
          </a:solidFill>
          <a:ln/>
        </p:spPr>
      </p:sp>
      <p:sp>
        <p:nvSpPr>
          <p:cNvPr id="22" name="Text 20"/>
          <p:cNvSpPr/>
          <p:nvPr/>
        </p:nvSpPr>
        <p:spPr>
          <a:xfrm>
            <a:off x="8741664" y="1554480"/>
            <a:ext cx="1463040" cy="1051560"/>
          </a:xfrm>
          <a:prstGeom prst="rect">
            <a:avLst/>
          </a:prstGeom>
          <a:noFill/>
          <a:ln/>
        </p:spPr>
        <p:txBody>
          <a:bodyPr wrap="square" rtlCol="0" anchor="ctr"/>
          <a:lstStyle/>
          <a:p>
            <a:pPr algn="ctr" indent="0" marL="0">
              <a:buNone/>
            </a:pPr>
            <a:r>
              <a:rPr lang="en-US" sz="800" b="1" dirty="0">
                <a:solidFill>
                  <a:srgbClr val="0A2C54"/>
                </a:solidFill>
                <a:latin typeface="Calibri" pitchFamily="34" charset="0"/>
                <a:ea typeface="Calibri" pitchFamily="34" charset="-122"/>
                <a:cs typeface="Calibri" pitchFamily="34" charset="-120"/>
              </a:rPr>
              <a:t>API</a:t>
            </a:r>
            <a:endParaRPr lang="en-US" sz="800" dirty="0"/>
          </a:p>
          <a:p>
            <a:pPr algn="ctr" indent="0" marL="0">
              <a:buNone/>
            </a:pPr>
            <a:r>
              <a:rPr lang="en-US" sz="800" b="1" dirty="0">
                <a:solidFill>
                  <a:srgbClr val="0A2C54"/>
                </a:solidFill>
                <a:latin typeface="Calibri" pitchFamily="34" charset="0"/>
                <a:ea typeface="Calibri" pitchFamily="34" charset="-122"/>
                <a:cs typeface="Calibri" pitchFamily="34" charset="-120"/>
              </a:rPr>
              <a:t>(/api/v1/products/)</a:t>
            </a:r>
            <a:endParaRPr lang="en-US" sz="800" dirty="0"/>
          </a:p>
        </p:txBody>
      </p:sp>
      <p:sp>
        <p:nvSpPr>
          <p:cNvPr id="23" name="Text 21"/>
          <p:cNvSpPr/>
          <p:nvPr/>
        </p:nvSpPr>
        <p:spPr>
          <a:xfrm>
            <a:off x="10232136" y="1938528"/>
            <a:ext cx="164592" cy="274320"/>
          </a:xfrm>
          <a:prstGeom prst="rect">
            <a:avLst/>
          </a:prstGeom>
          <a:noFill/>
          <a:ln/>
        </p:spPr>
        <p:txBody>
          <a:bodyPr wrap="square" rtlCol="0" anchor="ctr"/>
          <a:lstStyle/>
          <a:p>
            <a:pPr indent="0" marL="0">
              <a:buNone/>
            </a:pPr>
            <a:r>
              <a:rPr lang="en-US" sz="1000" b="1" dirty="0">
                <a:solidFill>
                  <a:srgbClr val="0B57A4"/>
                </a:solidFill>
              </a:rPr>
              <a:t>➜</a:t>
            </a:r>
            <a:endParaRPr lang="en-US" sz="1000" dirty="0"/>
          </a:p>
        </p:txBody>
      </p:sp>
      <p:sp>
        <p:nvSpPr>
          <p:cNvPr id="24" name="Shape 22"/>
          <p:cNvSpPr/>
          <p:nvPr/>
        </p:nvSpPr>
        <p:spPr>
          <a:xfrm>
            <a:off x="10314432" y="1554480"/>
            <a:ext cx="1572768" cy="1051560"/>
          </a:xfrm>
          <a:prstGeom prst="roundRect">
            <a:avLst>
              <a:gd name="adj" fmla="val 5217"/>
            </a:avLst>
          </a:prstGeom>
          <a:solidFill>
            <a:srgbClr val="0A2C54"/>
          </a:solidFill>
          <a:ln/>
        </p:spPr>
      </p:sp>
      <p:sp>
        <p:nvSpPr>
          <p:cNvPr id="25" name="Text 23"/>
          <p:cNvSpPr/>
          <p:nvPr/>
        </p:nvSpPr>
        <p:spPr>
          <a:xfrm>
            <a:off x="10369296" y="1554480"/>
            <a:ext cx="1463040" cy="105156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FRONTEND</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(catalogue, fiches, comparateur)</a:t>
            </a:r>
            <a:endParaRPr lang="en-US" sz="800" dirty="0"/>
          </a:p>
        </p:txBody>
      </p:sp>
      <p:sp>
        <p:nvSpPr>
          <p:cNvPr id="26" name="Text 24"/>
          <p:cNvSpPr/>
          <p:nvPr/>
        </p:nvSpPr>
        <p:spPr>
          <a:xfrm>
            <a:off x="548640" y="2926080"/>
            <a:ext cx="5486400" cy="274320"/>
          </a:xfrm>
          <a:prstGeom prst="rect">
            <a:avLst/>
          </a:prstGeom>
          <a:noFill/>
          <a:ln/>
        </p:spPr>
        <p:txBody>
          <a:bodyPr wrap="square" rtlCol="0" anchor="ctr"/>
          <a:lstStyle/>
          <a:p>
            <a:pPr indent="0" marL="0">
              <a:buNone/>
            </a:pPr>
            <a:r>
              <a:rPr lang="en-US" sz="1050" b="1" spc="120" kern="0" dirty="0">
                <a:solidFill>
                  <a:srgbClr val="0B57A4"/>
                </a:solidFill>
                <a:latin typeface="Calibri" pitchFamily="34" charset="0"/>
                <a:ea typeface="Calibri" pitchFamily="34" charset="-122"/>
                <a:cs typeface="Calibri" pitchFamily="34" charset="-120"/>
              </a:rPr>
              <a:t>OUTILS DE GESTION RÉELS (MANAGEMENT COMMANDS DJANGO)</a:t>
            </a:r>
            <a:endParaRPr lang="en-US" sz="1050" dirty="0"/>
          </a:p>
        </p:txBody>
      </p:sp>
      <p:sp>
        <p:nvSpPr>
          <p:cNvPr id="27" name="Shape 25"/>
          <p:cNvSpPr/>
          <p:nvPr/>
        </p:nvSpPr>
        <p:spPr>
          <a:xfrm>
            <a:off x="548640" y="3291840"/>
            <a:ext cx="3566160" cy="457200"/>
          </a:xfrm>
          <a:prstGeom prst="roundRect">
            <a:avLst>
              <a:gd name="adj" fmla="val 10000"/>
            </a:avLst>
          </a:prstGeom>
          <a:solidFill>
            <a:srgbClr val="F4F6F8"/>
          </a:solidFill>
          <a:ln/>
        </p:spPr>
      </p:sp>
      <p:sp>
        <p:nvSpPr>
          <p:cNvPr id="28" name="Text 26"/>
          <p:cNvSpPr/>
          <p:nvPr/>
        </p:nvSpPr>
        <p:spPr>
          <a:xfrm>
            <a:off x="658368" y="3291840"/>
            <a:ext cx="3346704" cy="457200"/>
          </a:xfrm>
          <a:prstGeom prst="rect">
            <a:avLst/>
          </a:prstGeom>
          <a:noFill/>
          <a:ln/>
        </p:spPr>
        <p:txBody>
          <a:bodyPr wrap="square" rtlCol="0" anchor="ctr"/>
          <a:lstStyle/>
          <a:p>
            <a:pPr indent="0" marL="0">
              <a:buNone/>
            </a:pPr>
            <a:r>
              <a:rPr lang="en-US" sz="850" b="1" dirty="0">
                <a:solidFill>
                  <a:srgbClr val="0A2C54"/>
                </a:solidFill>
                <a:latin typeface="Courier New" pitchFamily="34" charset="0"/>
                <a:ea typeface="Courier New" pitchFamily="34" charset="-122"/>
                <a:cs typeface="Courier New" pitchFamily="34" charset="-120"/>
              </a:rPr>
              <a:t>import_camtel_catalog</a:t>
            </a:r>
            <a:endParaRPr lang="en-US" sz="850" dirty="0"/>
          </a:p>
        </p:txBody>
      </p:sp>
      <p:sp>
        <p:nvSpPr>
          <p:cNvPr id="29" name="Text 27"/>
          <p:cNvSpPr/>
          <p:nvPr/>
        </p:nvSpPr>
        <p:spPr>
          <a:xfrm>
            <a:off x="4251960" y="3291840"/>
            <a:ext cx="7223760" cy="45720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Import idempotent (upsert par slug) — 42 offres importées lors de l'analyse</a:t>
            </a:r>
            <a:endParaRPr lang="en-US" sz="1000" dirty="0"/>
          </a:p>
        </p:txBody>
      </p:sp>
      <p:sp>
        <p:nvSpPr>
          <p:cNvPr id="30" name="Shape 28"/>
          <p:cNvSpPr/>
          <p:nvPr/>
        </p:nvSpPr>
        <p:spPr>
          <a:xfrm>
            <a:off x="548640" y="3822192"/>
            <a:ext cx="3566160" cy="457200"/>
          </a:xfrm>
          <a:prstGeom prst="roundRect">
            <a:avLst>
              <a:gd name="adj" fmla="val 10000"/>
            </a:avLst>
          </a:prstGeom>
          <a:solidFill>
            <a:srgbClr val="F4F6F8"/>
          </a:solidFill>
          <a:ln/>
        </p:spPr>
      </p:sp>
      <p:sp>
        <p:nvSpPr>
          <p:cNvPr id="31" name="Text 29"/>
          <p:cNvSpPr/>
          <p:nvPr/>
        </p:nvSpPr>
        <p:spPr>
          <a:xfrm>
            <a:off x="658368" y="3822192"/>
            <a:ext cx="3346704" cy="457200"/>
          </a:xfrm>
          <a:prstGeom prst="rect">
            <a:avLst/>
          </a:prstGeom>
          <a:noFill/>
          <a:ln/>
        </p:spPr>
        <p:txBody>
          <a:bodyPr wrap="square" rtlCol="0" anchor="ctr"/>
          <a:lstStyle/>
          <a:p>
            <a:pPr indent="0" marL="0">
              <a:buNone/>
            </a:pPr>
            <a:r>
              <a:rPr lang="en-US" sz="850" b="1" dirty="0">
                <a:solidFill>
                  <a:srgbClr val="0A2C54"/>
                </a:solidFill>
                <a:latin typeface="Courier New" pitchFamily="34" charset="0"/>
                <a:ea typeface="Courier New" pitchFamily="34" charset="-122"/>
                <a:cs typeface="Courier New" pitchFamily="34" charset="-120"/>
              </a:rPr>
              <a:t>catalog_diff --a ... --b ...</a:t>
            </a:r>
            <a:endParaRPr lang="en-US" sz="850" dirty="0"/>
          </a:p>
        </p:txBody>
      </p:sp>
      <p:sp>
        <p:nvSpPr>
          <p:cNvPr id="32" name="Text 30"/>
          <p:cNvSpPr/>
          <p:nvPr/>
        </p:nvSpPr>
        <p:spPr>
          <a:xfrm>
            <a:off x="4251960" y="3822192"/>
            <a:ext cx="7223760" cy="45720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Diff entre deux snapshots datés (NEW / UPDATED / REMOVED)</a:t>
            </a:r>
            <a:endParaRPr lang="en-US" sz="1000" dirty="0"/>
          </a:p>
        </p:txBody>
      </p:sp>
      <p:sp>
        <p:nvSpPr>
          <p:cNvPr id="33" name="Shape 31"/>
          <p:cNvSpPr/>
          <p:nvPr/>
        </p:nvSpPr>
        <p:spPr>
          <a:xfrm>
            <a:off x="548640" y="4352544"/>
            <a:ext cx="3566160" cy="457200"/>
          </a:xfrm>
          <a:prstGeom prst="roundRect">
            <a:avLst>
              <a:gd name="adj" fmla="val 10000"/>
            </a:avLst>
          </a:prstGeom>
          <a:solidFill>
            <a:srgbClr val="F4F6F8"/>
          </a:solidFill>
          <a:ln/>
        </p:spPr>
      </p:sp>
      <p:sp>
        <p:nvSpPr>
          <p:cNvPr id="34" name="Text 32"/>
          <p:cNvSpPr/>
          <p:nvPr/>
        </p:nvSpPr>
        <p:spPr>
          <a:xfrm>
            <a:off x="658368" y="4352544"/>
            <a:ext cx="3346704" cy="457200"/>
          </a:xfrm>
          <a:prstGeom prst="rect">
            <a:avLst/>
          </a:prstGeom>
          <a:noFill/>
          <a:ln/>
        </p:spPr>
        <p:txBody>
          <a:bodyPr wrap="square" rtlCol="0" anchor="ctr"/>
          <a:lstStyle/>
          <a:p>
            <a:pPr indent="0" marL="0">
              <a:buNone/>
            </a:pPr>
            <a:r>
              <a:rPr lang="en-US" sz="850" b="1" dirty="0">
                <a:solidFill>
                  <a:srgbClr val="0A2C54"/>
                </a:solidFill>
                <a:latin typeface="Courier New" pitchFamily="34" charset="0"/>
                <a:ea typeface="Courier New" pitchFamily="34" charset="-122"/>
                <a:cs typeface="Courier New" pitchFamily="34" charset="-120"/>
              </a:rPr>
              <a:t>attach_official_images</a:t>
            </a:r>
            <a:endParaRPr lang="en-US" sz="850" dirty="0"/>
          </a:p>
        </p:txBody>
      </p:sp>
      <p:sp>
        <p:nvSpPr>
          <p:cNvPr id="35" name="Text 33"/>
          <p:cNvSpPr/>
          <p:nvPr/>
        </p:nvSpPr>
        <p:spPr>
          <a:xfrm>
            <a:off x="4251960" y="4352544"/>
            <a:ext cx="7223760" cy="45720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Association d'images officielles aux fiches produit</a:t>
            </a:r>
            <a:endParaRPr lang="en-US" sz="1000" dirty="0"/>
          </a:p>
        </p:txBody>
      </p:sp>
      <p:sp>
        <p:nvSpPr>
          <p:cNvPr id="36" name="Shape 34"/>
          <p:cNvSpPr/>
          <p:nvPr/>
        </p:nvSpPr>
        <p:spPr>
          <a:xfrm>
            <a:off x="548640" y="4882896"/>
            <a:ext cx="3566160" cy="457200"/>
          </a:xfrm>
          <a:prstGeom prst="roundRect">
            <a:avLst>
              <a:gd name="adj" fmla="val 10000"/>
            </a:avLst>
          </a:prstGeom>
          <a:solidFill>
            <a:srgbClr val="F4F6F8"/>
          </a:solidFill>
          <a:ln/>
        </p:spPr>
      </p:sp>
      <p:sp>
        <p:nvSpPr>
          <p:cNvPr id="37" name="Text 35"/>
          <p:cNvSpPr/>
          <p:nvPr/>
        </p:nvSpPr>
        <p:spPr>
          <a:xfrm>
            <a:off x="658368" y="4882896"/>
            <a:ext cx="3346704" cy="457200"/>
          </a:xfrm>
          <a:prstGeom prst="rect">
            <a:avLst/>
          </a:prstGeom>
          <a:noFill/>
          <a:ln/>
        </p:spPr>
        <p:txBody>
          <a:bodyPr wrap="square" rtlCol="0" anchor="ctr"/>
          <a:lstStyle/>
          <a:p>
            <a:pPr indent="0" marL="0">
              <a:buNone/>
            </a:pPr>
            <a:r>
              <a:rPr lang="en-US" sz="850" b="1" dirty="0">
                <a:solidFill>
                  <a:srgbClr val="0A2C54"/>
                </a:solidFill>
                <a:latin typeface="Courier New" pitchFamily="34" charset="0"/>
                <a:ea typeface="Courier New" pitchFamily="34" charset="-122"/>
                <a:cs typeface="Courier New" pitchFamily="34" charset="-120"/>
              </a:rPr>
              <a:t>validate_camtel_data</a:t>
            </a:r>
            <a:endParaRPr lang="en-US" sz="850" dirty="0"/>
          </a:p>
        </p:txBody>
      </p:sp>
      <p:sp>
        <p:nvSpPr>
          <p:cNvPr id="38" name="Text 36"/>
          <p:cNvSpPr/>
          <p:nvPr/>
        </p:nvSpPr>
        <p:spPr>
          <a:xfrm>
            <a:off x="4251960" y="4882896"/>
            <a:ext cx="7223760" cy="45720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Contrôle qualité du catalogue en base</a:t>
            </a:r>
            <a:endParaRPr lang="en-US" sz="1000" dirty="0"/>
          </a:p>
        </p:txBody>
      </p:sp>
      <p:sp>
        <p:nvSpPr>
          <p:cNvPr id="39" name="Text 37"/>
          <p:cNvSpPr/>
          <p:nvPr/>
        </p:nvSpPr>
        <p:spPr>
          <a:xfrm>
            <a:off x="548640" y="5669280"/>
            <a:ext cx="11064240" cy="548640"/>
          </a:xfrm>
          <a:prstGeom prst="rect">
            <a:avLst/>
          </a:prstGeom>
          <a:noFill/>
          <a:ln/>
        </p:spPr>
        <p:txBody>
          <a:bodyPr wrap="square" rtlCol="0" anchor="ctr"/>
          <a:lstStyle/>
          <a:p>
            <a:pPr indent="0" marL="0">
              <a:buNone/>
            </a:pPr>
            <a:r>
              <a:rPr lang="en-US" sz="1050" b="1" i="1" dirty="0">
                <a:solidFill>
                  <a:srgbClr val="0A2C54"/>
                </a:solidFill>
                <a:latin typeface="Calibri" pitchFamily="34" charset="0"/>
                <a:ea typeface="Calibri" pitchFamily="34" charset="-122"/>
                <a:cs typeface="Calibri" pitchFamily="34" charset="-120"/>
              </a:rPr>
              <a:t>Règle de gouvernance : une offre marquée OFFICIAL est rejetée à l'import si sa source (source_url) est absente — aucune offre commerciale affichée sans traçabilité.</a:t>
            </a:r>
            <a:endParaRPr lang="en-US" sz="1050" dirty="0"/>
          </a:p>
        </p:txBody>
      </p:sp>
      <p:sp>
        <p:nvSpPr>
          <p:cNvPr id="40" name="Text 38"/>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Données — Catalogue</a:t>
            </a:r>
            <a:endParaRPr lang="en-US" sz="900" dirty="0"/>
          </a:p>
        </p:txBody>
      </p:sp>
      <p:sp>
        <p:nvSpPr>
          <p:cNvPr id="41" name="Text 39"/>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42" name="Text 40"/>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DONNÉES</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Modèle conceptuel de données (simplifié)</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57200" y="1417320"/>
            <a:ext cx="1965960" cy="749808"/>
          </a:xfrm>
          <a:prstGeom prst="roundRect">
            <a:avLst>
              <a:gd name="adj" fmla="val 6098"/>
            </a:avLst>
          </a:prstGeom>
          <a:solidFill>
            <a:srgbClr val="FFFFFF"/>
          </a:solidFill>
          <a:ln w="19050">
            <a:solidFill>
              <a:srgbClr val="0A2C54"/>
            </a:solidFill>
            <a:prstDash val="solid"/>
          </a:ln>
          <a:effectLst>
            <a:outerShdw sx="100000" sy="100000" kx="0" ky="0" algn="bl" rotWithShape="0" blurRad="63500" dist="25400" dir="5400000">
              <a:srgbClr val="94A3B8">
                <a:alpha val="25000"/>
              </a:srgbClr>
            </a:outerShdw>
          </a:effectLst>
        </p:spPr>
      </p:sp>
      <p:sp>
        <p:nvSpPr>
          <p:cNvPr id="7" name="Shape 5"/>
          <p:cNvSpPr/>
          <p:nvPr/>
        </p:nvSpPr>
        <p:spPr>
          <a:xfrm>
            <a:off x="457200" y="1417320"/>
            <a:ext cx="1965960" cy="274320"/>
          </a:xfrm>
          <a:prstGeom prst="rect">
            <a:avLst/>
          </a:prstGeom>
          <a:solidFill>
            <a:srgbClr val="0A2C54"/>
          </a:solidFill>
          <a:ln/>
        </p:spPr>
      </p:sp>
      <p:sp>
        <p:nvSpPr>
          <p:cNvPr id="8" name="Text 6"/>
          <p:cNvSpPr/>
          <p:nvPr/>
        </p:nvSpPr>
        <p:spPr>
          <a:xfrm>
            <a:off x="457200" y="1417320"/>
            <a:ext cx="196596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User</a:t>
            </a:r>
            <a:endParaRPr lang="en-US" sz="1000" dirty="0"/>
          </a:p>
        </p:txBody>
      </p:sp>
      <p:sp>
        <p:nvSpPr>
          <p:cNvPr id="9" name="Text 7"/>
          <p:cNvSpPr/>
          <p:nvPr/>
        </p:nvSpPr>
        <p:spPr>
          <a:xfrm>
            <a:off x="548640" y="1709928"/>
            <a:ext cx="17830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id, username, email</a:t>
            </a:r>
            <a:endParaRPr lang="en-US" sz="780" dirty="0"/>
          </a:p>
        </p:txBody>
      </p:sp>
      <p:sp>
        <p:nvSpPr>
          <p:cNvPr id="10" name="Text 8"/>
          <p:cNvSpPr/>
          <p:nvPr/>
        </p:nvSpPr>
        <p:spPr>
          <a:xfrm>
            <a:off x="548640" y="1929384"/>
            <a:ext cx="17830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role (RBAC)</a:t>
            </a:r>
            <a:endParaRPr lang="en-US" sz="780" dirty="0"/>
          </a:p>
        </p:txBody>
      </p:sp>
      <p:sp>
        <p:nvSpPr>
          <p:cNvPr id="11" name="Shape 9"/>
          <p:cNvSpPr/>
          <p:nvPr/>
        </p:nvSpPr>
        <p:spPr>
          <a:xfrm>
            <a:off x="457200" y="2606040"/>
            <a:ext cx="1965960" cy="749808"/>
          </a:xfrm>
          <a:prstGeom prst="roundRect">
            <a:avLst>
              <a:gd name="adj" fmla="val 6098"/>
            </a:avLst>
          </a:prstGeom>
          <a:solidFill>
            <a:srgbClr val="FFFFFF"/>
          </a:solidFill>
          <a:ln w="19050">
            <a:solidFill>
              <a:srgbClr val="5B6472"/>
            </a:solidFill>
            <a:prstDash val="solid"/>
          </a:ln>
          <a:effectLst>
            <a:outerShdw sx="100000" sy="100000" kx="0" ky="0" algn="bl" rotWithShape="0" blurRad="63500" dist="25400" dir="5400000">
              <a:srgbClr val="94A3B8">
                <a:alpha val="25000"/>
              </a:srgbClr>
            </a:outerShdw>
          </a:effectLst>
        </p:spPr>
      </p:sp>
      <p:sp>
        <p:nvSpPr>
          <p:cNvPr id="12" name="Shape 10"/>
          <p:cNvSpPr/>
          <p:nvPr/>
        </p:nvSpPr>
        <p:spPr>
          <a:xfrm>
            <a:off x="457200" y="2606040"/>
            <a:ext cx="1965960" cy="274320"/>
          </a:xfrm>
          <a:prstGeom prst="rect">
            <a:avLst/>
          </a:prstGeom>
          <a:solidFill>
            <a:srgbClr val="5B6472"/>
          </a:solidFill>
          <a:ln/>
        </p:spPr>
      </p:sp>
      <p:sp>
        <p:nvSpPr>
          <p:cNvPr id="13" name="Text 11"/>
          <p:cNvSpPr/>
          <p:nvPr/>
        </p:nvSpPr>
        <p:spPr>
          <a:xfrm>
            <a:off x="457200" y="2606040"/>
            <a:ext cx="196596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SupportTicket</a:t>
            </a:r>
            <a:endParaRPr lang="en-US" sz="1000" dirty="0"/>
          </a:p>
        </p:txBody>
      </p:sp>
      <p:sp>
        <p:nvSpPr>
          <p:cNvPr id="14" name="Text 12"/>
          <p:cNvSpPr/>
          <p:nvPr/>
        </p:nvSpPr>
        <p:spPr>
          <a:xfrm>
            <a:off x="548640" y="2898648"/>
            <a:ext cx="17830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client_id (FK)</a:t>
            </a:r>
            <a:endParaRPr lang="en-US" sz="780" dirty="0"/>
          </a:p>
        </p:txBody>
      </p:sp>
      <p:sp>
        <p:nvSpPr>
          <p:cNvPr id="15" name="Text 13"/>
          <p:cNvSpPr/>
          <p:nvPr/>
        </p:nvSpPr>
        <p:spPr>
          <a:xfrm>
            <a:off x="548640" y="3118104"/>
            <a:ext cx="17830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status, priority</a:t>
            </a:r>
            <a:endParaRPr lang="en-US" sz="780" dirty="0"/>
          </a:p>
        </p:txBody>
      </p:sp>
      <p:sp>
        <p:nvSpPr>
          <p:cNvPr id="16" name="Shape 14"/>
          <p:cNvSpPr/>
          <p:nvPr/>
        </p:nvSpPr>
        <p:spPr>
          <a:xfrm>
            <a:off x="457200" y="3794760"/>
            <a:ext cx="1965960" cy="749808"/>
          </a:xfrm>
          <a:prstGeom prst="roundRect">
            <a:avLst>
              <a:gd name="adj" fmla="val 6098"/>
            </a:avLst>
          </a:prstGeom>
          <a:solidFill>
            <a:srgbClr val="FFFFFF"/>
          </a:solidFill>
          <a:ln w="19050">
            <a:solidFill>
              <a:srgbClr val="5B6472"/>
            </a:solidFill>
            <a:prstDash val="solid"/>
          </a:ln>
          <a:effectLst>
            <a:outerShdw sx="100000" sy="100000" kx="0" ky="0" algn="bl" rotWithShape="0" blurRad="63500" dist="25400" dir="5400000">
              <a:srgbClr val="94A3B8">
                <a:alpha val="25000"/>
              </a:srgbClr>
            </a:outerShdw>
          </a:effectLst>
        </p:spPr>
      </p:sp>
      <p:sp>
        <p:nvSpPr>
          <p:cNvPr id="17" name="Shape 15"/>
          <p:cNvSpPr/>
          <p:nvPr/>
        </p:nvSpPr>
        <p:spPr>
          <a:xfrm>
            <a:off x="457200" y="3794760"/>
            <a:ext cx="1965960" cy="274320"/>
          </a:xfrm>
          <a:prstGeom prst="rect">
            <a:avLst/>
          </a:prstGeom>
          <a:solidFill>
            <a:srgbClr val="5B6472"/>
          </a:solidFill>
          <a:ln/>
        </p:spPr>
      </p:sp>
      <p:sp>
        <p:nvSpPr>
          <p:cNvPr id="18" name="Text 16"/>
          <p:cNvSpPr/>
          <p:nvPr/>
        </p:nvSpPr>
        <p:spPr>
          <a:xfrm>
            <a:off x="457200" y="3794760"/>
            <a:ext cx="196596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Notification</a:t>
            </a:r>
            <a:endParaRPr lang="en-US" sz="1000" dirty="0"/>
          </a:p>
        </p:txBody>
      </p:sp>
      <p:sp>
        <p:nvSpPr>
          <p:cNvPr id="19" name="Text 17"/>
          <p:cNvSpPr/>
          <p:nvPr/>
        </p:nvSpPr>
        <p:spPr>
          <a:xfrm>
            <a:off x="548640" y="4087368"/>
            <a:ext cx="17830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user_id (FK)</a:t>
            </a:r>
            <a:endParaRPr lang="en-US" sz="780" dirty="0"/>
          </a:p>
        </p:txBody>
      </p:sp>
      <p:sp>
        <p:nvSpPr>
          <p:cNvPr id="20" name="Text 18"/>
          <p:cNvSpPr/>
          <p:nvPr/>
        </p:nvSpPr>
        <p:spPr>
          <a:xfrm>
            <a:off x="548640" y="4306824"/>
            <a:ext cx="17830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channel, is_read</a:t>
            </a:r>
            <a:endParaRPr lang="en-US" sz="780" dirty="0"/>
          </a:p>
        </p:txBody>
      </p:sp>
      <p:sp>
        <p:nvSpPr>
          <p:cNvPr id="21" name="Shape 19"/>
          <p:cNvSpPr/>
          <p:nvPr/>
        </p:nvSpPr>
        <p:spPr>
          <a:xfrm>
            <a:off x="2788920" y="1417320"/>
            <a:ext cx="2103120" cy="749808"/>
          </a:xfrm>
          <a:prstGeom prst="roundRect">
            <a:avLst>
              <a:gd name="adj" fmla="val 6098"/>
            </a:avLst>
          </a:prstGeom>
          <a:solidFill>
            <a:srgbClr val="FFFFFF"/>
          </a:solidFill>
          <a:ln w="19050">
            <a:solidFill>
              <a:srgbClr val="0B57A4"/>
            </a:solidFill>
            <a:prstDash val="solid"/>
          </a:ln>
          <a:effectLst>
            <a:outerShdw sx="100000" sy="100000" kx="0" ky="0" algn="bl" rotWithShape="0" blurRad="63500" dist="25400" dir="5400000">
              <a:srgbClr val="94A3B8">
                <a:alpha val="25000"/>
              </a:srgbClr>
            </a:outerShdw>
          </a:effectLst>
        </p:spPr>
      </p:sp>
      <p:sp>
        <p:nvSpPr>
          <p:cNvPr id="22" name="Shape 20"/>
          <p:cNvSpPr/>
          <p:nvPr/>
        </p:nvSpPr>
        <p:spPr>
          <a:xfrm>
            <a:off x="2788920" y="1417320"/>
            <a:ext cx="2103120" cy="274320"/>
          </a:xfrm>
          <a:prstGeom prst="rect">
            <a:avLst/>
          </a:prstGeom>
          <a:solidFill>
            <a:srgbClr val="0B57A4"/>
          </a:solidFill>
          <a:ln/>
        </p:spPr>
      </p:sp>
      <p:sp>
        <p:nvSpPr>
          <p:cNvPr id="23" name="Text 21"/>
          <p:cNvSpPr/>
          <p:nvPr/>
        </p:nvSpPr>
        <p:spPr>
          <a:xfrm>
            <a:off x="2788920" y="1417320"/>
            <a:ext cx="210312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Service</a:t>
            </a:r>
            <a:endParaRPr lang="en-US" sz="1000" dirty="0"/>
          </a:p>
        </p:txBody>
      </p:sp>
      <p:sp>
        <p:nvSpPr>
          <p:cNvPr id="24" name="Text 22"/>
          <p:cNvSpPr/>
          <p:nvPr/>
        </p:nvSpPr>
        <p:spPr>
          <a:xfrm>
            <a:off x="2880360" y="1709928"/>
            <a:ext cx="192024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id, code, slug</a:t>
            </a:r>
            <a:endParaRPr lang="en-US" sz="780" dirty="0"/>
          </a:p>
        </p:txBody>
      </p:sp>
      <p:sp>
        <p:nvSpPr>
          <p:cNvPr id="25" name="Text 23"/>
          <p:cNvSpPr/>
          <p:nvPr/>
        </p:nvSpPr>
        <p:spPr>
          <a:xfrm>
            <a:off x="2880360" y="1929384"/>
            <a:ext cx="192024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FIXED/MOBILE/…</a:t>
            </a:r>
            <a:endParaRPr lang="en-US" sz="780" dirty="0"/>
          </a:p>
        </p:txBody>
      </p:sp>
      <p:sp>
        <p:nvSpPr>
          <p:cNvPr id="26" name="Shape 24"/>
          <p:cNvSpPr/>
          <p:nvPr/>
        </p:nvSpPr>
        <p:spPr>
          <a:xfrm>
            <a:off x="2788920" y="2514600"/>
            <a:ext cx="2103120" cy="530352"/>
          </a:xfrm>
          <a:prstGeom prst="roundRect">
            <a:avLst>
              <a:gd name="adj" fmla="val 8621"/>
            </a:avLst>
          </a:prstGeom>
          <a:solidFill>
            <a:srgbClr val="FFFFFF"/>
          </a:solidFill>
          <a:ln w="19050">
            <a:solidFill>
              <a:srgbClr val="0B57A4"/>
            </a:solidFill>
            <a:prstDash val="solid"/>
          </a:ln>
          <a:effectLst>
            <a:outerShdw sx="100000" sy="100000" kx="0" ky="0" algn="bl" rotWithShape="0" blurRad="63500" dist="25400" dir="5400000">
              <a:srgbClr val="94A3B8">
                <a:alpha val="25000"/>
              </a:srgbClr>
            </a:outerShdw>
          </a:effectLst>
        </p:spPr>
      </p:sp>
      <p:sp>
        <p:nvSpPr>
          <p:cNvPr id="27" name="Shape 25"/>
          <p:cNvSpPr/>
          <p:nvPr/>
        </p:nvSpPr>
        <p:spPr>
          <a:xfrm>
            <a:off x="2788920" y="2514600"/>
            <a:ext cx="2103120" cy="274320"/>
          </a:xfrm>
          <a:prstGeom prst="rect">
            <a:avLst/>
          </a:prstGeom>
          <a:solidFill>
            <a:srgbClr val="0B57A4"/>
          </a:solidFill>
          <a:ln/>
        </p:spPr>
      </p:sp>
      <p:sp>
        <p:nvSpPr>
          <p:cNvPr id="28" name="Text 26"/>
          <p:cNvSpPr/>
          <p:nvPr/>
        </p:nvSpPr>
        <p:spPr>
          <a:xfrm>
            <a:off x="2788920" y="2514600"/>
            <a:ext cx="210312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Segment</a:t>
            </a:r>
            <a:endParaRPr lang="en-US" sz="1000" dirty="0"/>
          </a:p>
        </p:txBody>
      </p:sp>
      <p:sp>
        <p:nvSpPr>
          <p:cNvPr id="29" name="Text 27"/>
          <p:cNvSpPr/>
          <p:nvPr/>
        </p:nvSpPr>
        <p:spPr>
          <a:xfrm>
            <a:off x="2880360" y="2807208"/>
            <a:ext cx="192024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id, code, slug</a:t>
            </a:r>
            <a:endParaRPr lang="en-US" sz="780" dirty="0"/>
          </a:p>
        </p:txBody>
      </p:sp>
      <p:sp>
        <p:nvSpPr>
          <p:cNvPr id="30" name="Shape 28"/>
          <p:cNvSpPr/>
          <p:nvPr/>
        </p:nvSpPr>
        <p:spPr>
          <a:xfrm>
            <a:off x="2788920" y="3337560"/>
            <a:ext cx="2103120" cy="969264"/>
          </a:xfrm>
          <a:prstGeom prst="roundRect">
            <a:avLst>
              <a:gd name="adj" fmla="val 4717"/>
            </a:avLst>
          </a:prstGeom>
          <a:solidFill>
            <a:srgbClr val="FFFFFF"/>
          </a:solidFill>
          <a:ln w="19050">
            <a:solidFill>
              <a:srgbClr val="0B57A4"/>
            </a:solidFill>
            <a:prstDash val="solid"/>
          </a:ln>
          <a:effectLst>
            <a:outerShdw sx="100000" sy="100000" kx="0" ky="0" algn="bl" rotWithShape="0" blurRad="63500" dist="25400" dir="5400000">
              <a:srgbClr val="94A3B8">
                <a:alpha val="25000"/>
              </a:srgbClr>
            </a:outerShdw>
          </a:effectLst>
        </p:spPr>
      </p:sp>
      <p:sp>
        <p:nvSpPr>
          <p:cNvPr id="31" name="Shape 29"/>
          <p:cNvSpPr/>
          <p:nvPr/>
        </p:nvSpPr>
        <p:spPr>
          <a:xfrm>
            <a:off x="2788920" y="3337560"/>
            <a:ext cx="2103120" cy="274320"/>
          </a:xfrm>
          <a:prstGeom prst="rect">
            <a:avLst/>
          </a:prstGeom>
          <a:solidFill>
            <a:srgbClr val="0B57A4"/>
          </a:solidFill>
          <a:ln/>
        </p:spPr>
      </p:sp>
      <p:sp>
        <p:nvSpPr>
          <p:cNvPr id="32" name="Text 30"/>
          <p:cNvSpPr/>
          <p:nvPr/>
        </p:nvSpPr>
        <p:spPr>
          <a:xfrm>
            <a:off x="2788920" y="3337560"/>
            <a:ext cx="210312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Product</a:t>
            </a:r>
            <a:endParaRPr lang="en-US" sz="1000" dirty="0"/>
          </a:p>
        </p:txBody>
      </p:sp>
      <p:sp>
        <p:nvSpPr>
          <p:cNvPr id="33" name="Text 31"/>
          <p:cNvSpPr/>
          <p:nvPr/>
        </p:nvSpPr>
        <p:spPr>
          <a:xfrm>
            <a:off x="2880360" y="3630168"/>
            <a:ext cx="192024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id, name, slug</a:t>
            </a:r>
            <a:endParaRPr lang="en-US" sz="780" dirty="0"/>
          </a:p>
        </p:txBody>
      </p:sp>
      <p:sp>
        <p:nvSpPr>
          <p:cNvPr id="34" name="Text 32"/>
          <p:cNvSpPr/>
          <p:nvPr/>
        </p:nvSpPr>
        <p:spPr>
          <a:xfrm>
            <a:off x="2880360" y="3849624"/>
            <a:ext cx="192024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service_id, segment(s)</a:t>
            </a:r>
            <a:endParaRPr lang="en-US" sz="780" dirty="0"/>
          </a:p>
        </p:txBody>
      </p:sp>
      <p:sp>
        <p:nvSpPr>
          <p:cNvPr id="35" name="Text 33"/>
          <p:cNvSpPr/>
          <p:nvPr/>
        </p:nvSpPr>
        <p:spPr>
          <a:xfrm>
            <a:off x="2880360" y="4069080"/>
            <a:ext cx="192024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price, pricing_type</a:t>
            </a:r>
            <a:endParaRPr lang="en-US" sz="780" dirty="0"/>
          </a:p>
        </p:txBody>
      </p:sp>
      <p:sp>
        <p:nvSpPr>
          <p:cNvPr id="36" name="Shape 34"/>
          <p:cNvSpPr/>
          <p:nvPr/>
        </p:nvSpPr>
        <p:spPr>
          <a:xfrm>
            <a:off x="2788920" y="4892040"/>
            <a:ext cx="2103120" cy="749808"/>
          </a:xfrm>
          <a:prstGeom prst="roundRect">
            <a:avLst>
              <a:gd name="adj" fmla="val 6098"/>
            </a:avLst>
          </a:prstGeom>
          <a:solidFill>
            <a:srgbClr val="FFFFFF"/>
          </a:solidFill>
          <a:ln w="19050">
            <a:solidFill>
              <a:srgbClr val="5B8FCB"/>
            </a:solidFill>
            <a:prstDash val="solid"/>
          </a:ln>
          <a:effectLst>
            <a:outerShdw sx="100000" sy="100000" kx="0" ky="0" algn="bl" rotWithShape="0" blurRad="63500" dist="25400" dir="5400000">
              <a:srgbClr val="94A3B8">
                <a:alpha val="25000"/>
              </a:srgbClr>
            </a:outerShdw>
          </a:effectLst>
        </p:spPr>
      </p:sp>
      <p:sp>
        <p:nvSpPr>
          <p:cNvPr id="37" name="Shape 35"/>
          <p:cNvSpPr/>
          <p:nvPr/>
        </p:nvSpPr>
        <p:spPr>
          <a:xfrm>
            <a:off x="2788920" y="4892040"/>
            <a:ext cx="2103120" cy="274320"/>
          </a:xfrm>
          <a:prstGeom prst="rect">
            <a:avLst/>
          </a:prstGeom>
          <a:solidFill>
            <a:srgbClr val="5B8FCB"/>
          </a:solidFill>
          <a:ln/>
        </p:spPr>
      </p:sp>
      <p:sp>
        <p:nvSpPr>
          <p:cNvPr id="38" name="Text 36"/>
          <p:cNvSpPr/>
          <p:nvPr/>
        </p:nvSpPr>
        <p:spPr>
          <a:xfrm>
            <a:off x="2788920" y="4892040"/>
            <a:ext cx="210312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ProductImage</a:t>
            </a:r>
            <a:endParaRPr lang="en-US" sz="1000" dirty="0"/>
          </a:p>
        </p:txBody>
      </p:sp>
      <p:sp>
        <p:nvSpPr>
          <p:cNvPr id="39" name="Text 37"/>
          <p:cNvSpPr/>
          <p:nvPr/>
        </p:nvSpPr>
        <p:spPr>
          <a:xfrm>
            <a:off x="2880360" y="5184648"/>
            <a:ext cx="192024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product_id (FK)</a:t>
            </a:r>
            <a:endParaRPr lang="en-US" sz="780" dirty="0"/>
          </a:p>
        </p:txBody>
      </p:sp>
      <p:sp>
        <p:nvSpPr>
          <p:cNvPr id="40" name="Text 38"/>
          <p:cNvSpPr/>
          <p:nvPr/>
        </p:nvSpPr>
        <p:spPr>
          <a:xfrm>
            <a:off x="2880360" y="5404104"/>
            <a:ext cx="192024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image, is_primary</a:t>
            </a:r>
            <a:endParaRPr lang="en-US" sz="780" dirty="0"/>
          </a:p>
        </p:txBody>
      </p:sp>
      <p:sp>
        <p:nvSpPr>
          <p:cNvPr id="41" name="Shape 39"/>
          <p:cNvSpPr/>
          <p:nvPr/>
        </p:nvSpPr>
        <p:spPr>
          <a:xfrm>
            <a:off x="5257800" y="1417320"/>
            <a:ext cx="2286000" cy="749808"/>
          </a:xfrm>
          <a:prstGeom prst="roundRect">
            <a:avLst>
              <a:gd name="adj" fmla="val 6098"/>
            </a:avLst>
          </a:prstGeom>
          <a:solidFill>
            <a:srgbClr val="FFFFFF"/>
          </a:solidFill>
          <a:ln w="19050">
            <a:solidFill>
              <a:srgbClr val="5B8FCB"/>
            </a:solidFill>
            <a:prstDash val="solid"/>
          </a:ln>
          <a:effectLst>
            <a:outerShdw sx="100000" sy="100000" kx="0" ky="0" algn="bl" rotWithShape="0" blurRad="63500" dist="25400" dir="5400000">
              <a:srgbClr val="94A3B8">
                <a:alpha val="25000"/>
              </a:srgbClr>
            </a:outerShdw>
          </a:effectLst>
        </p:spPr>
      </p:sp>
      <p:sp>
        <p:nvSpPr>
          <p:cNvPr id="42" name="Shape 40"/>
          <p:cNvSpPr/>
          <p:nvPr/>
        </p:nvSpPr>
        <p:spPr>
          <a:xfrm>
            <a:off x="5257800" y="1417320"/>
            <a:ext cx="2286000" cy="274320"/>
          </a:xfrm>
          <a:prstGeom prst="rect">
            <a:avLst/>
          </a:prstGeom>
          <a:solidFill>
            <a:srgbClr val="5B8FCB"/>
          </a:solidFill>
          <a:ln/>
        </p:spPr>
      </p:sp>
      <p:sp>
        <p:nvSpPr>
          <p:cNvPr id="43" name="Text 41"/>
          <p:cNvSpPr/>
          <p:nvPr/>
        </p:nvSpPr>
        <p:spPr>
          <a:xfrm>
            <a:off x="5257800" y="1417320"/>
            <a:ext cx="22860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ProductSource</a:t>
            </a:r>
            <a:endParaRPr lang="en-US" sz="1000" dirty="0"/>
          </a:p>
        </p:txBody>
      </p:sp>
      <p:sp>
        <p:nvSpPr>
          <p:cNvPr id="44" name="Text 42"/>
          <p:cNvSpPr/>
          <p:nvPr/>
        </p:nvSpPr>
        <p:spPr>
          <a:xfrm>
            <a:off x="5349240" y="1709928"/>
            <a:ext cx="210312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product_id (FK)</a:t>
            </a:r>
            <a:endParaRPr lang="en-US" sz="780" dirty="0"/>
          </a:p>
        </p:txBody>
      </p:sp>
      <p:sp>
        <p:nvSpPr>
          <p:cNvPr id="45" name="Text 43"/>
          <p:cNvSpPr/>
          <p:nvPr/>
        </p:nvSpPr>
        <p:spPr>
          <a:xfrm>
            <a:off x="5349240" y="1929384"/>
            <a:ext cx="210312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source_url, verified_at</a:t>
            </a:r>
            <a:endParaRPr lang="en-US" sz="780" dirty="0"/>
          </a:p>
        </p:txBody>
      </p:sp>
      <p:sp>
        <p:nvSpPr>
          <p:cNvPr id="46" name="Shape 44"/>
          <p:cNvSpPr/>
          <p:nvPr/>
        </p:nvSpPr>
        <p:spPr>
          <a:xfrm>
            <a:off x="5257800" y="2423160"/>
            <a:ext cx="2286000" cy="969264"/>
          </a:xfrm>
          <a:prstGeom prst="roundRect">
            <a:avLst>
              <a:gd name="adj" fmla="val 4717"/>
            </a:avLst>
          </a:prstGeom>
          <a:solidFill>
            <a:srgbClr val="FFFFFF"/>
          </a:solidFill>
          <a:ln w="19050">
            <a:solidFill>
              <a:srgbClr val="1AA260"/>
            </a:solidFill>
            <a:prstDash val="solid"/>
          </a:ln>
          <a:effectLst>
            <a:outerShdw sx="100000" sy="100000" kx="0" ky="0" algn="bl" rotWithShape="0" blurRad="63500" dist="25400" dir="5400000">
              <a:srgbClr val="94A3B8">
                <a:alpha val="25000"/>
              </a:srgbClr>
            </a:outerShdw>
          </a:effectLst>
        </p:spPr>
      </p:sp>
      <p:sp>
        <p:nvSpPr>
          <p:cNvPr id="47" name="Shape 45"/>
          <p:cNvSpPr/>
          <p:nvPr/>
        </p:nvSpPr>
        <p:spPr>
          <a:xfrm>
            <a:off x="5257800" y="2423160"/>
            <a:ext cx="2286000" cy="274320"/>
          </a:xfrm>
          <a:prstGeom prst="rect">
            <a:avLst/>
          </a:prstGeom>
          <a:solidFill>
            <a:srgbClr val="1AA260"/>
          </a:solidFill>
          <a:ln/>
        </p:spPr>
      </p:sp>
      <p:sp>
        <p:nvSpPr>
          <p:cNvPr id="48" name="Text 46"/>
          <p:cNvSpPr/>
          <p:nvPr/>
        </p:nvSpPr>
        <p:spPr>
          <a:xfrm>
            <a:off x="5257800" y="2423160"/>
            <a:ext cx="22860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SubscriptionRequest</a:t>
            </a:r>
            <a:endParaRPr lang="en-US" sz="1000" dirty="0"/>
          </a:p>
        </p:txBody>
      </p:sp>
      <p:sp>
        <p:nvSpPr>
          <p:cNvPr id="49" name="Text 47"/>
          <p:cNvSpPr/>
          <p:nvPr/>
        </p:nvSpPr>
        <p:spPr>
          <a:xfrm>
            <a:off x="5349240" y="2715768"/>
            <a:ext cx="210312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id, request_number</a:t>
            </a:r>
            <a:endParaRPr lang="en-US" sz="780" dirty="0"/>
          </a:p>
        </p:txBody>
      </p:sp>
      <p:sp>
        <p:nvSpPr>
          <p:cNvPr id="50" name="Text 48"/>
          <p:cNvSpPr/>
          <p:nvPr/>
        </p:nvSpPr>
        <p:spPr>
          <a:xfrm>
            <a:off x="5349240" y="2935224"/>
            <a:ext cx="210312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user_id, product_id</a:t>
            </a:r>
            <a:endParaRPr lang="en-US" sz="780" dirty="0"/>
          </a:p>
        </p:txBody>
      </p:sp>
      <p:sp>
        <p:nvSpPr>
          <p:cNvPr id="51" name="Text 49"/>
          <p:cNvSpPr/>
          <p:nvPr/>
        </p:nvSpPr>
        <p:spPr>
          <a:xfrm>
            <a:off x="5349240" y="3154680"/>
            <a:ext cx="210312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status</a:t>
            </a:r>
            <a:endParaRPr lang="en-US" sz="780" dirty="0"/>
          </a:p>
        </p:txBody>
      </p:sp>
      <p:sp>
        <p:nvSpPr>
          <p:cNvPr id="52" name="Shape 50"/>
          <p:cNvSpPr/>
          <p:nvPr/>
        </p:nvSpPr>
        <p:spPr>
          <a:xfrm>
            <a:off x="5257800" y="3794760"/>
            <a:ext cx="2286000" cy="749808"/>
          </a:xfrm>
          <a:prstGeom prst="roundRect">
            <a:avLst>
              <a:gd name="adj" fmla="val 6098"/>
            </a:avLst>
          </a:prstGeom>
          <a:solidFill>
            <a:srgbClr val="FFFFFF"/>
          </a:solidFill>
          <a:ln w="19050">
            <a:solidFill>
              <a:srgbClr val="6FBF95"/>
            </a:solidFill>
            <a:prstDash val="solid"/>
          </a:ln>
          <a:effectLst>
            <a:outerShdw sx="100000" sy="100000" kx="0" ky="0" algn="bl" rotWithShape="0" blurRad="63500" dist="25400" dir="5400000">
              <a:srgbClr val="94A3B8">
                <a:alpha val="25000"/>
              </a:srgbClr>
            </a:outerShdw>
          </a:effectLst>
        </p:spPr>
      </p:sp>
      <p:sp>
        <p:nvSpPr>
          <p:cNvPr id="53" name="Shape 51"/>
          <p:cNvSpPr/>
          <p:nvPr/>
        </p:nvSpPr>
        <p:spPr>
          <a:xfrm>
            <a:off x="5257800" y="3794760"/>
            <a:ext cx="2286000" cy="274320"/>
          </a:xfrm>
          <a:prstGeom prst="rect">
            <a:avLst/>
          </a:prstGeom>
          <a:solidFill>
            <a:srgbClr val="6FBF95"/>
          </a:solidFill>
          <a:ln/>
        </p:spPr>
      </p:sp>
      <p:sp>
        <p:nvSpPr>
          <p:cNvPr id="54" name="Text 52"/>
          <p:cNvSpPr/>
          <p:nvPr/>
        </p:nvSpPr>
        <p:spPr>
          <a:xfrm>
            <a:off x="5257800" y="3794760"/>
            <a:ext cx="22860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SubscriptionStatusHistory</a:t>
            </a:r>
            <a:endParaRPr lang="en-US" sz="1000" dirty="0"/>
          </a:p>
        </p:txBody>
      </p:sp>
      <p:sp>
        <p:nvSpPr>
          <p:cNvPr id="55" name="Text 53"/>
          <p:cNvSpPr/>
          <p:nvPr/>
        </p:nvSpPr>
        <p:spPr>
          <a:xfrm>
            <a:off x="5349240" y="4087368"/>
            <a:ext cx="210312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subscription_id (FK)</a:t>
            </a:r>
            <a:endParaRPr lang="en-US" sz="780" dirty="0"/>
          </a:p>
        </p:txBody>
      </p:sp>
      <p:sp>
        <p:nvSpPr>
          <p:cNvPr id="56" name="Text 54"/>
          <p:cNvSpPr/>
          <p:nvPr/>
        </p:nvSpPr>
        <p:spPr>
          <a:xfrm>
            <a:off x="5349240" y="4306824"/>
            <a:ext cx="210312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old/new status</a:t>
            </a:r>
            <a:endParaRPr lang="en-US" sz="780" dirty="0"/>
          </a:p>
        </p:txBody>
      </p:sp>
      <p:sp>
        <p:nvSpPr>
          <p:cNvPr id="57" name="Shape 55"/>
          <p:cNvSpPr/>
          <p:nvPr/>
        </p:nvSpPr>
        <p:spPr>
          <a:xfrm>
            <a:off x="3840480" y="2167128"/>
            <a:ext cx="0" cy="1170432"/>
          </a:xfrm>
          <a:prstGeom prst="line">
            <a:avLst/>
          </a:prstGeom>
          <a:noFill/>
          <a:ln w="12700">
            <a:solidFill>
              <a:srgbClr val="5B6472"/>
            </a:solidFill>
            <a:prstDash val="solid"/>
          </a:ln>
        </p:spPr>
      </p:sp>
      <p:sp>
        <p:nvSpPr>
          <p:cNvPr id="58" name="Text 56"/>
          <p:cNvSpPr/>
          <p:nvPr/>
        </p:nvSpPr>
        <p:spPr>
          <a:xfrm>
            <a:off x="3794760" y="2624328"/>
            <a:ext cx="457200" cy="219456"/>
          </a:xfrm>
          <a:prstGeom prst="rect">
            <a:avLst/>
          </a:prstGeom>
          <a:noFill/>
          <a:ln/>
        </p:spPr>
        <p:txBody>
          <a:bodyPr wrap="square" rtlCol="0" anchor="ctr"/>
          <a:lstStyle/>
          <a:p>
            <a:pPr indent="0" marL="0">
              <a:buNone/>
            </a:pPr>
            <a:r>
              <a:rPr lang="en-US" sz="750" i="1" dirty="0">
                <a:solidFill>
                  <a:srgbClr val="5B6472"/>
                </a:solidFill>
                <a:latin typeface="Calibri" pitchFamily="34" charset="0"/>
                <a:ea typeface="Calibri" pitchFamily="34" charset="-122"/>
                <a:cs typeface="Calibri" pitchFamily="34" charset="-120"/>
              </a:rPr>
              <a:t>1—N</a:t>
            </a:r>
            <a:endParaRPr lang="en-US" sz="750" dirty="0"/>
          </a:p>
        </p:txBody>
      </p:sp>
      <p:sp>
        <p:nvSpPr>
          <p:cNvPr id="59" name="Shape 57"/>
          <p:cNvSpPr/>
          <p:nvPr/>
        </p:nvSpPr>
        <p:spPr>
          <a:xfrm>
            <a:off x="3840480" y="4306824"/>
            <a:ext cx="0" cy="585216"/>
          </a:xfrm>
          <a:prstGeom prst="line">
            <a:avLst/>
          </a:prstGeom>
          <a:noFill/>
          <a:ln w="12700">
            <a:solidFill>
              <a:srgbClr val="5B6472"/>
            </a:solidFill>
            <a:prstDash val="solid"/>
          </a:ln>
        </p:spPr>
      </p:sp>
      <p:sp>
        <p:nvSpPr>
          <p:cNvPr id="60" name="Text 58"/>
          <p:cNvSpPr/>
          <p:nvPr/>
        </p:nvSpPr>
        <p:spPr>
          <a:xfrm>
            <a:off x="3794760" y="4471416"/>
            <a:ext cx="457200" cy="219456"/>
          </a:xfrm>
          <a:prstGeom prst="rect">
            <a:avLst/>
          </a:prstGeom>
          <a:noFill/>
          <a:ln/>
        </p:spPr>
        <p:txBody>
          <a:bodyPr wrap="square" rtlCol="0" anchor="ctr"/>
          <a:lstStyle/>
          <a:p>
            <a:pPr indent="0" marL="0">
              <a:buNone/>
            </a:pPr>
            <a:r>
              <a:rPr lang="en-US" sz="750" i="1" dirty="0">
                <a:solidFill>
                  <a:srgbClr val="5B6472"/>
                </a:solidFill>
                <a:latin typeface="Calibri" pitchFamily="34" charset="0"/>
                <a:ea typeface="Calibri" pitchFamily="34" charset="-122"/>
                <a:cs typeface="Calibri" pitchFamily="34" charset="-120"/>
              </a:rPr>
              <a:t>1—N</a:t>
            </a:r>
            <a:endParaRPr lang="en-US" sz="750" dirty="0"/>
          </a:p>
        </p:txBody>
      </p:sp>
      <p:sp>
        <p:nvSpPr>
          <p:cNvPr id="61" name="Shape 59"/>
          <p:cNvSpPr/>
          <p:nvPr/>
        </p:nvSpPr>
        <p:spPr>
          <a:xfrm>
            <a:off x="4892040" y="3657600"/>
            <a:ext cx="365760" cy="-640080"/>
          </a:xfrm>
          <a:prstGeom prst="line">
            <a:avLst/>
          </a:prstGeom>
          <a:noFill/>
          <a:ln w="12700">
            <a:solidFill>
              <a:srgbClr val="5B6472"/>
            </a:solidFill>
            <a:prstDash val="solid"/>
          </a:ln>
        </p:spPr>
      </p:sp>
      <p:sp>
        <p:nvSpPr>
          <p:cNvPr id="62" name="Text 60"/>
          <p:cNvSpPr/>
          <p:nvPr/>
        </p:nvSpPr>
        <p:spPr>
          <a:xfrm>
            <a:off x="4846320" y="3209544"/>
            <a:ext cx="822960" cy="219456"/>
          </a:xfrm>
          <a:prstGeom prst="rect">
            <a:avLst/>
          </a:prstGeom>
          <a:noFill/>
          <a:ln/>
        </p:spPr>
        <p:txBody>
          <a:bodyPr wrap="square" rtlCol="0" anchor="ctr"/>
          <a:lstStyle/>
          <a:p>
            <a:pPr indent="0" marL="0">
              <a:buNone/>
            </a:pPr>
            <a:r>
              <a:rPr lang="en-US" sz="750" i="1" dirty="0">
                <a:solidFill>
                  <a:srgbClr val="5B6472"/>
                </a:solidFill>
                <a:latin typeface="Calibri" pitchFamily="34" charset="0"/>
                <a:ea typeface="Calibri" pitchFamily="34" charset="-122"/>
                <a:cs typeface="Calibri" pitchFamily="34" charset="-120"/>
              </a:rPr>
              <a:t>1—N</a:t>
            </a:r>
            <a:endParaRPr lang="en-US" sz="750" dirty="0"/>
          </a:p>
        </p:txBody>
      </p:sp>
      <p:sp>
        <p:nvSpPr>
          <p:cNvPr id="63" name="Shape 61"/>
          <p:cNvSpPr/>
          <p:nvPr/>
        </p:nvSpPr>
        <p:spPr>
          <a:xfrm>
            <a:off x="6400800" y="3392424"/>
            <a:ext cx="0" cy="402336"/>
          </a:xfrm>
          <a:prstGeom prst="line">
            <a:avLst/>
          </a:prstGeom>
          <a:noFill/>
          <a:ln w="12700">
            <a:solidFill>
              <a:srgbClr val="5B6472"/>
            </a:solidFill>
            <a:prstDash val="solid"/>
          </a:ln>
        </p:spPr>
      </p:sp>
      <p:sp>
        <p:nvSpPr>
          <p:cNvPr id="64" name="Text 62"/>
          <p:cNvSpPr/>
          <p:nvPr/>
        </p:nvSpPr>
        <p:spPr>
          <a:xfrm>
            <a:off x="6355080" y="3465576"/>
            <a:ext cx="457200" cy="219456"/>
          </a:xfrm>
          <a:prstGeom prst="rect">
            <a:avLst/>
          </a:prstGeom>
          <a:noFill/>
          <a:ln/>
        </p:spPr>
        <p:txBody>
          <a:bodyPr wrap="square" rtlCol="0" anchor="ctr"/>
          <a:lstStyle/>
          <a:p>
            <a:pPr indent="0" marL="0">
              <a:buNone/>
            </a:pPr>
            <a:r>
              <a:rPr lang="en-US" sz="750" i="1" dirty="0">
                <a:solidFill>
                  <a:srgbClr val="5B6472"/>
                </a:solidFill>
                <a:latin typeface="Calibri" pitchFamily="34" charset="0"/>
                <a:ea typeface="Calibri" pitchFamily="34" charset="-122"/>
                <a:cs typeface="Calibri" pitchFamily="34" charset="-120"/>
              </a:rPr>
              <a:t>1—N</a:t>
            </a:r>
            <a:endParaRPr lang="en-US" sz="750" dirty="0"/>
          </a:p>
        </p:txBody>
      </p:sp>
      <p:sp>
        <p:nvSpPr>
          <p:cNvPr id="65" name="Shape 63"/>
          <p:cNvSpPr/>
          <p:nvPr/>
        </p:nvSpPr>
        <p:spPr>
          <a:xfrm>
            <a:off x="7909560" y="1417320"/>
            <a:ext cx="2194560" cy="969264"/>
          </a:xfrm>
          <a:prstGeom prst="roundRect">
            <a:avLst>
              <a:gd name="adj" fmla="val 4717"/>
            </a:avLst>
          </a:prstGeom>
          <a:solidFill>
            <a:srgbClr val="FFFFFF"/>
          </a:solidFill>
          <a:ln w="19050">
            <a:solidFill>
              <a:srgbClr val="B7791F"/>
            </a:solidFill>
            <a:prstDash val="solid"/>
          </a:ln>
          <a:effectLst>
            <a:outerShdw sx="100000" sy="100000" kx="0" ky="0" algn="bl" rotWithShape="0" blurRad="63500" dist="25400" dir="5400000">
              <a:srgbClr val="94A3B8">
                <a:alpha val="25000"/>
              </a:srgbClr>
            </a:outerShdw>
          </a:effectLst>
        </p:spPr>
      </p:sp>
      <p:sp>
        <p:nvSpPr>
          <p:cNvPr id="66" name="Shape 64"/>
          <p:cNvSpPr/>
          <p:nvPr/>
        </p:nvSpPr>
        <p:spPr>
          <a:xfrm>
            <a:off x="7909560" y="1417320"/>
            <a:ext cx="2194560" cy="274320"/>
          </a:xfrm>
          <a:prstGeom prst="rect">
            <a:avLst/>
          </a:prstGeom>
          <a:solidFill>
            <a:srgbClr val="B7791F"/>
          </a:solidFill>
          <a:ln/>
        </p:spPr>
      </p:sp>
      <p:sp>
        <p:nvSpPr>
          <p:cNvPr id="67" name="Text 65"/>
          <p:cNvSpPr/>
          <p:nvPr/>
        </p:nvSpPr>
        <p:spPr>
          <a:xfrm>
            <a:off x="7909560" y="1417320"/>
            <a:ext cx="219456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Payment</a:t>
            </a:r>
            <a:endParaRPr lang="en-US" sz="1000" dirty="0"/>
          </a:p>
        </p:txBody>
      </p:sp>
      <p:sp>
        <p:nvSpPr>
          <p:cNvPr id="68" name="Text 66"/>
          <p:cNvSpPr/>
          <p:nvPr/>
        </p:nvSpPr>
        <p:spPr>
          <a:xfrm>
            <a:off x="8001000" y="1709928"/>
            <a:ext cx="20116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id, reference</a:t>
            </a:r>
            <a:endParaRPr lang="en-US" sz="780" dirty="0"/>
          </a:p>
        </p:txBody>
      </p:sp>
      <p:sp>
        <p:nvSpPr>
          <p:cNvPr id="69" name="Text 67"/>
          <p:cNvSpPr/>
          <p:nvPr/>
        </p:nvSpPr>
        <p:spPr>
          <a:xfrm>
            <a:off x="8001000" y="1929384"/>
            <a:ext cx="20116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user_id, product_id</a:t>
            </a:r>
            <a:endParaRPr lang="en-US" sz="780" dirty="0"/>
          </a:p>
        </p:txBody>
      </p:sp>
      <p:sp>
        <p:nvSpPr>
          <p:cNvPr id="70" name="Text 68"/>
          <p:cNvSpPr/>
          <p:nvPr/>
        </p:nvSpPr>
        <p:spPr>
          <a:xfrm>
            <a:off x="8001000" y="2148840"/>
            <a:ext cx="20116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provider, amount, status</a:t>
            </a:r>
            <a:endParaRPr lang="en-US" sz="780" dirty="0"/>
          </a:p>
        </p:txBody>
      </p:sp>
      <p:sp>
        <p:nvSpPr>
          <p:cNvPr id="71" name="Shape 69"/>
          <p:cNvSpPr/>
          <p:nvPr/>
        </p:nvSpPr>
        <p:spPr>
          <a:xfrm>
            <a:off x="7909560" y="2697480"/>
            <a:ext cx="2194560" cy="749808"/>
          </a:xfrm>
          <a:prstGeom prst="roundRect">
            <a:avLst>
              <a:gd name="adj" fmla="val 6098"/>
            </a:avLst>
          </a:prstGeom>
          <a:solidFill>
            <a:srgbClr val="FFFFFF"/>
          </a:solidFill>
          <a:ln w="19050">
            <a:solidFill>
              <a:srgbClr val="5B6472"/>
            </a:solidFill>
            <a:prstDash val="solid"/>
          </a:ln>
          <a:effectLst>
            <a:outerShdw sx="100000" sy="100000" kx="0" ky="0" algn="bl" rotWithShape="0" blurRad="63500" dist="25400" dir="5400000">
              <a:srgbClr val="94A3B8">
                <a:alpha val="25000"/>
              </a:srgbClr>
            </a:outerShdw>
          </a:effectLst>
        </p:spPr>
      </p:sp>
      <p:sp>
        <p:nvSpPr>
          <p:cNvPr id="72" name="Shape 70"/>
          <p:cNvSpPr/>
          <p:nvPr/>
        </p:nvSpPr>
        <p:spPr>
          <a:xfrm>
            <a:off x="7909560" y="2697480"/>
            <a:ext cx="2194560" cy="274320"/>
          </a:xfrm>
          <a:prstGeom prst="rect">
            <a:avLst/>
          </a:prstGeom>
          <a:solidFill>
            <a:srgbClr val="5B6472"/>
          </a:solidFill>
          <a:ln/>
        </p:spPr>
      </p:sp>
      <p:sp>
        <p:nvSpPr>
          <p:cNvPr id="73" name="Text 71"/>
          <p:cNvSpPr/>
          <p:nvPr/>
        </p:nvSpPr>
        <p:spPr>
          <a:xfrm>
            <a:off x="7909560" y="2697480"/>
            <a:ext cx="219456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TicketMessage</a:t>
            </a:r>
            <a:endParaRPr lang="en-US" sz="1000" dirty="0"/>
          </a:p>
        </p:txBody>
      </p:sp>
      <p:sp>
        <p:nvSpPr>
          <p:cNvPr id="74" name="Text 72"/>
          <p:cNvSpPr/>
          <p:nvPr/>
        </p:nvSpPr>
        <p:spPr>
          <a:xfrm>
            <a:off x="8001000" y="2990088"/>
            <a:ext cx="20116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ticket_id (FK)</a:t>
            </a:r>
            <a:endParaRPr lang="en-US" sz="780" dirty="0"/>
          </a:p>
        </p:txBody>
      </p:sp>
      <p:sp>
        <p:nvSpPr>
          <p:cNvPr id="75" name="Text 73"/>
          <p:cNvSpPr/>
          <p:nvPr/>
        </p:nvSpPr>
        <p:spPr>
          <a:xfrm>
            <a:off x="8001000" y="3209544"/>
            <a:ext cx="20116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author_id, message</a:t>
            </a:r>
            <a:endParaRPr lang="en-US" sz="780" dirty="0"/>
          </a:p>
        </p:txBody>
      </p:sp>
      <p:sp>
        <p:nvSpPr>
          <p:cNvPr id="76" name="Shape 74"/>
          <p:cNvSpPr/>
          <p:nvPr/>
        </p:nvSpPr>
        <p:spPr>
          <a:xfrm>
            <a:off x="7909560" y="3703320"/>
            <a:ext cx="2194560" cy="749808"/>
          </a:xfrm>
          <a:prstGeom prst="roundRect">
            <a:avLst>
              <a:gd name="adj" fmla="val 6098"/>
            </a:avLst>
          </a:prstGeom>
          <a:solidFill>
            <a:srgbClr val="FFFFFF"/>
          </a:solidFill>
          <a:ln w="19050">
            <a:solidFill>
              <a:srgbClr val="5B6472"/>
            </a:solidFill>
            <a:prstDash val="solid"/>
          </a:ln>
          <a:effectLst>
            <a:outerShdw sx="100000" sy="100000" kx="0" ky="0" algn="bl" rotWithShape="0" blurRad="63500" dist="25400" dir="5400000">
              <a:srgbClr val="94A3B8">
                <a:alpha val="25000"/>
              </a:srgbClr>
            </a:outerShdw>
          </a:effectLst>
        </p:spPr>
      </p:sp>
      <p:sp>
        <p:nvSpPr>
          <p:cNvPr id="77" name="Shape 75"/>
          <p:cNvSpPr/>
          <p:nvPr/>
        </p:nvSpPr>
        <p:spPr>
          <a:xfrm>
            <a:off x="7909560" y="3703320"/>
            <a:ext cx="2194560" cy="274320"/>
          </a:xfrm>
          <a:prstGeom prst="rect">
            <a:avLst/>
          </a:prstGeom>
          <a:solidFill>
            <a:srgbClr val="5B6472"/>
          </a:solidFill>
          <a:ln/>
        </p:spPr>
      </p:sp>
      <p:sp>
        <p:nvSpPr>
          <p:cNvPr id="78" name="Text 76"/>
          <p:cNvSpPr/>
          <p:nvPr/>
        </p:nvSpPr>
        <p:spPr>
          <a:xfrm>
            <a:off x="7909560" y="3703320"/>
            <a:ext cx="219456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ActivityLog</a:t>
            </a:r>
            <a:endParaRPr lang="en-US" sz="1000" dirty="0"/>
          </a:p>
        </p:txBody>
      </p:sp>
      <p:sp>
        <p:nvSpPr>
          <p:cNvPr id="79" name="Text 77"/>
          <p:cNvSpPr/>
          <p:nvPr/>
        </p:nvSpPr>
        <p:spPr>
          <a:xfrm>
            <a:off x="8001000" y="3995928"/>
            <a:ext cx="20116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user_id (FK)</a:t>
            </a:r>
            <a:endParaRPr lang="en-US" sz="780" dirty="0"/>
          </a:p>
        </p:txBody>
      </p:sp>
      <p:sp>
        <p:nvSpPr>
          <p:cNvPr id="80" name="Text 78"/>
          <p:cNvSpPr/>
          <p:nvPr/>
        </p:nvSpPr>
        <p:spPr>
          <a:xfrm>
            <a:off x="8001000" y="4215384"/>
            <a:ext cx="201168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action, target_model</a:t>
            </a:r>
            <a:endParaRPr lang="en-US" sz="780" dirty="0"/>
          </a:p>
        </p:txBody>
      </p:sp>
      <p:sp>
        <p:nvSpPr>
          <p:cNvPr id="81" name="Shape 79"/>
          <p:cNvSpPr/>
          <p:nvPr/>
        </p:nvSpPr>
        <p:spPr>
          <a:xfrm>
            <a:off x="10424160" y="1417320"/>
            <a:ext cx="1371600" cy="530352"/>
          </a:xfrm>
          <a:prstGeom prst="roundRect">
            <a:avLst>
              <a:gd name="adj" fmla="val 8621"/>
            </a:avLst>
          </a:prstGeom>
          <a:solidFill>
            <a:srgbClr val="FFFFFF"/>
          </a:solidFill>
          <a:ln w="19050">
            <a:solidFill>
              <a:srgbClr val="8A5CC7"/>
            </a:solidFill>
            <a:prstDash val="solid"/>
          </a:ln>
          <a:effectLst>
            <a:outerShdw sx="100000" sy="100000" kx="0" ky="0" algn="bl" rotWithShape="0" blurRad="63500" dist="25400" dir="5400000">
              <a:srgbClr val="94A3B8">
                <a:alpha val="25000"/>
              </a:srgbClr>
            </a:outerShdw>
          </a:effectLst>
        </p:spPr>
      </p:sp>
      <p:sp>
        <p:nvSpPr>
          <p:cNvPr id="82" name="Shape 80"/>
          <p:cNvSpPr/>
          <p:nvPr/>
        </p:nvSpPr>
        <p:spPr>
          <a:xfrm>
            <a:off x="10424160" y="1417320"/>
            <a:ext cx="1371600" cy="274320"/>
          </a:xfrm>
          <a:prstGeom prst="rect">
            <a:avLst/>
          </a:prstGeom>
          <a:solidFill>
            <a:srgbClr val="8A5CC7"/>
          </a:solidFill>
          <a:ln/>
        </p:spPr>
      </p:sp>
      <p:sp>
        <p:nvSpPr>
          <p:cNvPr id="83" name="Text 81"/>
          <p:cNvSpPr/>
          <p:nvPr/>
        </p:nvSpPr>
        <p:spPr>
          <a:xfrm>
            <a:off x="10424160" y="1417320"/>
            <a:ext cx="13716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News</a:t>
            </a:r>
            <a:endParaRPr lang="en-US" sz="1000" dirty="0"/>
          </a:p>
        </p:txBody>
      </p:sp>
      <p:sp>
        <p:nvSpPr>
          <p:cNvPr id="84" name="Text 82"/>
          <p:cNvSpPr/>
          <p:nvPr/>
        </p:nvSpPr>
        <p:spPr>
          <a:xfrm>
            <a:off x="10515600" y="1709928"/>
            <a:ext cx="118872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title, status</a:t>
            </a:r>
            <a:endParaRPr lang="en-US" sz="780" dirty="0"/>
          </a:p>
        </p:txBody>
      </p:sp>
      <p:sp>
        <p:nvSpPr>
          <p:cNvPr id="85" name="Shape 83"/>
          <p:cNvSpPr/>
          <p:nvPr/>
        </p:nvSpPr>
        <p:spPr>
          <a:xfrm>
            <a:off x="10424160" y="2148840"/>
            <a:ext cx="1371600" cy="530352"/>
          </a:xfrm>
          <a:prstGeom prst="roundRect">
            <a:avLst>
              <a:gd name="adj" fmla="val 8621"/>
            </a:avLst>
          </a:prstGeom>
          <a:solidFill>
            <a:srgbClr val="FFFFFF"/>
          </a:solidFill>
          <a:ln w="19050">
            <a:solidFill>
              <a:srgbClr val="8A5CC7"/>
            </a:solidFill>
            <a:prstDash val="solid"/>
          </a:ln>
          <a:effectLst>
            <a:outerShdw sx="100000" sy="100000" kx="0" ky="0" algn="bl" rotWithShape="0" blurRad="63500" dist="25400" dir="5400000">
              <a:srgbClr val="94A3B8">
                <a:alpha val="25000"/>
              </a:srgbClr>
            </a:outerShdw>
          </a:effectLst>
        </p:spPr>
      </p:sp>
      <p:sp>
        <p:nvSpPr>
          <p:cNvPr id="86" name="Shape 84"/>
          <p:cNvSpPr/>
          <p:nvPr/>
        </p:nvSpPr>
        <p:spPr>
          <a:xfrm>
            <a:off x="10424160" y="2148840"/>
            <a:ext cx="1371600" cy="274320"/>
          </a:xfrm>
          <a:prstGeom prst="rect">
            <a:avLst/>
          </a:prstGeom>
          <a:solidFill>
            <a:srgbClr val="8A5CC7"/>
          </a:solidFill>
          <a:ln/>
        </p:spPr>
      </p:sp>
      <p:sp>
        <p:nvSpPr>
          <p:cNvPr id="87" name="Text 85"/>
          <p:cNvSpPr/>
          <p:nvPr/>
        </p:nvSpPr>
        <p:spPr>
          <a:xfrm>
            <a:off x="10424160" y="2148840"/>
            <a:ext cx="13716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Promotion</a:t>
            </a:r>
            <a:endParaRPr lang="en-US" sz="1000" dirty="0"/>
          </a:p>
        </p:txBody>
      </p:sp>
      <p:sp>
        <p:nvSpPr>
          <p:cNvPr id="88" name="Text 86"/>
          <p:cNvSpPr/>
          <p:nvPr/>
        </p:nvSpPr>
        <p:spPr>
          <a:xfrm>
            <a:off x="10515600" y="2441448"/>
            <a:ext cx="118872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title, dates</a:t>
            </a:r>
            <a:endParaRPr lang="en-US" sz="780" dirty="0"/>
          </a:p>
        </p:txBody>
      </p:sp>
      <p:sp>
        <p:nvSpPr>
          <p:cNvPr id="89" name="Shape 87"/>
          <p:cNvSpPr/>
          <p:nvPr/>
        </p:nvSpPr>
        <p:spPr>
          <a:xfrm>
            <a:off x="10424160" y="2880360"/>
            <a:ext cx="1371600" cy="530352"/>
          </a:xfrm>
          <a:prstGeom prst="roundRect">
            <a:avLst>
              <a:gd name="adj" fmla="val 8621"/>
            </a:avLst>
          </a:prstGeom>
          <a:solidFill>
            <a:srgbClr val="FFFFFF"/>
          </a:solidFill>
          <a:ln w="19050">
            <a:solidFill>
              <a:srgbClr val="8A5CC7"/>
            </a:solidFill>
            <a:prstDash val="solid"/>
          </a:ln>
          <a:effectLst>
            <a:outerShdw sx="100000" sy="100000" kx="0" ky="0" algn="bl" rotWithShape="0" blurRad="63500" dist="25400" dir="5400000">
              <a:srgbClr val="94A3B8">
                <a:alpha val="25000"/>
              </a:srgbClr>
            </a:outerShdw>
          </a:effectLst>
        </p:spPr>
      </p:sp>
      <p:sp>
        <p:nvSpPr>
          <p:cNvPr id="90" name="Shape 88"/>
          <p:cNvSpPr/>
          <p:nvPr/>
        </p:nvSpPr>
        <p:spPr>
          <a:xfrm>
            <a:off x="10424160" y="2880360"/>
            <a:ext cx="1371600" cy="274320"/>
          </a:xfrm>
          <a:prstGeom prst="rect">
            <a:avLst/>
          </a:prstGeom>
          <a:solidFill>
            <a:srgbClr val="8A5CC7"/>
          </a:solidFill>
          <a:ln/>
        </p:spPr>
      </p:sp>
      <p:sp>
        <p:nvSpPr>
          <p:cNvPr id="91" name="Text 89"/>
          <p:cNvSpPr/>
          <p:nvPr/>
        </p:nvSpPr>
        <p:spPr>
          <a:xfrm>
            <a:off x="10424160" y="2880360"/>
            <a:ext cx="13716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Contact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Message</a:t>
            </a:r>
            <a:endParaRPr lang="en-US" sz="1000" dirty="0"/>
          </a:p>
        </p:txBody>
      </p:sp>
      <p:sp>
        <p:nvSpPr>
          <p:cNvPr id="92" name="Text 90"/>
          <p:cNvSpPr/>
          <p:nvPr/>
        </p:nvSpPr>
        <p:spPr>
          <a:xfrm>
            <a:off x="10515600" y="3172968"/>
            <a:ext cx="1188720" cy="219456"/>
          </a:xfrm>
          <a:prstGeom prst="rect">
            <a:avLst/>
          </a:prstGeom>
          <a:noFill/>
          <a:ln/>
        </p:spPr>
        <p:txBody>
          <a:bodyPr wrap="square" rtlCol="0" anchor="ctr"/>
          <a:lstStyle/>
          <a:p>
            <a:pPr indent="0" marL="0">
              <a:buNone/>
            </a:pPr>
            <a:r>
              <a:rPr lang="en-US" sz="780" dirty="0">
                <a:solidFill>
                  <a:srgbClr val="1F2937"/>
                </a:solidFill>
                <a:latin typeface="Courier New" pitchFamily="34" charset="0"/>
                <a:ea typeface="Courier New" pitchFamily="34" charset="-122"/>
                <a:cs typeface="Courier New" pitchFamily="34" charset="-120"/>
              </a:rPr>
              <a:t>subject</a:t>
            </a:r>
            <a:endParaRPr lang="en-US" sz="780" dirty="0"/>
          </a:p>
        </p:txBody>
      </p:sp>
      <p:sp>
        <p:nvSpPr>
          <p:cNvPr id="93" name="Text 91"/>
          <p:cNvSpPr/>
          <p:nvPr/>
        </p:nvSpPr>
        <p:spPr>
          <a:xfrm>
            <a:off x="457200" y="6172200"/>
            <a:ext cx="11247120" cy="36576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Entités secondaires (détaillées en annexe B) : ProductFAQ, SourceVerificationLog, ClientProfile, MediaFile, PartnerAPIKey, AnalyticsEvent.</a:t>
            </a:r>
            <a:endParaRPr lang="en-US" sz="950" dirty="0"/>
          </a:p>
        </p:txBody>
      </p:sp>
      <p:sp>
        <p:nvSpPr>
          <p:cNvPr id="94" name="Text 92"/>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Données — MCD</a:t>
            </a:r>
            <a:endParaRPr lang="en-US" sz="900" dirty="0"/>
          </a:p>
        </p:txBody>
      </p:sp>
      <p:sp>
        <p:nvSpPr>
          <p:cNvPr id="95" name="Text 93"/>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96" name="Text 94"/>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SÉCURITÉ</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Sécurité de la plateforme</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548640" y="1463040"/>
            <a:ext cx="2697480" cy="4572000"/>
          </a:xfrm>
          <a:prstGeom prst="roundRect">
            <a:avLst>
              <a:gd name="adj" fmla="val 2712"/>
            </a:avLst>
          </a:prstGeom>
          <a:solidFill>
            <a:srgbClr val="EAF3FC"/>
          </a:solidFill>
          <a:ln/>
        </p:spPr>
      </p:sp>
      <p:sp>
        <p:nvSpPr>
          <p:cNvPr id="7" name="Text 5"/>
          <p:cNvSpPr/>
          <p:nvPr/>
        </p:nvSpPr>
        <p:spPr>
          <a:xfrm>
            <a:off x="713232" y="1645920"/>
            <a:ext cx="2368296" cy="457200"/>
          </a:xfrm>
          <a:prstGeom prst="rect">
            <a:avLst/>
          </a:prstGeom>
          <a:noFill/>
          <a:ln/>
        </p:spPr>
        <p:txBody>
          <a:bodyPr wrap="square" rtlCol="0" anchor="ctr"/>
          <a:lstStyle/>
          <a:p>
            <a:pPr indent="0" marL="0">
              <a:buNone/>
            </a:pPr>
            <a:r>
              <a:rPr lang="en-US" sz="1300" b="1" dirty="0">
                <a:solidFill>
                  <a:srgbClr val="0A2C54"/>
                </a:solidFill>
                <a:latin typeface="Cambria" pitchFamily="34" charset="0"/>
                <a:ea typeface="Cambria" pitchFamily="34" charset="-122"/>
                <a:cs typeface="Cambria" pitchFamily="34" charset="-120"/>
              </a:rPr>
              <a:t>Authentification</a:t>
            </a:r>
            <a:endParaRPr lang="en-US" sz="1300" dirty="0"/>
          </a:p>
        </p:txBody>
      </p:sp>
      <p:sp>
        <p:nvSpPr>
          <p:cNvPr id="8" name="Text 6"/>
          <p:cNvSpPr/>
          <p:nvPr/>
        </p:nvSpPr>
        <p:spPr>
          <a:xfrm>
            <a:off x="713232" y="2194560"/>
            <a:ext cx="2368296" cy="3657600"/>
          </a:xfrm>
          <a:prstGeom prst="rect">
            <a:avLst/>
          </a:prstGeom>
          <a:noFill/>
          <a:ln/>
        </p:spPr>
        <p:txBody>
          <a:bodyPr wrap="square" rtlCol="0" anchor="t"/>
          <a:lstStyle/>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JWT (SimpleJWT) — access 30 min</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Refresh token 7 jours, cookie HttpOnly</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Rotation + blacklist à chaque refresh</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SameSite=Strict, Secure en production</a:t>
            </a:r>
            <a:endParaRPr lang="en-US" sz="950" dirty="0"/>
          </a:p>
        </p:txBody>
      </p:sp>
      <p:sp>
        <p:nvSpPr>
          <p:cNvPr id="9" name="Shape 7"/>
          <p:cNvSpPr/>
          <p:nvPr/>
        </p:nvSpPr>
        <p:spPr>
          <a:xfrm>
            <a:off x="3429000" y="1463040"/>
            <a:ext cx="2697480" cy="4572000"/>
          </a:xfrm>
          <a:prstGeom prst="roundRect">
            <a:avLst>
              <a:gd name="adj" fmla="val 2712"/>
            </a:avLst>
          </a:prstGeom>
          <a:solidFill>
            <a:srgbClr val="F4F6F8"/>
          </a:solidFill>
          <a:ln/>
        </p:spPr>
      </p:sp>
      <p:sp>
        <p:nvSpPr>
          <p:cNvPr id="10" name="Text 8"/>
          <p:cNvSpPr/>
          <p:nvPr/>
        </p:nvSpPr>
        <p:spPr>
          <a:xfrm>
            <a:off x="3593592" y="1645920"/>
            <a:ext cx="2368296" cy="457200"/>
          </a:xfrm>
          <a:prstGeom prst="rect">
            <a:avLst/>
          </a:prstGeom>
          <a:noFill/>
          <a:ln/>
        </p:spPr>
        <p:txBody>
          <a:bodyPr wrap="square" rtlCol="0" anchor="ctr"/>
          <a:lstStyle/>
          <a:p>
            <a:pPr indent="0" marL="0">
              <a:buNone/>
            </a:pPr>
            <a:r>
              <a:rPr lang="en-US" sz="1300" b="1" dirty="0">
                <a:solidFill>
                  <a:srgbClr val="0A2C54"/>
                </a:solidFill>
                <a:latin typeface="Cambria" pitchFamily="34" charset="0"/>
                <a:ea typeface="Cambria" pitchFamily="34" charset="-122"/>
                <a:cs typeface="Cambria" pitchFamily="34" charset="-120"/>
              </a:rPr>
              <a:t>Autorisation</a:t>
            </a:r>
            <a:endParaRPr lang="en-US" sz="1300" dirty="0"/>
          </a:p>
        </p:txBody>
      </p:sp>
      <p:sp>
        <p:nvSpPr>
          <p:cNvPr id="11" name="Text 9"/>
          <p:cNvSpPr/>
          <p:nvPr/>
        </p:nvSpPr>
        <p:spPr>
          <a:xfrm>
            <a:off x="3593592" y="2194560"/>
            <a:ext cx="2368296" cy="3657600"/>
          </a:xfrm>
          <a:prstGeom prst="rect">
            <a:avLst/>
          </a:prstGeom>
          <a:noFill/>
          <a:ln/>
        </p:spPr>
        <p:txBody>
          <a:bodyPr wrap="square" rtlCol="0" anchor="t"/>
          <a:lstStyle/>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RBAC vérifié côté serveur (jamais le frontend seul)</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Ownership : 404 hors propriétaire (souscriptions, tickets)</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Séparation stricte frontend / backend (API only)</a:t>
            </a:r>
            <a:endParaRPr lang="en-US" sz="950" dirty="0"/>
          </a:p>
        </p:txBody>
      </p:sp>
      <p:sp>
        <p:nvSpPr>
          <p:cNvPr id="12" name="Shape 10"/>
          <p:cNvSpPr/>
          <p:nvPr/>
        </p:nvSpPr>
        <p:spPr>
          <a:xfrm>
            <a:off x="6309360" y="1463040"/>
            <a:ext cx="2697480" cy="4572000"/>
          </a:xfrm>
          <a:prstGeom prst="roundRect">
            <a:avLst>
              <a:gd name="adj" fmla="val 2712"/>
            </a:avLst>
          </a:prstGeom>
          <a:solidFill>
            <a:srgbClr val="EAF3FC"/>
          </a:solidFill>
          <a:ln/>
        </p:spPr>
      </p:sp>
      <p:sp>
        <p:nvSpPr>
          <p:cNvPr id="13" name="Text 11"/>
          <p:cNvSpPr/>
          <p:nvPr/>
        </p:nvSpPr>
        <p:spPr>
          <a:xfrm>
            <a:off x="6473952" y="1645920"/>
            <a:ext cx="2368296" cy="457200"/>
          </a:xfrm>
          <a:prstGeom prst="rect">
            <a:avLst/>
          </a:prstGeom>
          <a:noFill/>
          <a:ln/>
        </p:spPr>
        <p:txBody>
          <a:bodyPr wrap="square" rtlCol="0" anchor="ctr"/>
          <a:lstStyle/>
          <a:p>
            <a:pPr indent="0" marL="0">
              <a:buNone/>
            </a:pPr>
            <a:r>
              <a:rPr lang="en-US" sz="1300" b="1" dirty="0">
                <a:solidFill>
                  <a:srgbClr val="0A2C54"/>
                </a:solidFill>
                <a:latin typeface="Cambria" pitchFamily="34" charset="0"/>
                <a:ea typeface="Cambria" pitchFamily="34" charset="-122"/>
                <a:cs typeface="Cambria" pitchFamily="34" charset="-120"/>
              </a:rPr>
              <a:t>Paiement &amp; données</a:t>
            </a:r>
            <a:endParaRPr lang="en-US" sz="1300" dirty="0"/>
          </a:p>
        </p:txBody>
      </p:sp>
      <p:sp>
        <p:nvSpPr>
          <p:cNvPr id="14" name="Text 12"/>
          <p:cNvSpPr/>
          <p:nvPr/>
        </p:nvSpPr>
        <p:spPr>
          <a:xfrm>
            <a:off x="6473952" y="2194560"/>
            <a:ext cx="2368296" cy="3657600"/>
          </a:xfrm>
          <a:prstGeom prst="rect">
            <a:avLst/>
          </a:prstGeom>
          <a:noFill/>
          <a:ln/>
        </p:spPr>
        <p:txBody>
          <a:bodyPr wrap="square" rtlCol="0" anchor="t"/>
          <a:lstStyle/>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Montant recalculé serveur depuis le prix en base</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Clé d'idempotence (Idempotency-Key)</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Validation stricte des uploads (upload_validation.py)</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Rate limiting sur analytics et recherche</a:t>
            </a:r>
            <a:endParaRPr lang="en-US" sz="950" dirty="0"/>
          </a:p>
        </p:txBody>
      </p:sp>
      <p:sp>
        <p:nvSpPr>
          <p:cNvPr id="15" name="Shape 13"/>
          <p:cNvSpPr/>
          <p:nvPr/>
        </p:nvSpPr>
        <p:spPr>
          <a:xfrm>
            <a:off x="9189720" y="1463040"/>
            <a:ext cx="2697480" cy="4572000"/>
          </a:xfrm>
          <a:prstGeom prst="roundRect">
            <a:avLst>
              <a:gd name="adj" fmla="val 2712"/>
            </a:avLst>
          </a:prstGeom>
          <a:solidFill>
            <a:srgbClr val="F4F6F8"/>
          </a:solidFill>
          <a:ln/>
        </p:spPr>
      </p:sp>
      <p:sp>
        <p:nvSpPr>
          <p:cNvPr id="16" name="Text 14"/>
          <p:cNvSpPr/>
          <p:nvPr/>
        </p:nvSpPr>
        <p:spPr>
          <a:xfrm>
            <a:off x="9354312" y="1645920"/>
            <a:ext cx="2368296" cy="457200"/>
          </a:xfrm>
          <a:prstGeom prst="rect">
            <a:avLst/>
          </a:prstGeom>
          <a:noFill/>
          <a:ln/>
        </p:spPr>
        <p:txBody>
          <a:bodyPr wrap="square" rtlCol="0" anchor="ctr"/>
          <a:lstStyle/>
          <a:p>
            <a:pPr indent="0" marL="0">
              <a:buNone/>
            </a:pPr>
            <a:r>
              <a:rPr lang="en-US" sz="1300" b="1" dirty="0">
                <a:solidFill>
                  <a:srgbClr val="0A2C54"/>
                </a:solidFill>
                <a:latin typeface="Cambria" pitchFamily="34" charset="0"/>
                <a:ea typeface="Cambria" pitchFamily="34" charset="-122"/>
                <a:cs typeface="Cambria" pitchFamily="34" charset="-120"/>
              </a:rPr>
              <a:t>Exploitation</a:t>
            </a:r>
            <a:endParaRPr lang="en-US" sz="1300" dirty="0"/>
          </a:p>
        </p:txBody>
      </p:sp>
      <p:sp>
        <p:nvSpPr>
          <p:cNvPr id="17" name="Text 15"/>
          <p:cNvSpPr/>
          <p:nvPr/>
        </p:nvSpPr>
        <p:spPr>
          <a:xfrm>
            <a:off x="9354312" y="2194560"/>
            <a:ext cx="2368296" cy="3657600"/>
          </a:xfrm>
          <a:prstGeom prst="rect">
            <a:avLst/>
          </a:prstGeom>
          <a:noFill/>
          <a:ln/>
        </p:spPr>
        <p:txBody>
          <a:bodyPr wrap="square" rtlCol="0" anchor="t"/>
          <a:lstStyle/>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Secrets exclusivement en variables d'environnement</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CI : pip-audit + npm audit non masqués</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Health checks /health/live/ et /health/ready/</a:t>
            </a:r>
            <a:endParaRPr lang="en-US" sz="950" dirty="0"/>
          </a:p>
          <a:p>
            <a:pPr marL="177800" indent="-177800">
              <a:spcAft>
                <a:spcPts val="800"/>
              </a:spcAft>
              <a:buSzPct val="100000"/>
              <a:buChar char="•"/>
            </a:pPr>
            <a:r>
              <a:rPr lang="en-US" sz="950" dirty="0">
                <a:solidFill>
                  <a:srgbClr val="1F2937"/>
                </a:solidFill>
                <a:latin typeface="Calibri" pitchFamily="34" charset="0"/>
                <a:ea typeface="Calibri" pitchFamily="34" charset="-122"/>
                <a:cs typeface="Calibri" pitchFamily="34" charset="-120"/>
              </a:rPr>
              <a:t>57 tests Django (SQLite + PostgreSQL)</a:t>
            </a:r>
            <a:endParaRPr lang="en-US" sz="950" dirty="0"/>
          </a:p>
        </p:txBody>
      </p:sp>
      <p:sp>
        <p:nvSpPr>
          <p:cNvPr id="18" name="Text 16"/>
          <p:cNvSpPr/>
          <p:nvPr/>
        </p:nvSpPr>
        <p:spPr>
          <a:xfrm>
            <a:off x="548640" y="6172200"/>
            <a:ext cx="11064240" cy="36576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Une seule case ouverte côté sécurité (docs/PRODUCTION_READINESS.md) : la signature de webhook de paiement, qui nécessite un provider réel pour être testée en conditions réelles.</a:t>
            </a:r>
            <a:endParaRPr lang="en-US" sz="950" dirty="0"/>
          </a:p>
        </p:txBody>
      </p:sp>
      <p:sp>
        <p:nvSpPr>
          <p:cNvPr id="19" name="Text 17"/>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Sécurité</a:t>
            </a:r>
            <a:endParaRPr lang="en-US" sz="900" dirty="0"/>
          </a:p>
        </p:txBody>
      </p:sp>
      <p:sp>
        <p:nvSpPr>
          <p:cNvPr id="20" name="Text 18"/>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1" name="Text 19"/>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EXPÉRIENCE</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UX/UI et responsive</a:t>
            </a:r>
            <a:endParaRPr lang="en-US" sz="2800" dirty="0"/>
          </a:p>
        </p:txBody>
      </p:sp>
      <p:sp>
        <p:nvSpPr>
          <p:cNvPr id="4" name="Shape 2"/>
          <p:cNvSpPr/>
          <p:nvPr/>
        </p:nvSpPr>
        <p:spPr>
          <a:xfrm>
            <a:off x="9601200" y="411480"/>
            <a:ext cx="1965960" cy="292608"/>
          </a:xfrm>
          <a:prstGeom prst="roundRect">
            <a:avLst>
              <a:gd name="adj" fmla="val 50000"/>
            </a:avLst>
          </a:prstGeom>
          <a:solidFill>
            <a:srgbClr val="1AA260"/>
          </a:solidFill>
          <a:ln/>
        </p:spPr>
      </p:sp>
      <p:sp>
        <p:nvSpPr>
          <p:cNvPr id="5" name="Text 3"/>
          <p:cNvSpPr/>
          <p:nvPr/>
        </p:nvSpPr>
        <p:spPr>
          <a:xfrm>
            <a:off x="9601200" y="411480"/>
            <a:ext cx="196596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IMPLÉMENTÉ — RÉEL</a:t>
            </a:r>
            <a:endParaRPr lang="en-US" sz="950" dirty="0"/>
          </a:p>
        </p:txBody>
      </p:sp>
      <p:sp>
        <p:nvSpPr>
          <p:cNvPr id="6" name="Shape 4"/>
          <p:cNvSpPr/>
          <p:nvPr/>
        </p:nvSpPr>
        <p:spPr>
          <a:xfrm>
            <a:off x="429768" y="1344168"/>
            <a:ext cx="5541264" cy="3602396"/>
          </a:xfrm>
          <a:prstGeom prst="roundRect">
            <a:avLst>
              <a:gd name="adj" fmla="val 1523"/>
            </a:avLst>
          </a:prstGeom>
          <a:solidFill>
            <a:srgbClr val="FFFFFF"/>
          </a:solidFill>
          <a:ln w="12700">
            <a:solidFill>
              <a:srgbClr val="D9DEE4"/>
            </a:solidFill>
            <a:prstDash val="solid"/>
          </a:ln>
          <a:effectLst>
            <a:outerShdw sx="100000" sy="100000" kx="0" ky="0" algn="bl" rotWithShape="0" blurRad="127000" dist="38100" dir="5400000">
              <a:srgbClr val="94A3B8">
                <a:alpha val="35000"/>
              </a:srgbClr>
            </a:outerShdw>
          </a:effectLst>
        </p:spPr>
      </p:sp>
      <p:pic>
        <p:nvPicPr>
          <p:cNvPr id="7" name="Image 0" descr="/home/claude/onportal_deck/assets/contact_frame.png">    </p:cNvPr>
          <p:cNvPicPr>
            <a:picLocks noChangeAspect="1"/>
          </p:cNvPicPr>
          <p:nvPr/>
        </p:nvPicPr>
        <p:blipFill>
          <a:blip r:embed="rId1"/>
          <a:stretch>
            <a:fillRect/>
          </a:stretch>
        </p:blipFill>
        <p:spPr>
          <a:xfrm>
            <a:off x="502920" y="1417320"/>
            <a:ext cx="5394960" cy="3456092"/>
          </a:xfrm>
          <a:prstGeom prst="rect">
            <a:avLst/>
          </a:prstGeom>
        </p:spPr>
      </p:pic>
      <p:sp>
        <p:nvSpPr>
          <p:cNvPr id="8" name="Text 5"/>
          <p:cNvSpPr/>
          <p:nvPr/>
        </p:nvSpPr>
        <p:spPr>
          <a:xfrm>
            <a:off x="502920" y="4964852"/>
            <a:ext cx="5394960" cy="256032"/>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Formulaire de contact — composants de saisie cohérents</a:t>
            </a:r>
            <a:endParaRPr lang="en-US" sz="950" dirty="0"/>
          </a:p>
        </p:txBody>
      </p:sp>
      <p:sp>
        <p:nvSpPr>
          <p:cNvPr id="9" name="Shape 6"/>
          <p:cNvSpPr/>
          <p:nvPr/>
        </p:nvSpPr>
        <p:spPr>
          <a:xfrm>
            <a:off x="6172200" y="1508760"/>
            <a:ext cx="256032" cy="256032"/>
          </a:xfrm>
          <a:prstGeom prst="ellipse">
            <a:avLst/>
          </a:prstGeom>
          <a:solidFill>
            <a:srgbClr val="0B57A4"/>
          </a:solidFill>
          <a:ln/>
        </p:spPr>
      </p:sp>
      <p:sp>
        <p:nvSpPr>
          <p:cNvPr id="10" name="Text 7"/>
          <p:cNvSpPr/>
          <p:nvPr/>
        </p:nvSpPr>
        <p:spPr>
          <a:xfrm>
            <a:off x="6172200" y="150876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6537960" y="1490472"/>
            <a:ext cx="502920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Responsive 320→1440px : grilles fluides, tables scrollables (vérifié en audit interne)</a:t>
            </a:r>
            <a:endParaRPr lang="en-US" sz="1150" dirty="0"/>
          </a:p>
        </p:txBody>
      </p:sp>
      <p:sp>
        <p:nvSpPr>
          <p:cNvPr id="12" name="Shape 9"/>
          <p:cNvSpPr/>
          <p:nvPr/>
        </p:nvSpPr>
        <p:spPr>
          <a:xfrm>
            <a:off x="6172200" y="2075688"/>
            <a:ext cx="256032" cy="256032"/>
          </a:xfrm>
          <a:prstGeom prst="ellipse">
            <a:avLst/>
          </a:prstGeom>
          <a:solidFill>
            <a:srgbClr val="0B57A4"/>
          </a:solidFill>
          <a:ln/>
        </p:spPr>
      </p:sp>
      <p:sp>
        <p:nvSpPr>
          <p:cNvPr id="13" name="Text 10"/>
          <p:cNvSpPr/>
          <p:nvPr/>
        </p:nvSpPr>
        <p:spPr>
          <a:xfrm>
            <a:off x="6172200" y="207568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p:nvPr/>
        </p:nvSpPr>
        <p:spPr>
          <a:xfrm>
            <a:off x="6537960" y="2057400"/>
            <a:ext cx="502920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Thème clair / sombre basculable (icône lune/soleil, présente sur tout le portail)</a:t>
            </a:r>
            <a:endParaRPr lang="en-US" sz="1150" dirty="0"/>
          </a:p>
        </p:txBody>
      </p:sp>
      <p:sp>
        <p:nvSpPr>
          <p:cNvPr id="15" name="Shape 12"/>
          <p:cNvSpPr/>
          <p:nvPr/>
        </p:nvSpPr>
        <p:spPr>
          <a:xfrm>
            <a:off x="6172200" y="2642616"/>
            <a:ext cx="256032" cy="256032"/>
          </a:xfrm>
          <a:prstGeom prst="ellipse">
            <a:avLst/>
          </a:prstGeom>
          <a:solidFill>
            <a:srgbClr val="0B57A4"/>
          </a:solidFill>
          <a:ln/>
        </p:spPr>
      </p:sp>
      <p:sp>
        <p:nvSpPr>
          <p:cNvPr id="16" name="Text 13"/>
          <p:cNvSpPr/>
          <p:nvPr/>
        </p:nvSpPr>
        <p:spPr>
          <a:xfrm>
            <a:off x="6172200" y="2642616"/>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6537960" y="2624328"/>
            <a:ext cx="502920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i18n FR/EN (react-i18next) — sélecteur de langue dans l'en-tête</a:t>
            </a:r>
            <a:endParaRPr lang="en-US" sz="1150" dirty="0"/>
          </a:p>
        </p:txBody>
      </p:sp>
      <p:sp>
        <p:nvSpPr>
          <p:cNvPr id="18" name="Shape 15"/>
          <p:cNvSpPr/>
          <p:nvPr/>
        </p:nvSpPr>
        <p:spPr>
          <a:xfrm>
            <a:off x="6172200" y="3209544"/>
            <a:ext cx="256032" cy="256032"/>
          </a:xfrm>
          <a:prstGeom prst="ellipse">
            <a:avLst/>
          </a:prstGeom>
          <a:solidFill>
            <a:srgbClr val="0B57A4"/>
          </a:solidFill>
          <a:ln/>
        </p:spPr>
      </p:sp>
      <p:sp>
        <p:nvSpPr>
          <p:cNvPr id="19" name="Text 16"/>
          <p:cNvSpPr/>
          <p:nvPr/>
        </p:nvSpPr>
        <p:spPr>
          <a:xfrm>
            <a:off x="6172200" y="320954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6537960" y="3191256"/>
            <a:ext cx="502920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États de chargement (Skeleton) et états vides (EmptyState) gérés explicitement</a:t>
            </a:r>
            <a:endParaRPr lang="en-US" sz="1150" dirty="0"/>
          </a:p>
        </p:txBody>
      </p:sp>
      <p:sp>
        <p:nvSpPr>
          <p:cNvPr id="21" name="Shape 18"/>
          <p:cNvSpPr/>
          <p:nvPr/>
        </p:nvSpPr>
        <p:spPr>
          <a:xfrm>
            <a:off x="6172200" y="3776472"/>
            <a:ext cx="256032" cy="256032"/>
          </a:xfrm>
          <a:prstGeom prst="ellipse">
            <a:avLst/>
          </a:prstGeom>
          <a:solidFill>
            <a:srgbClr val="0B57A4"/>
          </a:solidFill>
          <a:ln/>
        </p:spPr>
      </p:sp>
      <p:sp>
        <p:nvSpPr>
          <p:cNvPr id="22" name="Text 19"/>
          <p:cNvSpPr/>
          <p:nvPr/>
        </p:nvSpPr>
        <p:spPr>
          <a:xfrm>
            <a:off x="6172200" y="3776472"/>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0"/>
          <p:cNvSpPr/>
          <p:nvPr/>
        </p:nvSpPr>
        <p:spPr>
          <a:xfrm>
            <a:off x="6537960" y="3758184"/>
            <a:ext cx="502920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Champs vides jamais affichés bruts : « Non précisé » plutôt que 0 ou N/A</a:t>
            </a:r>
            <a:endParaRPr lang="en-US" sz="1150" dirty="0"/>
          </a:p>
        </p:txBody>
      </p:sp>
      <p:sp>
        <p:nvSpPr>
          <p:cNvPr id="24" name="Shape 21"/>
          <p:cNvSpPr/>
          <p:nvPr/>
        </p:nvSpPr>
        <p:spPr>
          <a:xfrm>
            <a:off x="6172200" y="4343400"/>
            <a:ext cx="256032" cy="256032"/>
          </a:xfrm>
          <a:prstGeom prst="ellipse">
            <a:avLst/>
          </a:prstGeom>
          <a:solidFill>
            <a:srgbClr val="0B57A4"/>
          </a:solidFill>
          <a:ln/>
        </p:spPr>
      </p:sp>
      <p:sp>
        <p:nvSpPr>
          <p:cNvPr id="25" name="Text 22"/>
          <p:cNvSpPr/>
          <p:nvPr/>
        </p:nvSpPr>
        <p:spPr>
          <a:xfrm>
            <a:off x="6172200" y="434340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6" name="Text 23"/>
          <p:cNvSpPr/>
          <p:nvPr/>
        </p:nvSpPr>
        <p:spPr>
          <a:xfrm>
            <a:off x="6537960" y="4325112"/>
            <a:ext cx="5029200" cy="566928"/>
          </a:xfrm>
          <a:prstGeom prst="rect">
            <a:avLst/>
          </a:prstGeom>
          <a:noFill/>
          <a:ln/>
        </p:spPr>
        <p:txBody>
          <a:bodyPr wrap="square"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Accessibilité de base : labels de formulaire, focus visible, aria sur composants clés</a:t>
            </a:r>
            <a:endParaRPr lang="en-US" sz="1150" dirty="0"/>
          </a:p>
        </p:txBody>
      </p:sp>
      <p:sp>
        <p:nvSpPr>
          <p:cNvPr id="27" name="Text 24"/>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UX/UI</a:t>
            </a:r>
            <a:endParaRPr lang="en-US" sz="900" dirty="0"/>
          </a:p>
        </p:txBody>
      </p:sp>
      <p:sp>
        <p:nvSpPr>
          <p:cNvPr id="28" name="Text 25"/>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9" name="Text 26"/>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1E3D"/>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CFE6F7"/>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CAMTEL-OnePortal — et après ?</a:t>
            </a:r>
            <a:endParaRPr lang="en-US" sz="2800" dirty="0"/>
          </a:p>
        </p:txBody>
      </p:sp>
      <p:sp>
        <p:nvSpPr>
          <p:cNvPr id="4" name="Text 2"/>
          <p:cNvSpPr/>
          <p:nvPr/>
        </p:nvSpPr>
        <p:spPr>
          <a:xfrm>
            <a:off x="548640" y="1234440"/>
            <a:ext cx="11064240" cy="411480"/>
          </a:xfrm>
          <a:prstGeom prst="rect">
            <a:avLst/>
          </a:prstGeom>
          <a:noFill/>
          <a:ln/>
        </p:spPr>
        <p:txBody>
          <a:bodyPr wrap="square" rtlCol="0" anchor="ctr"/>
          <a:lstStyle/>
          <a:p>
            <a:pPr algn="ctr" indent="0" marL="0">
              <a:buNone/>
            </a:pPr>
            <a:r>
              <a:rPr lang="en-US" sz="1500" i="1" dirty="0">
                <a:solidFill>
                  <a:srgbClr val="CFE6F7"/>
                </a:solidFill>
                <a:latin typeface="Calibri" pitchFamily="34" charset="0"/>
                <a:ea typeface="Calibri" pitchFamily="34" charset="-122"/>
                <a:cs typeface="Calibri" pitchFamily="34" charset="-120"/>
              </a:rPr>
              <a:t>« Une expérience numérique unifiée pour les services CAMTEL. »</a:t>
            </a:r>
            <a:endParaRPr lang="en-US" sz="1500" dirty="0"/>
          </a:p>
        </p:txBody>
      </p:sp>
      <p:sp>
        <p:nvSpPr>
          <p:cNvPr id="5" name="Text 3"/>
          <p:cNvSpPr/>
          <p:nvPr/>
        </p:nvSpPr>
        <p:spPr>
          <a:xfrm>
            <a:off x="548640" y="1828800"/>
            <a:ext cx="5486400" cy="274320"/>
          </a:xfrm>
          <a:prstGeom prst="rect">
            <a:avLst/>
          </a:prstGeom>
          <a:noFill/>
          <a:ln/>
        </p:spPr>
        <p:txBody>
          <a:bodyPr wrap="square" rtlCol="0" anchor="ctr"/>
          <a:lstStyle/>
          <a:p>
            <a:pPr indent="0" marL="0">
              <a:buNone/>
            </a:pPr>
            <a:r>
              <a:rPr lang="en-US" sz="1050" b="1" spc="120" kern="0" dirty="0">
                <a:solidFill>
                  <a:srgbClr val="00B0F0"/>
                </a:solidFill>
                <a:latin typeface="Calibri" pitchFamily="34" charset="0"/>
                <a:ea typeface="Calibri" pitchFamily="34" charset="-122"/>
                <a:cs typeface="Calibri" pitchFamily="34" charset="-120"/>
              </a:rPr>
              <a:t>PERSPECTIVES (ROADMAP RÉELLE DU PROJET)</a:t>
            </a:r>
            <a:endParaRPr lang="en-US" sz="1050" dirty="0"/>
          </a:p>
        </p:txBody>
      </p:sp>
      <p:sp>
        <p:nvSpPr>
          <p:cNvPr id="6" name="Text 4"/>
          <p:cNvSpPr/>
          <p:nvPr/>
        </p:nvSpPr>
        <p:spPr>
          <a:xfrm>
            <a:off x="548640" y="2194560"/>
            <a:ext cx="11064240" cy="2926080"/>
          </a:xfrm>
          <a:prstGeom prst="rect">
            <a:avLst/>
          </a:prstGeom>
          <a:noFill/>
          <a:ln/>
        </p:spPr>
        <p:txBody>
          <a:bodyPr wrap="square" rtlCol="0" anchor="t"/>
          <a:lstStyle/>
          <a:p>
            <a:pPr marL="177800" indent="-1778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Activer un provider de paiement réel (Orange Money / MTN MoMo) avec identifiants marchands</a:t>
            </a:r>
            <a:endParaRPr lang="en-US" sz="1300" dirty="0"/>
          </a:p>
          <a:p>
            <a:pPr marL="177800" indent="-1778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Signer les webhooks de paiement une fois un provider réel branché</a:t>
            </a:r>
            <a:endParaRPr lang="en-US" sz="1300" dirty="0"/>
          </a:p>
          <a:p>
            <a:pPr marL="177800" indent="-1778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Renforcer les tests frontend (Vitest) — actuellement peu couverts</a:t>
            </a:r>
            <a:endParaRPr lang="en-US" sz="1300" dirty="0"/>
          </a:p>
          <a:p>
            <a:pPr marL="177800" indent="-1778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Automatiser le test de restauration des sauvegardes</a:t>
            </a:r>
            <a:endParaRPr lang="en-US" sz="1300" dirty="0"/>
          </a:p>
          <a:p>
            <a:pPr marL="177800" indent="-1778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Étendre le Help Center et l'assistant IA (pipeline RAG déjà activable via CHATBOT_PROVIDER)</a:t>
            </a:r>
            <a:endParaRPr lang="en-US" sz="1300" dirty="0"/>
          </a:p>
          <a:p>
            <a:pPr marL="177800" indent="-1778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Élargir la couverture du catalogue officiel (offres Fiber Connect encore en cours de vérification)</a:t>
            </a:r>
            <a:endParaRPr lang="en-US" sz="1300" dirty="0"/>
          </a:p>
        </p:txBody>
      </p:sp>
      <p:sp>
        <p:nvSpPr>
          <p:cNvPr id="7" name="Shape 5"/>
          <p:cNvSpPr/>
          <p:nvPr/>
        </p:nvSpPr>
        <p:spPr>
          <a:xfrm>
            <a:off x="2286000" y="5486400"/>
            <a:ext cx="7589520" cy="0"/>
          </a:xfrm>
          <a:prstGeom prst="line">
            <a:avLst/>
          </a:prstGeom>
          <a:noFill/>
          <a:ln w="12700">
            <a:solidFill>
              <a:srgbClr val="27427A"/>
            </a:solidFill>
            <a:prstDash val="solid"/>
          </a:ln>
        </p:spPr>
      </p:sp>
      <p:sp>
        <p:nvSpPr>
          <p:cNvPr id="8" name="Text 6"/>
          <p:cNvSpPr/>
          <p:nvPr/>
        </p:nvSpPr>
        <p:spPr>
          <a:xfrm>
            <a:off x="548640" y="5669280"/>
            <a:ext cx="1106424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Merci pour votre attention — Questions / Échanges</a:t>
            </a:r>
            <a:endParaRPr lang="en-US" sz="2000" dirty="0"/>
          </a:p>
        </p:txBody>
      </p:sp>
      <p:sp>
        <p:nvSpPr>
          <p:cNvPr id="9" name="Text 7"/>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Conclusion</a:t>
            </a:r>
            <a:endParaRPr lang="en-US" sz="900" dirty="0"/>
          </a:p>
        </p:txBody>
      </p:sp>
      <p:sp>
        <p:nvSpPr>
          <p:cNvPr id="10" name="Text 8"/>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11" name="Text 9"/>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71E3D"/>
        </a:solidFill>
      </p:bgPr>
    </p:bg>
    <p:spTree>
      <p:nvGrpSpPr>
        <p:cNvPr id="1" name=""/>
        <p:cNvGrpSpPr/>
        <p:nvPr/>
      </p:nvGrpSpPr>
      <p:grpSpPr>
        <a:xfrm>
          <a:off x="0" y="0"/>
          <a:ext cx="0" cy="0"/>
          <a:chOff x="0" y="0"/>
          <a:chExt cx="0" cy="0"/>
        </a:xfrm>
      </p:grpSpPr>
      <p:sp>
        <p:nvSpPr>
          <p:cNvPr id="2" name="Text 0"/>
          <p:cNvSpPr/>
          <p:nvPr/>
        </p:nvSpPr>
        <p:spPr>
          <a:xfrm>
            <a:off x="548640" y="2834640"/>
            <a:ext cx="11064240" cy="91440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ANNEXES</a:t>
            </a:r>
            <a:endParaRPr lang="en-US" sz="4000" dirty="0"/>
          </a:p>
        </p:txBody>
      </p:sp>
      <p:sp>
        <p:nvSpPr>
          <p:cNvPr id="3" name="Text 1"/>
          <p:cNvSpPr/>
          <p:nvPr/>
        </p:nvSpPr>
        <p:spPr>
          <a:xfrm>
            <a:off x="548640" y="3703320"/>
            <a:ext cx="11064240" cy="457200"/>
          </a:xfrm>
          <a:prstGeom prst="rect">
            <a:avLst/>
          </a:prstGeom>
          <a:noFill/>
          <a:ln/>
        </p:spPr>
        <p:txBody>
          <a:bodyPr wrap="square" rtlCol="0" anchor="ctr"/>
          <a:lstStyle/>
          <a:p>
            <a:pPr algn="ctr" indent="0" marL="0">
              <a:buNone/>
            </a:pPr>
            <a:r>
              <a:rPr lang="en-US" sz="1300" i="1" dirty="0">
                <a:solidFill>
                  <a:srgbClr val="CFE6F7"/>
                </a:solidFill>
                <a:latin typeface="Calibri" pitchFamily="34" charset="0"/>
                <a:ea typeface="Calibri" pitchFamily="34" charset="-122"/>
                <a:cs typeface="Calibri" pitchFamily="34" charset="-120"/>
              </a:rPr>
              <a:t>Architecture API · MCD détaillé · RBAC détaillé · Structure backend · Structure data · Technologies</a:t>
            </a:r>
            <a:endParaRPr lang="en-US" sz="1300" dirty="0"/>
          </a:p>
        </p:txBody>
      </p:sp>
      <p:sp>
        <p:nvSpPr>
          <p:cNvPr id="4" name="Text 2"/>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Annexes</a:t>
            </a:r>
            <a:endParaRPr lang="en-US" sz="900" dirty="0"/>
          </a:p>
        </p:txBody>
      </p:sp>
      <p:sp>
        <p:nvSpPr>
          <p:cNvPr id="5" name="Text 3"/>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6" name="Text 4"/>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ANNEXE A</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Architecture API — endpoints réels</a:t>
            </a:r>
            <a:endParaRPr lang="en-US" sz="2800" dirty="0"/>
          </a:p>
        </p:txBody>
      </p:sp>
      <p:sp>
        <p:nvSpPr>
          <p:cNvPr id="4" name="Shape 2"/>
          <p:cNvSpPr/>
          <p:nvPr/>
        </p:nvSpPr>
        <p:spPr>
          <a:xfrm>
            <a:off x="548640" y="1463040"/>
            <a:ext cx="2103120" cy="566928"/>
          </a:xfrm>
          <a:prstGeom prst="roundRect">
            <a:avLst>
              <a:gd name="adj" fmla="val 8065"/>
            </a:avLst>
          </a:prstGeom>
          <a:solidFill>
            <a:srgbClr val="0A2C54"/>
          </a:solidFill>
          <a:ln/>
        </p:spPr>
      </p:sp>
      <p:sp>
        <p:nvSpPr>
          <p:cNvPr id="5" name="Text 3"/>
          <p:cNvSpPr/>
          <p:nvPr/>
        </p:nvSpPr>
        <p:spPr>
          <a:xfrm>
            <a:off x="548640" y="1463040"/>
            <a:ext cx="210312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Auth</a:t>
            </a:r>
            <a:endParaRPr lang="en-US" sz="1050" dirty="0"/>
          </a:p>
        </p:txBody>
      </p:sp>
      <p:sp>
        <p:nvSpPr>
          <p:cNvPr id="6" name="Text 4"/>
          <p:cNvSpPr/>
          <p:nvPr/>
        </p:nvSpPr>
        <p:spPr>
          <a:xfrm>
            <a:off x="2788920" y="1463040"/>
            <a:ext cx="8869680" cy="566928"/>
          </a:xfrm>
          <a:prstGeom prst="rect">
            <a:avLst/>
          </a:prstGeom>
          <a:noFill/>
          <a:ln/>
        </p:spPr>
        <p:txBody>
          <a:bodyPr wrap="square" rtlCol="0" anchor="ctr"/>
          <a:lstStyle/>
          <a:p>
            <a:pPr indent="0" marL="0">
              <a:buNone/>
            </a:pPr>
            <a:r>
              <a:rPr lang="en-US" sz="900" dirty="0">
                <a:solidFill>
                  <a:srgbClr val="1F2937"/>
                </a:solidFill>
                <a:latin typeface="Courier New" pitchFamily="34" charset="0"/>
                <a:ea typeface="Courier New" pitchFamily="34" charset="-122"/>
                <a:cs typeface="Courier New" pitchFamily="34" charset="-120"/>
              </a:rPr>
              <a:t>auth/login/, auth/refresh/, auth/logout/, auth/me/, auth/register/, token/, token/refresh/</a:t>
            </a:r>
            <a:endParaRPr lang="en-US" sz="900" dirty="0"/>
          </a:p>
        </p:txBody>
      </p:sp>
      <p:sp>
        <p:nvSpPr>
          <p:cNvPr id="7" name="Shape 5"/>
          <p:cNvSpPr/>
          <p:nvPr/>
        </p:nvSpPr>
        <p:spPr>
          <a:xfrm>
            <a:off x="548640" y="2103120"/>
            <a:ext cx="2103120" cy="566928"/>
          </a:xfrm>
          <a:prstGeom prst="roundRect">
            <a:avLst>
              <a:gd name="adj" fmla="val 8065"/>
            </a:avLst>
          </a:prstGeom>
          <a:solidFill>
            <a:srgbClr val="0A2C54"/>
          </a:solidFill>
          <a:ln/>
        </p:spPr>
      </p:sp>
      <p:sp>
        <p:nvSpPr>
          <p:cNvPr id="8" name="Text 6"/>
          <p:cNvSpPr/>
          <p:nvPr/>
        </p:nvSpPr>
        <p:spPr>
          <a:xfrm>
            <a:off x="548640" y="2103120"/>
            <a:ext cx="210312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Catalogue</a:t>
            </a:r>
            <a:endParaRPr lang="en-US" sz="1050" dirty="0"/>
          </a:p>
        </p:txBody>
      </p:sp>
      <p:sp>
        <p:nvSpPr>
          <p:cNvPr id="9" name="Text 7"/>
          <p:cNvSpPr/>
          <p:nvPr/>
        </p:nvSpPr>
        <p:spPr>
          <a:xfrm>
            <a:off x="2788920" y="2103120"/>
            <a:ext cx="8869680" cy="566928"/>
          </a:xfrm>
          <a:prstGeom prst="rect">
            <a:avLst/>
          </a:prstGeom>
          <a:noFill/>
          <a:ln/>
        </p:spPr>
        <p:txBody>
          <a:bodyPr wrap="square" rtlCol="0" anchor="ctr"/>
          <a:lstStyle/>
          <a:p>
            <a:pPr indent="0" marL="0">
              <a:buNone/>
            </a:pPr>
            <a:r>
              <a:rPr lang="en-US" sz="900" dirty="0">
                <a:solidFill>
                  <a:srgbClr val="1F2937"/>
                </a:solidFill>
                <a:latin typeface="Courier New" pitchFamily="34" charset="0"/>
                <a:ea typeface="Courier New" pitchFamily="34" charset="-122"/>
                <a:cs typeface="Courier New" pitchFamily="34" charset="-120"/>
              </a:rPr>
              <a:t>products/, categories/, product-image, search/, search/autocomplete/, recommendations/</a:t>
            </a:r>
            <a:endParaRPr lang="en-US" sz="900" dirty="0"/>
          </a:p>
        </p:txBody>
      </p:sp>
      <p:sp>
        <p:nvSpPr>
          <p:cNvPr id="10" name="Shape 8"/>
          <p:cNvSpPr/>
          <p:nvPr/>
        </p:nvSpPr>
        <p:spPr>
          <a:xfrm>
            <a:off x="548640" y="2743200"/>
            <a:ext cx="2103120" cy="566928"/>
          </a:xfrm>
          <a:prstGeom prst="roundRect">
            <a:avLst>
              <a:gd name="adj" fmla="val 8065"/>
            </a:avLst>
          </a:prstGeom>
          <a:solidFill>
            <a:srgbClr val="0A2C54"/>
          </a:solidFill>
          <a:ln/>
        </p:spPr>
      </p:sp>
      <p:sp>
        <p:nvSpPr>
          <p:cNvPr id="11" name="Text 9"/>
          <p:cNvSpPr/>
          <p:nvPr/>
        </p:nvSpPr>
        <p:spPr>
          <a:xfrm>
            <a:off x="548640" y="2743200"/>
            <a:ext cx="210312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Souscriptions</a:t>
            </a:r>
            <a:endParaRPr lang="en-US" sz="1050" dirty="0"/>
          </a:p>
        </p:txBody>
      </p:sp>
      <p:sp>
        <p:nvSpPr>
          <p:cNvPr id="12" name="Text 10"/>
          <p:cNvSpPr/>
          <p:nvPr/>
        </p:nvSpPr>
        <p:spPr>
          <a:xfrm>
            <a:off x="2788920" y="2743200"/>
            <a:ext cx="8869680" cy="566928"/>
          </a:xfrm>
          <a:prstGeom prst="rect">
            <a:avLst/>
          </a:prstGeom>
          <a:noFill/>
          <a:ln/>
        </p:spPr>
        <p:txBody>
          <a:bodyPr wrap="square" rtlCol="0" anchor="ctr"/>
          <a:lstStyle/>
          <a:p>
            <a:pPr indent="0" marL="0">
              <a:buNone/>
            </a:pPr>
            <a:r>
              <a:rPr lang="en-US" sz="900" dirty="0">
                <a:solidFill>
                  <a:srgbClr val="1F2937"/>
                </a:solidFill>
                <a:latin typeface="Courier New" pitchFamily="34" charset="0"/>
                <a:ea typeface="Courier New" pitchFamily="34" charset="-122"/>
                <a:cs typeface="Courier New" pitchFamily="34" charset="-120"/>
              </a:rPr>
              <a:t>subscriptions/ (via apps.subscriptions), eligibility/check/</a:t>
            </a:r>
            <a:endParaRPr lang="en-US" sz="900" dirty="0"/>
          </a:p>
        </p:txBody>
      </p:sp>
      <p:sp>
        <p:nvSpPr>
          <p:cNvPr id="13" name="Shape 11"/>
          <p:cNvSpPr/>
          <p:nvPr/>
        </p:nvSpPr>
        <p:spPr>
          <a:xfrm>
            <a:off x="548640" y="3383280"/>
            <a:ext cx="2103120" cy="566928"/>
          </a:xfrm>
          <a:prstGeom prst="roundRect">
            <a:avLst>
              <a:gd name="adj" fmla="val 8065"/>
            </a:avLst>
          </a:prstGeom>
          <a:solidFill>
            <a:srgbClr val="0A2C54"/>
          </a:solidFill>
          <a:ln/>
        </p:spPr>
      </p:sp>
      <p:sp>
        <p:nvSpPr>
          <p:cNvPr id="14" name="Text 12"/>
          <p:cNvSpPr/>
          <p:nvPr/>
        </p:nvSpPr>
        <p:spPr>
          <a:xfrm>
            <a:off x="548640" y="3383280"/>
            <a:ext cx="210312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Paiements</a:t>
            </a:r>
            <a:endParaRPr lang="en-US" sz="1050" dirty="0"/>
          </a:p>
        </p:txBody>
      </p:sp>
      <p:sp>
        <p:nvSpPr>
          <p:cNvPr id="15" name="Text 13"/>
          <p:cNvSpPr/>
          <p:nvPr/>
        </p:nvSpPr>
        <p:spPr>
          <a:xfrm>
            <a:off x="2788920" y="3383280"/>
            <a:ext cx="8869680" cy="566928"/>
          </a:xfrm>
          <a:prstGeom prst="rect">
            <a:avLst/>
          </a:prstGeom>
          <a:noFill/>
          <a:ln/>
        </p:spPr>
        <p:txBody>
          <a:bodyPr wrap="square" rtlCol="0" anchor="ctr"/>
          <a:lstStyle/>
          <a:p>
            <a:pPr indent="0" marL="0">
              <a:buNone/>
            </a:pPr>
            <a:r>
              <a:rPr lang="en-US" sz="900" dirty="0">
                <a:solidFill>
                  <a:srgbClr val="1F2937"/>
                </a:solidFill>
                <a:latin typeface="Courier New" pitchFamily="34" charset="0"/>
                <a:ea typeface="Courier New" pitchFamily="34" charset="-122"/>
                <a:cs typeface="Courier New" pitchFamily="34" charset="-120"/>
              </a:rPr>
              <a:t>payments/initiate/, payments/{reference}/status/, payments/webhook/{provider}/</a:t>
            </a:r>
            <a:endParaRPr lang="en-US" sz="900" dirty="0"/>
          </a:p>
        </p:txBody>
      </p:sp>
      <p:sp>
        <p:nvSpPr>
          <p:cNvPr id="16" name="Shape 14"/>
          <p:cNvSpPr/>
          <p:nvPr/>
        </p:nvSpPr>
        <p:spPr>
          <a:xfrm>
            <a:off x="548640" y="4023360"/>
            <a:ext cx="2103120" cy="566928"/>
          </a:xfrm>
          <a:prstGeom prst="roundRect">
            <a:avLst>
              <a:gd name="adj" fmla="val 8065"/>
            </a:avLst>
          </a:prstGeom>
          <a:solidFill>
            <a:srgbClr val="0A2C54"/>
          </a:solidFill>
          <a:ln/>
        </p:spPr>
      </p:sp>
      <p:sp>
        <p:nvSpPr>
          <p:cNvPr id="17" name="Text 15"/>
          <p:cNvSpPr/>
          <p:nvPr/>
        </p:nvSpPr>
        <p:spPr>
          <a:xfrm>
            <a:off x="548640" y="4023360"/>
            <a:ext cx="210312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Support &amp; contenu</a:t>
            </a:r>
            <a:endParaRPr lang="en-US" sz="1050" dirty="0"/>
          </a:p>
        </p:txBody>
      </p:sp>
      <p:sp>
        <p:nvSpPr>
          <p:cNvPr id="18" name="Text 16"/>
          <p:cNvSpPr/>
          <p:nvPr/>
        </p:nvSpPr>
        <p:spPr>
          <a:xfrm>
            <a:off x="2788920" y="4023360"/>
            <a:ext cx="8869680" cy="566928"/>
          </a:xfrm>
          <a:prstGeom prst="rect">
            <a:avLst/>
          </a:prstGeom>
          <a:noFill/>
          <a:ln/>
        </p:spPr>
        <p:txBody>
          <a:bodyPr wrap="square" rtlCol="0" anchor="ctr"/>
          <a:lstStyle/>
          <a:p>
            <a:pPr indent="0" marL="0">
              <a:buNone/>
            </a:pPr>
            <a:r>
              <a:rPr lang="en-US" sz="900" dirty="0">
                <a:solidFill>
                  <a:srgbClr val="1F2937"/>
                </a:solidFill>
                <a:latin typeface="Courier New" pitchFamily="34" charset="0"/>
                <a:ea typeface="Courier New" pitchFamily="34" charset="-122"/>
                <a:cs typeface="Courier New" pitchFamily="34" charset="-120"/>
              </a:rPr>
              <a:t>documents/, news/, blog/, chatbot/ask/, contacts/</a:t>
            </a:r>
            <a:endParaRPr lang="en-US" sz="900" dirty="0"/>
          </a:p>
        </p:txBody>
      </p:sp>
      <p:sp>
        <p:nvSpPr>
          <p:cNvPr id="19" name="Shape 17"/>
          <p:cNvSpPr/>
          <p:nvPr/>
        </p:nvSpPr>
        <p:spPr>
          <a:xfrm>
            <a:off x="548640" y="4663440"/>
            <a:ext cx="2103120" cy="566928"/>
          </a:xfrm>
          <a:prstGeom prst="roundRect">
            <a:avLst>
              <a:gd name="adj" fmla="val 8065"/>
            </a:avLst>
          </a:prstGeom>
          <a:solidFill>
            <a:srgbClr val="0A2C54"/>
          </a:solidFill>
          <a:ln/>
        </p:spPr>
      </p:sp>
      <p:sp>
        <p:nvSpPr>
          <p:cNvPr id="20" name="Text 18"/>
          <p:cNvSpPr/>
          <p:nvPr/>
        </p:nvSpPr>
        <p:spPr>
          <a:xfrm>
            <a:off x="548640" y="4663440"/>
            <a:ext cx="210312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Back-office</a:t>
            </a:r>
            <a:endParaRPr lang="en-US" sz="1050" dirty="0"/>
          </a:p>
        </p:txBody>
      </p:sp>
      <p:sp>
        <p:nvSpPr>
          <p:cNvPr id="21" name="Text 19"/>
          <p:cNvSpPr/>
          <p:nvPr/>
        </p:nvSpPr>
        <p:spPr>
          <a:xfrm>
            <a:off x="2788920" y="4663440"/>
            <a:ext cx="8869680" cy="566928"/>
          </a:xfrm>
          <a:prstGeom prst="rect">
            <a:avLst/>
          </a:prstGeom>
          <a:noFill/>
          <a:ln/>
        </p:spPr>
        <p:txBody>
          <a:bodyPr wrap="square" rtlCol="0" anchor="ctr"/>
          <a:lstStyle/>
          <a:p>
            <a:pPr indent="0" marL="0">
              <a:buNone/>
            </a:pPr>
            <a:r>
              <a:rPr lang="en-US" sz="900" dirty="0">
                <a:solidFill>
                  <a:srgbClr val="1F2937"/>
                </a:solidFill>
                <a:latin typeface="Courier New" pitchFamily="34" charset="0"/>
                <a:ea typeface="Courier New" pitchFamily="34" charset="-122"/>
                <a:cs typeface="Courier New" pitchFamily="34" charset="-120"/>
              </a:rPr>
              <a:t>dashboard/summary/, roles/, catalog/quality/, analytics/events/, analytics/summary/</a:t>
            </a:r>
            <a:endParaRPr lang="en-US" sz="900" dirty="0"/>
          </a:p>
        </p:txBody>
      </p:sp>
      <p:sp>
        <p:nvSpPr>
          <p:cNvPr id="22" name="Shape 20"/>
          <p:cNvSpPr/>
          <p:nvPr/>
        </p:nvSpPr>
        <p:spPr>
          <a:xfrm>
            <a:off x="548640" y="5303520"/>
            <a:ext cx="2103120" cy="566928"/>
          </a:xfrm>
          <a:prstGeom prst="roundRect">
            <a:avLst>
              <a:gd name="adj" fmla="val 8065"/>
            </a:avLst>
          </a:prstGeom>
          <a:solidFill>
            <a:srgbClr val="0A2C54"/>
          </a:solidFill>
          <a:ln/>
        </p:spPr>
      </p:sp>
      <p:sp>
        <p:nvSpPr>
          <p:cNvPr id="23" name="Text 21"/>
          <p:cNvSpPr/>
          <p:nvPr/>
        </p:nvSpPr>
        <p:spPr>
          <a:xfrm>
            <a:off x="548640" y="5303520"/>
            <a:ext cx="210312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Santé &amp; Docs</a:t>
            </a:r>
            <a:endParaRPr lang="en-US" sz="1050" dirty="0"/>
          </a:p>
        </p:txBody>
      </p:sp>
      <p:sp>
        <p:nvSpPr>
          <p:cNvPr id="24" name="Text 22"/>
          <p:cNvSpPr/>
          <p:nvPr/>
        </p:nvSpPr>
        <p:spPr>
          <a:xfrm>
            <a:off x="2788920" y="5303520"/>
            <a:ext cx="8869680" cy="566928"/>
          </a:xfrm>
          <a:prstGeom prst="rect">
            <a:avLst/>
          </a:prstGeom>
          <a:noFill/>
          <a:ln/>
        </p:spPr>
        <p:txBody>
          <a:bodyPr wrap="square" rtlCol="0" anchor="ctr"/>
          <a:lstStyle/>
          <a:p>
            <a:pPr indent="0" marL="0">
              <a:buNone/>
            </a:pPr>
            <a:r>
              <a:rPr lang="en-US" sz="900" dirty="0">
                <a:solidFill>
                  <a:srgbClr val="1F2937"/>
                </a:solidFill>
                <a:latin typeface="Courier New" pitchFamily="34" charset="0"/>
                <a:ea typeface="Courier New" pitchFamily="34" charset="-122"/>
                <a:cs typeface="Courier New" pitchFamily="34" charset="-120"/>
              </a:rPr>
              <a:t>health/, health/live/, health/ready/, api/docs/, api/schema/ (drf-spectacular)</a:t>
            </a:r>
            <a:endParaRPr lang="en-US" sz="900" dirty="0"/>
          </a:p>
        </p:txBody>
      </p:sp>
      <p:sp>
        <p:nvSpPr>
          <p:cNvPr id="25" name="Shape 23"/>
          <p:cNvSpPr/>
          <p:nvPr/>
        </p:nvSpPr>
        <p:spPr>
          <a:xfrm>
            <a:off x="548640" y="5943600"/>
            <a:ext cx="2103120" cy="566928"/>
          </a:xfrm>
          <a:prstGeom prst="roundRect">
            <a:avLst>
              <a:gd name="adj" fmla="val 8065"/>
            </a:avLst>
          </a:prstGeom>
          <a:solidFill>
            <a:srgbClr val="0A2C54"/>
          </a:solidFill>
          <a:ln/>
        </p:spPr>
      </p:sp>
      <p:sp>
        <p:nvSpPr>
          <p:cNvPr id="26" name="Text 24"/>
          <p:cNvSpPr/>
          <p:nvPr/>
        </p:nvSpPr>
        <p:spPr>
          <a:xfrm>
            <a:off x="548640" y="5943600"/>
            <a:ext cx="210312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Partenaires (B2B)</a:t>
            </a:r>
            <a:endParaRPr lang="en-US" sz="1050" dirty="0"/>
          </a:p>
        </p:txBody>
      </p:sp>
      <p:sp>
        <p:nvSpPr>
          <p:cNvPr id="27" name="Text 25"/>
          <p:cNvSpPr/>
          <p:nvPr/>
        </p:nvSpPr>
        <p:spPr>
          <a:xfrm>
            <a:off x="2788920" y="5943600"/>
            <a:ext cx="8869680" cy="566928"/>
          </a:xfrm>
          <a:prstGeom prst="rect">
            <a:avLst/>
          </a:prstGeom>
          <a:noFill/>
          <a:ln/>
        </p:spPr>
        <p:txBody>
          <a:bodyPr wrap="square" rtlCol="0" anchor="ctr"/>
          <a:lstStyle/>
          <a:p>
            <a:pPr indent="0" marL="0">
              <a:buNone/>
            </a:pPr>
            <a:r>
              <a:rPr lang="en-US" sz="900" dirty="0">
                <a:solidFill>
                  <a:srgbClr val="1F2937"/>
                </a:solidFill>
                <a:latin typeface="Courier New" pitchFamily="34" charset="0"/>
                <a:ea typeface="Courier New" pitchFamily="34" charset="-122"/>
                <a:cs typeface="Courier New" pitchFamily="34" charset="-120"/>
              </a:rPr>
              <a:t>api/partner/v2/ — partner-products, partner-categories, partner-news (PartnerAPIKey)</a:t>
            </a:r>
            <a:endParaRPr lang="en-US" sz="900" dirty="0"/>
          </a:p>
        </p:txBody>
      </p:sp>
      <p:sp>
        <p:nvSpPr>
          <p:cNvPr id="28" name="Text 26"/>
          <p:cNvSpPr/>
          <p:nvPr/>
        </p:nvSpPr>
        <p:spPr>
          <a:xfrm>
            <a:off x="548640" y="6720840"/>
            <a:ext cx="11064240" cy="36576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Toutes les routes sont préfixées par /api/v1/ (sauf /api/v2/partner/). Documentation interactive : /api/docs/ (Swagger UI, générée automatiquement).</a:t>
            </a:r>
            <a:endParaRPr lang="en-US" sz="950" dirty="0"/>
          </a:p>
        </p:txBody>
      </p:sp>
      <p:sp>
        <p:nvSpPr>
          <p:cNvPr id="29" name="Text 27"/>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Annexe A — API</a:t>
            </a:r>
            <a:endParaRPr lang="en-US" sz="900" dirty="0"/>
          </a:p>
        </p:txBody>
      </p:sp>
      <p:sp>
        <p:nvSpPr>
          <p:cNvPr id="30" name="Text 28"/>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31" name="Text 29"/>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ANNEXE B</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MCD détaillé — 23 entités réelles</a:t>
            </a:r>
            <a:endParaRPr lang="en-US" sz="2800" dirty="0"/>
          </a:p>
        </p:txBody>
      </p:sp>
      <p:sp>
        <p:nvSpPr>
          <p:cNvPr id="4" name="Shape 2"/>
          <p:cNvSpPr/>
          <p:nvPr/>
        </p:nvSpPr>
        <p:spPr>
          <a:xfrm>
            <a:off x="548640" y="1417320"/>
            <a:ext cx="5486400" cy="365760"/>
          </a:xfrm>
          <a:prstGeom prst="rect">
            <a:avLst/>
          </a:prstGeom>
          <a:solidFill>
            <a:srgbClr val="F4F6F8"/>
          </a:solidFill>
          <a:ln/>
        </p:spPr>
      </p:sp>
      <p:sp>
        <p:nvSpPr>
          <p:cNvPr id="5" name="Text 3"/>
          <p:cNvSpPr/>
          <p:nvPr/>
        </p:nvSpPr>
        <p:spPr>
          <a:xfrm>
            <a:off x="621792" y="1417320"/>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User</a:t>
            </a:r>
            <a:endParaRPr lang="en-US" sz="900" dirty="0"/>
          </a:p>
        </p:txBody>
      </p:sp>
      <p:sp>
        <p:nvSpPr>
          <p:cNvPr id="6" name="Text 4"/>
          <p:cNvSpPr/>
          <p:nvPr/>
        </p:nvSpPr>
        <p:spPr>
          <a:xfrm>
            <a:off x="2377440" y="1417320"/>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apps/users — username, email, role</a:t>
            </a:r>
            <a:endParaRPr lang="en-US" sz="870" dirty="0"/>
          </a:p>
        </p:txBody>
      </p:sp>
      <p:sp>
        <p:nvSpPr>
          <p:cNvPr id="7" name="Shape 5"/>
          <p:cNvSpPr/>
          <p:nvPr/>
        </p:nvSpPr>
        <p:spPr>
          <a:xfrm>
            <a:off x="548640" y="1819656"/>
            <a:ext cx="5486400" cy="365760"/>
          </a:xfrm>
          <a:prstGeom prst="rect">
            <a:avLst/>
          </a:prstGeom>
          <a:solidFill>
            <a:srgbClr val="FFFFFF"/>
          </a:solidFill>
          <a:ln/>
        </p:spPr>
      </p:sp>
      <p:sp>
        <p:nvSpPr>
          <p:cNvPr id="8" name="Text 6"/>
          <p:cNvSpPr/>
          <p:nvPr/>
        </p:nvSpPr>
        <p:spPr>
          <a:xfrm>
            <a:off x="621792" y="1819656"/>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Service</a:t>
            </a:r>
            <a:endParaRPr lang="en-US" sz="900" dirty="0"/>
          </a:p>
        </p:txBody>
      </p:sp>
      <p:sp>
        <p:nvSpPr>
          <p:cNvPr id="9" name="Text 7"/>
          <p:cNvSpPr/>
          <p:nvPr/>
        </p:nvSpPr>
        <p:spPr>
          <a:xfrm>
            <a:off x="2377440" y="1819656"/>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apps/products — FIXED/MOBILE/TRANSPORT/DATA_CENTER</a:t>
            </a:r>
            <a:endParaRPr lang="en-US" sz="870" dirty="0"/>
          </a:p>
        </p:txBody>
      </p:sp>
      <p:sp>
        <p:nvSpPr>
          <p:cNvPr id="10" name="Shape 8"/>
          <p:cNvSpPr/>
          <p:nvPr/>
        </p:nvSpPr>
        <p:spPr>
          <a:xfrm>
            <a:off x="548640" y="2221992"/>
            <a:ext cx="5486400" cy="365760"/>
          </a:xfrm>
          <a:prstGeom prst="rect">
            <a:avLst/>
          </a:prstGeom>
          <a:solidFill>
            <a:srgbClr val="F4F6F8"/>
          </a:solidFill>
          <a:ln/>
        </p:spPr>
      </p:sp>
      <p:sp>
        <p:nvSpPr>
          <p:cNvPr id="11" name="Text 9"/>
          <p:cNvSpPr/>
          <p:nvPr/>
        </p:nvSpPr>
        <p:spPr>
          <a:xfrm>
            <a:off x="621792" y="2221992"/>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Segment</a:t>
            </a:r>
            <a:endParaRPr lang="en-US" sz="900" dirty="0"/>
          </a:p>
        </p:txBody>
      </p:sp>
      <p:sp>
        <p:nvSpPr>
          <p:cNvPr id="12" name="Text 10"/>
          <p:cNvSpPr/>
          <p:nvPr/>
        </p:nvSpPr>
        <p:spPr>
          <a:xfrm>
            <a:off x="2377440" y="2221992"/>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apps/products — Particulier/Pro/Entreprise/Administration</a:t>
            </a:r>
            <a:endParaRPr lang="en-US" sz="870" dirty="0"/>
          </a:p>
        </p:txBody>
      </p:sp>
      <p:sp>
        <p:nvSpPr>
          <p:cNvPr id="13" name="Shape 11"/>
          <p:cNvSpPr/>
          <p:nvPr/>
        </p:nvSpPr>
        <p:spPr>
          <a:xfrm>
            <a:off x="548640" y="2624328"/>
            <a:ext cx="5486400" cy="365760"/>
          </a:xfrm>
          <a:prstGeom prst="rect">
            <a:avLst/>
          </a:prstGeom>
          <a:solidFill>
            <a:srgbClr val="FFFFFF"/>
          </a:solidFill>
          <a:ln/>
        </p:spPr>
      </p:sp>
      <p:sp>
        <p:nvSpPr>
          <p:cNvPr id="14" name="Text 12"/>
          <p:cNvSpPr/>
          <p:nvPr/>
        </p:nvSpPr>
        <p:spPr>
          <a:xfrm>
            <a:off x="621792" y="2624328"/>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Category</a:t>
            </a:r>
            <a:endParaRPr lang="en-US" sz="900" dirty="0"/>
          </a:p>
        </p:txBody>
      </p:sp>
      <p:sp>
        <p:nvSpPr>
          <p:cNvPr id="15" name="Text 13"/>
          <p:cNvSpPr/>
          <p:nvPr/>
        </p:nvSpPr>
        <p:spPr>
          <a:xfrm>
            <a:off x="2377440" y="2624328"/>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apps/categories — hiérarchie de classification</a:t>
            </a:r>
            <a:endParaRPr lang="en-US" sz="870" dirty="0"/>
          </a:p>
        </p:txBody>
      </p:sp>
      <p:sp>
        <p:nvSpPr>
          <p:cNvPr id="16" name="Shape 14"/>
          <p:cNvSpPr/>
          <p:nvPr/>
        </p:nvSpPr>
        <p:spPr>
          <a:xfrm>
            <a:off x="548640" y="3026664"/>
            <a:ext cx="5486400" cy="365760"/>
          </a:xfrm>
          <a:prstGeom prst="rect">
            <a:avLst/>
          </a:prstGeom>
          <a:solidFill>
            <a:srgbClr val="F4F6F8"/>
          </a:solidFill>
          <a:ln/>
        </p:spPr>
      </p:sp>
      <p:sp>
        <p:nvSpPr>
          <p:cNvPr id="17" name="Text 15"/>
          <p:cNvSpPr/>
          <p:nvPr/>
        </p:nvSpPr>
        <p:spPr>
          <a:xfrm>
            <a:off x="621792" y="3026664"/>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Product</a:t>
            </a:r>
            <a:endParaRPr lang="en-US" sz="900" dirty="0"/>
          </a:p>
        </p:txBody>
      </p:sp>
      <p:sp>
        <p:nvSpPr>
          <p:cNvPr id="18" name="Text 16"/>
          <p:cNvSpPr/>
          <p:nvPr/>
        </p:nvSpPr>
        <p:spPr>
          <a:xfrm>
            <a:off x="2377440" y="3026664"/>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apps/products — offre commerciale (prix, pricing_type)</a:t>
            </a:r>
            <a:endParaRPr lang="en-US" sz="870" dirty="0"/>
          </a:p>
        </p:txBody>
      </p:sp>
      <p:sp>
        <p:nvSpPr>
          <p:cNvPr id="19" name="Shape 17"/>
          <p:cNvSpPr/>
          <p:nvPr/>
        </p:nvSpPr>
        <p:spPr>
          <a:xfrm>
            <a:off x="548640" y="3429000"/>
            <a:ext cx="5486400" cy="365760"/>
          </a:xfrm>
          <a:prstGeom prst="rect">
            <a:avLst/>
          </a:prstGeom>
          <a:solidFill>
            <a:srgbClr val="FFFFFF"/>
          </a:solidFill>
          <a:ln/>
        </p:spPr>
      </p:sp>
      <p:sp>
        <p:nvSpPr>
          <p:cNvPr id="20" name="Text 18"/>
          <p:cNvSpPr/>
          <p:nvPr/>
        </p:nvSpPr>
        <p:spPr>
          <a:xfrm>
            <a:off x="621792" y="3429000"/>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ProductImage</a:t>
            </a:r>
            <a:endParaRPr lang="en-US" sz="900" dirty="0"/>
          </a:p>
        </p:txBody>
      </p:sp>
      <p:sp>
        <p:nvSpPr>
          <p:cNvPr id="21" name="Text 19"/>
          <p:cNvSpPr/>
          <p:nvPr/>
        </p:nvSpPr>
        <p:spPr>
          <a:xfrm>
            <a:off x="2377440" y="3429000"/>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apps/products — galerie 1-N par produit</a:t>
            </a:r>
            <a:endParaRPr lang="en-US" sz="870" dirty="0"/>
          </a:p>
        </p:txBody>
      </p:sp>
      <p:sp>
        <p:nvSpPr>
          <p:cNvPr id="22" name="Shape 20"/>
          <p:cNvSpPr/>
          <p:nvPr/>
        </p:nvSpPr>
        <p:spPr>
          <a:xfrm>
            <a:off x="548640" y="3831336"/>
            <a:ext cx="5486400" cy="365760"/>
          </a:xfrm>
          <a:prstGeom prst="rect">
            <a:avLst/>
          </a:prstGeom>
          <a:solidFill>
            <a:srgbClr val="F4F6F8"/>
          </a:solidFill>
          <a:ln/>
        </p:spPr>
      </p:sp>
      <p:sp>
        <p:nvSpPr>
          <p:cNvPr id="23" name="Text 21"/>
          <p:cNvSpPr/>
          <p:nvPr/>
        </p:nvSpPr>
        <p:spPr>
          <a:xfrm>
            <a:off x="621792" y="3831336"/>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ProductFAQ</a:t>
            </a:r>
            <a:endParaRPr lang="en-US" sz="900" dirty="0"/>
          </a:p>
        </p:txBody>
      </p:sp>
      <p:sp>
        <p:nvSpPr>
          <p:cNvPr id="24" name="Text 22"/>
          <p:cNvSpPr/>
          <p:nvPr/>
        </p:nvSpPr>
        <p:spPr>
          <a:xfrm>
            <a:off x="2377440" y="3831336"/>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apps/products — FAQ par produit</a:t>
            </a:r>
            <a:endParaRPr lang="en-US" sz="870" dirty="0"/>
          </a:p>
        </p:txBody>
      </p:sp>
      <p:sp>
        <p:nvSpPr>
          <p:cNvPr id="25" name="Shape 23"/>
          <p:cNvSpPr/>
          <p:nvPr/>
        </p:nvSpPr>
        <p:spPr>
          <a:xfrm>
            <a:off x="548640" y="4233672"/>
            <a:ext cx="5486400" cy="365760"/>
          </a:xfrm>
          <a:prstGeom prst="rect">
            <a:avLst/>
          </a:prstGeom>
          <a:solidFill>
            <a:srgbClr val="FFFFFF"/>
          </a:solidFill>
          <a:ln/>
        </p:spPr>
      </p:sp>
      <p:sp>
        <p:nvSpPr>
          <p:cNvPr id="26" name="Text 24"/>
          <p:cNvSpPr/>
          <p:nvPr/>
        </p:nvSpPr>
        <p:spPr>
          <a:xfrm>
            <a:off x="621792" y="4233672"/>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ProductSource</a:t>
            </a:r>
            <a:endParaRPr lang="en-US" sz="900" dirty="0"/>
          </a:p>
        </p:txBody>
      </p:sp>
      <p:sp>
        <p:nvSpPr>
          <p:cNvPr id="27" name="Text 25"/>
          <p:cNvSpPr/>
          <p:nvPr/>
        </p:nvSpPr>
        <p:spPr>
          <a:xfrm>
            <a:off x="2377440" y="4233672"/>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apps/products — traçabilité (source_url, verified_at)</a:t>
            </a:r>
            <a:endParaRPr lang="en-US" sz="870" dirty="0"/>
          </a:p>
        </p:txBody>
      </p:sp>
      <p:sp>
        <p:nvSpPr>
          <p:cNvPr id="28" name="Shape 26"/>
          <p:cNvSpPr/>
          <p:nvPr/>
        </p:nvSpPr>
        <p:spPr>
          <a:xfrm>
            <a:off x="548640" y="4636008"/>
            <a:ext cx="5486400" cy="365760"/>
          </a:xfrm>
          <a:prstGeom prst="rect">
            <a:avLst/>
          </a:prstGeom>
          <a:solidFill>
            <a:srgbClr val="F4F6F8"/>
          </a:solidFill>
          <a:ln/>
        </p:spPr>
      </p:sp>
      <p:sp>
        <p:nvSpPr>
          <p:cNvPr id="29" name="Text 27"/>
          <p:cNvSpPr/>
          <p:nvPr/>
        </p:nvSpPr>
        <p:spPr>
          <a:xfrm>
            <a:off x="621792" y="4636008"/>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SourceVerificationLog</a:t>
            </a:r>
            <a:endParaRPr lang="en-US" sz="900" dirty="0"/>
          </a:p>
        </p:txBody>
      </p:sp>
      <p:sp>
        <p:nvSpPr>
          <p:cNvPr id="30" name="Text 28"/>
          <p:cNvSpPr/>
          <p:nvPr/>
        </p:nvSpPr>
        <p:spPr>
          <a:xfrm>
            <a:off x="2377440" y="4636008"/>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apps/products — historique des vérifications</a:t>
            </a:r>
            <a:endParaRPr lang="en-US" sz="870" dirty="0"/>
          </a:p>
        </p:txBody>
      </p:sp>
      <p:sp>
        <p:nvSpPr>
          <p:cNvPr id="31" name="Shape 29"/>
          <p:cNvSpPr/>
          <p:nvPr/>
        </p:nvSpPr>
        <p:spPr>
          <a:xfrm>
            <a:off x="548640" y="5038344"/>
            <a:ext cx="5486400" cy="365760"/>
          </a:xfrm>
          <a:prstGeom prst="rect">
            <a:avLst/>
          </a:prstGeom>
          <a:solidFill>
            <a:srgbClr val="FFFFFF"/>
          </a:solidFill>
          <a:ln/>
        </p:spPr>
      </p:sp>
      <p:sp>
        <p:nvSpPr>
          <p:cNvPr id="32" name="Text 30"/>
          <p:cNvSpPr/>
          <p:nvPr/>
        </p:nvSpPr>
        <p:spPr>
          <a:xfrm>
            <a:off x="621792" y="5038344"/>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ClientProfile</a:t>
            </a:r>
            <a:endParaRPr lang="en-US" sz="900" dirty="0"/>
          </a:p>
        </p:txBody>
      </p:sp>
      <p:sp>
        <p:nvSpPr>
          <p:cNvPr id="33" name="Text 31"/>
          <p:cNvSpPr/>
          <p:nvPr/>
        </p:nvSpPr>
        <p:spPr>
          <a:xfrm>
            <a:off x="2377440" y="5038344"/>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apps/subscriptions — profil étendu d'un client</a:t>
            </a:r>
            <a:endParaRPr lang="en-US" sz="870" dirty="0"/>
          </a:p>
        </p:txBody>
      </p:sp>
      <p:sp>
        <p:nvSpPr>
          <p:cNvPr id="34" name="Shape 32"/>
          <p:cNvSpPr/>
          <p:nvPr/>
        </p:nvSpPr>
        <p:spPr>
          <a:xfrm>
            <a:off x="548640" y="5440680"/>
            <a:ext cx="5486400" cy="365760"/>
          </a:xfrm>
          <a:prstGeom prst="rect">
            <a:avLst/>
          </a:prstGeom>
          <a:solidFill>
            <a:srgbClr val="F4F6F8"/>
          </a:solidFill>
          <a:ln/>
        </p:spPr>
      </p:sp>
      <p:sp>
        <p:nvSpPr>
          <p:cNvPr id="35" name="Text 33"/>
          <p:cNvSpPr/>
          <p:nvPr/>
        </p:nvSpPr>
        <p:spPr>
          <a:xfrm>
            <a:off x="621792" y="5440680"/>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SubscriptionRequest</a:t>
            </a:r>
            <a:endParaRPr lang="en-US" sz="900" dirty="0"/>
          </a:p>
        </p:txBody>
      </p:sp>
      <p:sp>
        <p:nvSpPr>
          <p:cNvPr id="36" name="Text 34"/>
          <p:cNvSpPr/>
          <p:nvPr/>
        </p:nvSpPr>
        <p:spPr>
          <a:xfrm>
            <a:off x="2377440" y="5440680"/>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apps/subscriptions — dossier de souscription</a:t>
            </a:r>
            <a:endParaRPr lang="en-US" sz="870" dirty="0"/>
          </a:p>
        </p:txBody>
      </p:sp>
      <p:sp>
        <p:nvSpPr>
          <p:cNvPr id="37" name="Shape 35"/>
          <p:cNvSpPr/>
          <p:nvPr/>
        </p:nvSpPr>
        <p:spPr>
          <a:xfrm>
            <a:off x="548640" y="5843016"/>
            <a:ext cx="5486400" cy="365760"/>
          </a:xfrm>
          <a:prstGeom prst="rect">
            <a:avLst/>
          </a:prstGeom>
          <a:solidFill>
            <a:srgbClr val="FFFFFF"/>
          </a:solidFill>
          <a:ln/>
        </p:spPr>
      </p:sp>
      <p:sp>
        <p:nvSpPr>
          <p:cNvPr id="38" name="Text 36"/>
          <p:cNvSpPr/>
          <p:nvPr/>
        </p:nvSpPr>
        <p:spPr>
          <a:xfrm>
            <a:off x="621792" y="5843016"/>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SubscriptionStatusHistory</a:t>
            </a:r>
            <a:endParaRPr lang="en-US" sz="900" dirty="0"/>
          </a:p>
        </p:txBody>
      </p:sp>
      <p:sp>
        <p:nvSpPr>
          <p:cNvPr id="39" name="Text 37"/>
          <p:cNvSpPr/>
          <p:nvPr/>
        </p:nvSpPr>
        <p:spPr>
          <a:xfrm>
            <a:off x="2377440" y="5843016"/>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apps/subscriptions — timeline des statuts</a:t>
            </a:r>
            <a:endParaRPr lang="en-US" sz="870" dirty="0"/>
          </a:p>
        </p:txBody>
      </p:sp>
      <p:sp>
        <p:nvSpPr>
          <p:cNvPr id="40" name="Shape 38"/>
          <p:cNvSpPr/>
          <p:nvPr/>
        </p:nvSpPr>
        <p:spPr>
          <a:xfrm>
            <a:off x="6172200" y="1417320"/>
            <a:ext cx="5486400" cy="365760"/>
          </a:xfrm>
          <a:prstGeom prst="rect">
            <a:avLst/>
          </a:prstGeom>
          <a:solidFill>
            <a:srgbClr val="F4F6F8"/>
          </a:solidFill>
          <a:ln/>
        </p:spPr>
      </p:sp>
      <p:sp>
        <p:nvSpPr>
          <p:cNvPr id="41" name="Text 39"/>
          <p:cNvSpPr/>
          <p:nvPr/>
        </p:nvSpPr>
        <p:spPr>
          <a:xfrm>
            <a:off x="6245352" y="1417320"/>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Payment</a:t>
            </a:r>
            <a:endParaRPr lang="en-US" sz="900" dirty="0"/>
          </a:p>
        </p:txBody>
      </p:sp>
      <p:sp>
        <p:nvSpPr>
          <p:cNvPr id="42" name="Text 40"/>
          <p:cNvSpPr/>
          <p:nvPr/>
        </p:nvSpPr>
        <p:spPr>
          <a:xfrm>
            <a:off x="8001000" y="1417320"/>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apps/core — transaction (provider, montant, statut)</a:t>
            </a:r>
            <a:endParaRPr lang="en-US" sz="870" dirty="0"/>
          </a:p>
        </p:txBody>
      </p:sp>
      <p:sp>
        <p:nvSpPr>
          <p:cNvPr id="43" name="Shape 41"/>
          <p:cNvSpPr/>
          <p:nvPr/>
        </p:nvSpPr>
        <p:spPr>
          <a:xfrm>
            <a:off x="6172200" y="1819656"/>
            <a:ext cx="5486400" cy="365760"/>
          </a:xfrm>
          <a:prstGeom prst="rect">
            <a:avLst/>
          </a:prstGeom>
          <a:solidFill>
            <a:srgbClr val="FFFFFF"/>
          </a:solidFill>
          <a:ln/>
        </p:spPr>
      </p:sp>
      <p:sp>
        <p:nvSpPr>
          <p:cNvPr id="44" name="Text 42"/>
          <p:cNvSpPr/>
          <p:nvPr/>
        </p:nvSpPr>
        <p:spPr>
          <a:xfrm>
            <a:off x="6245352" y="1819656"/>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SupportTicket</a:t>
            </a:r>
            <a:endParaRPr lang="en-US" sz="900" dirty="0"/>
          </a:p>
        </p:txBody>
      </p:sp>
      <p:sp>
        <p:nvSpPr>
          <p:cNvPr id="45" name="Text 43"/>
          <p:cNvSpPr/>
          <p:nvPr/>
        </p:nvSpPr>
        <p:spPr>
          <a:xfrm>
            <a:off x="8001000" y="1819656"/>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apps/core — ticket client</a:t>
            </a:r>
            <a:endParaRPr lang="en-US" sz="870" dirty="0"/>
          </a:p>
        </p:txBody>
      </p:sp>
      <p:sp>
        <p:nvSpPr>
          <p:cNvPr id="46" name="Shape 44"/>
          <p:cNvSpPr/>
          <p:nvPr/>
        </p:nvSpPr>
        <p:spPr>
          <a:xfrm>
            <a:off x="6172200" y="2221992"/>
            <a:ext cx="5486400" cy="365760"/>
          </a:xfrm>
          <a:prstGeom prst="rect">
            <a:avLst/>
          </a:prstGeom>
          <a:solidFill>
            <a:srgbClr val="F4F6F8"/>
          </a:solidFill>
          <a:ln/>
        </p:spPr>
      </p:sp>
      <p:sp>
        <p:nvSpPr>
          <p:cNvPr id="47" name="Text 45"/>
          <p:cNvSpPr/>
          <p:nvPr/>
        </p:nvSpPr>
        <p:spPr>
          <a:xfrm>
            <a:off x="6245352" y="2221992"/>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TicketMessage</a:t>
            </a:r>
            <a:endParaRPr lang="en-US" sz="900" dirty="0"/>
          </a:p>
        </p:txBody>
      </p:sp>
      <p:sp>
        <p:nvSpPr>
          <p:cNvPr id="48" name="Text 46"/>
          <p:cNvSpPr/>
          <p:nvPr/>
        </p:nvSpPr>
        <p:spPr>
          <a:xfrm>
            <a:off x="8001000" y="2221992"/>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apps/core — message dans un ticket</a:t>
            </a:r>
            <a:endParaRPr lang="en-US" sz="870" dirty="0"/>
          </a:p>
        </p:txBody>
      </p:sp>
      <p:sp>
        <p:nvSpPr>
          <p:cNvPr id="49" name="Shape 47"/>
          <p:cNvSpPr/>
          <p:nvPr/>
        </p:nvSpPr>
        <p:spPr>
          <a:xfrm>
            <a:off x="6172200" y="2624328"/>
            <a:ext cx="5486400" cy="365760"/>
          </a:xfrm>
          <a:prstGeom prst="rect">
            <a:avLst/>
          </a:prstGeom>
          <a:solidFill>
            <a:srgbClr val="FFFFFF"/>
          </a:solidFill>
          <a:ln/>
        </p:spPr>
      </p:sp>
      <p:sp>
        <p:nvSpPr>
          <p:cNvPr id="50" name="Text 48"/>
          <p:cNvSpPr/>
          <p:nvPr/>
        </p:nvSpPr>
        <p:spPr>
          <a:xfrm>
            <a:off x="6245352" y="2624328"/>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Notification</a:t>
            </a:r>
            <a:endParaRPr lang="en-US" sz="900" dirty="0"/>
          </a:p>
        </p:txBody>
      </p:sp>
      <p:sp>
        <p:nvSpPr>
          <p:cNvPr id="51" name="Text 49"/>
          <p:cNvSpPr/>
          <p:nvPr/>
        </p:nvSpPr>
        <p:spPr>
          <a:xfrm>
            <a:off x="8001000" y="2624328"/>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apps/core — notification utilisateur</a:t>
            </a:r>
            <a:endParaRPr lang="en-US" sz="870" dirty="0"/>
          </a:p>
        </p:txBody>
      </p:sp>
      <p:sp>
        <p:nvSpPr>
          <p:cNvPr id="52" name="Shape 50"/>
          <p:cNvSpPr/>
          <p:nvPr/>
        </p:nvSpPr>
        <p:spPr>
          <a:xfrm>
            <a:off x="6172200" y="3026664"/>
            <a:ext cx="5486400" cy="365760"/>
          </a:xfrm>
          <a:prstGeom prst="rect">
            <a:avLst/>
          </a:prstGeom>
          <a:solidFill>
            <a:srgbClr val="F4F6F8"/>
          </a:solidFill>
          <a:ln/>
        </p:spPr>
      </p:sp>
      <p:sp>
        <p:nvSpPr>
          <p:cNvPr id="53" name="Text 51"/>
          <p:cNvSpPr/>
          <p:nvPr/>
        </p:nvSpPr>
        <p:spPr>
          <a:xfrm>
            <a:off x="6245352" y="3026664"/>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AnalyticsEvent</a:t>
            </a:r>
            <a:endParaRPr lang="en-US" sz="900" dirty="0"/>
          </a:p>
        </p:txBody>
      </p:sp>
      <p:sp>
        <p:nvSpPr>
          <p:cNvPr id="54" name="Text 52"/>
          <p:cNvSpPr/>
          <p:nvPr/>
        </p:nvSpPr>
        <p:spPr>
          <a:xfrm>
            <a:off x="8001000" y="3026664"/>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apps/core — événement produit (sans PII)</a:t>
            </a:r>
            <a:endParaRPr lang="en-US" sz="870" dirty="0"/>
          </a:p>
        </p:txBody>
      </p:sp>
      <p:sp>
        <p:nvSpPr>
          <p:cNvPr id="55" name="Shape 53"/>
          <p:cNvSpPr/>
          <p:nvPr/>
        </p:nvSpPr>
        <p:spPr>
          <a:xfrm>
            <a:off x="6172200" y="3429000"/>
            <a:ext cx="5486400" cy="365760"/>
          </a:xfrm>
          <a:prstGeom prst="rect">
            <a:avLst/>
          </a:prstGeom>
          <a:solidFill>
            <a:srgbClr val="FFFFFF"/>
          </a:solidFill>
          <a:ln/>
        </p:spPr>
      </p:sp>
      <p:sp>
        <p:nvSpPr>
          <p:cNvPr id="56" name="Text 54"/>
          <p:cNvSpPr/>
          <p:nvPr/>
        </p:nvSpPr>
        <p:spPr>
          <a:xfrm>
            <a:off x="6245352" y="3429000"/>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ActivityLog</a:t>
            </a:r>
            <a:endParaRPr lang="en-US" sz="900" dirty="0"/>
          </a:p>
        </p:txBody>
      </p:sp>
      <p:sp>
        <p:nvSpPr>
          <p:cNvPr id="57" name="Text 55"/>
          <p:cNvSpPr/>
          <p:nvPr/>
        </p:nvSpPr>
        <p:spPr>
          <a:xfrm>
            <a:off x="8001000" y="3429000"/>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apps/core — journal d'audit interne</a:t>
            </a:r>
            <a:endParaRPr lang="en-US" sz="870" dirty="0"/>
          </a:p>
        </p:txBody>
      </p:sp>
      <p:sp>
        <p:nvSpPr>
          <p:cNvPr id="58" name="Shape 56"/>
          <p:cNvSpPr/>
          <p:nvPr/>
        </p:nvSpPr>
        <p:spPr>
          <a:xfrm>
            <a:off x="6172200" y="3831336"/>
            <a:ext cx="5486400" cy="365760"/>
          </a:xfrm>
          <a:prstGeom prst="rect">
            <a:avLst/>
          </a:prstGeom>
          <a:solidFill>
            <a:srgbClr val="F4F6F8"/>
          </a:solidFill>
          <a:ln/>
        </p:spPr>
      </p:sp>
      <p:sp>
        <p:nvSpPr>
          <p:cNvPr id="59" name="Text 57"/>
          <p:cNvSpPr/>
          <p:nvPr/>
        </p:nvSpPr>
        <p:spPr>
          <a:xfrm>
            <a:off x="6245352" y="3831336"/>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News</a:t>
            </a:r>
            <a:endParaRPr lang="en-US" sz="900" dirty="0"/>
          </a:p>
        </p:txBody>
      </p:sp>
      <p:sp>
        <p:nvSpPr>
          <p:cNvPr id="60" name="Text 58"/>
          <p:cNvSpPr/>
          <p:nvPr/>
        </p:nvSpPr>
        <p:spPr>
          <a:xfrm>
            <a:off x="8001000" y="3831336"/>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apps/news — actualités</a:t>
            </a:r>
            <a:endParaRPr lang="en-US" sz="870" dirty="0"/>
          </a:p>
        </p:txBody>
      </p:sp>
      <p:sp>
        <p:nvSpPr>
          <p:cNvPr id="61" name="Shape 59"/>
          <p:cNvSpPr/>
          <p:nvPr/>
        </p:nvSpPr>
        <p:spPr>
          <a:xfrm>
            <a:off x="6172200" y="4233672"/>
            <a:ext cx="5486400" cy="365760"/>
          </a:xfrm>
          <a:prstGeom prst="rect">
            <a:avLst/>
          </a:prstGeom>
          <a:solidFill>
            <a:srgbClr val="FFFFFF"/>
          </a:solidFill>
          <a:ln/>
        </p:spPr>
      </p:sp>
      <p:sp>
        <p:nvSpPr>
          <p:cNvPr id="62" name="Text 60"/>
          <p:cNvSpPr/>
          <p:nvPr/>
        </p:nvSpPr>
        <p:spPr>
          <a:xfrm>
            <a:off x="6245352" y="4233672"/>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Promotion</a:t>
            </a:r>
            <a:endParaRPr lang="en-US" sz="900" dirty="0"/>
          </a:p>
        </p:txBody>
      </p:sp>
      <p:sp>
        <p:nvSpPr>
          <p:cNvPr id="63" name="Text 61"/>
          <p:cNvSpPr/>
          <p:nvPr/>
        </p:nvSpPr>
        <p:spPr>
          <a:xfrm>
            <a:off x="8001000" y="4233672"/>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apps/promotions — promotions liées ou non à un produit</a:t>
            </a:r>
            <a:endParaRPr lang="en-US" sz="870" dirty="0"/>
          </a:p>
        </p:txBody>
      </p:sp>
      <p:sp>
        <p:nvSpPr>
          <p:cNvPr id="64" name="Shape 62"/>
          <p:cNvSpPr/>
          <p:nvPr/>
        </p:nvSpPr>
        <p:spPr>
          <a:xfrm>
            <a:off x="6172200" y="4636008"/>
            <a:ext cx="5486400" cy="365760"/>
          </a:xfrm>
          <a:prstGeom prst="rect">
            <a:avLst/>
          </a:prstGeom>
          <a:solidFill>
            <a:srgbClr val="F4F6F8"/>
          </a:solidFill>
          <a:ln/>
        </p:spPr>
      </p:sp>
      <p:sp>
        <p:nvSpPr>
          <p:cNvPr id="65" name="Text 63"/>
          <p:cNvSpPr/>
          <p:nvPr/>
        </p:nvSpPr>
        <p:spPr>
          <a:xfrm>
            <a:off x="6245352" y="4636008"/>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ContactMessage</a:t>
            </a:r>
            <a:endParaRPr lang="en-US" sz="900" dirty="0"/>
          </a:p>
        </p:txBody>
      </p:sp>
      <p:sp>
        <p:nvSpPr>
          <p:cNvPr id="66" name="Text 64"/>
          <p:cNvSpPr/>
          <p:nvPr/>
        </p:nvSpPr>
        <p:spPr>
          <a:xfrm>
            <a:off x="8001000" y="4636008"/>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apps/contacts — messages du formulaire public</a:t>
            </a:r>
            <a:endParaRPr lang="en-US" sz="870" dirty="0"/>
          </a:p>
        </p:txBody>
      </p:sp>
      <p:sp>
        <p:nvSpPr>
          <p:cNvPr id="67" name="Shape 65"/>
          <p:cNvSpPr/>
          <p:nvPr/>
        </p:nvSpPr>
        <p:spPr>
          <a:xfrm>
            <a:off x="6172200" y="5038344"/>
            <a:ext cx="5486400" cy="365760"/>
          </a:xfrm>
          <a:prstGeom prst="rect">
            <a:avLst/>
          </a:prstGeom>
          <a:solidFill>
            <a:srgbClr val="FFFFFF"/>
          </a:solidFill>
          <a:ln/>
        </p:spPr>
      </p:sp>
      <p:sp>
        <p:nvSpPr>
          <p:cNvPr id="68" name="Text 66"/>
          <p:cNvSpPr/>
          <p:nvPr/>
        </p:nvSpPr>
        <p:spPr>
          <a:xfrm>
            <a:off x="6245352" y="5038344"/>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MediaFile</a:t>
            </a:r>
            <a:endParaRPr lang="en-US" sz="900" dirty="0"/>
          </a:p>
        </p:txBody>
      </p:sp>
      <p:sp>
        <p:nvSpPr>
          <p:cNvPr id="69" name="Text 67"/>
          <p:cNvSpPr/>
          <p:nvPr/>
        </p:nvSpPr>
        <p:spPr>
          <a:xfrm>
            <a:off x="8001000" y="5038344"/>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apps/media — bibliothèque de fichiers</a:t>
            </a:r>
            <a:endParaRPr lang="en-US" sz="870" dirty="0"/>
          </a:p>
        </p:txBody>
      </p:sp>
      <p:sp>
        <p:nvSpPr>
          <p:cNvPr id="70" name="Shape 68"/>
          <p:cNvSpPr/>
          <p:nvPr/>
        </p:nvSpPr>
        <p:spPr>
          <a:xfrm>
            <a:off x="6172200" y="5440680"/>
            <a:ext cx="5486400" cy="365760"/>
          </a:xfrm>
          <a:prstGeom prst="rect">
            <a:avLst/>
          </a:prstGeom>
          <a:solidFill>
            <a:srgbClr val="F4F6F8"/>
          </a:solidFill>
          <a:ln/>
        </p:spPr>
      </p:sp>
      <p:sp>
        <p:nvSpPr>
          <p:cNvPr id="71" name="Text 69"/>
          <p:cNvSpPr/>
          <p:nvPr/>
        </p:nvSpPr>
        <p:spPr>
          <a:xfrm>
            <a:off x="6245352" y="5440680"/>
            <a:ext cx="1737360" cy="365760"/>
          </a:xfrm>
          <a:prstGeom prst="rect">
            <a:avLst/>
          </a:prstGeom>
          <a:noFill/>
          <a:ln/>
        </p:spPr>
        <p:txBody>
          <a:bodyPr wrap="square" rtlCol="0" anchor="ctr"/>
          <a:lstStyle/>
          <a:p>
            <a:pPr indent="0" marL="0">
              <a:buNone/>
            </a:pPr>
            <a:r>
              <a:rPr lang="en-US" sz="900" b="1" dirty="0">
                <a:solidFill>
                  <a:srgbClr val="0A2C54"/>
                </a:solidFill>
                <a:latin typeface="Courier New" pitchFamily="34" charset="0"/>
                <a:ea typeface="Courier New" pitchFamily="34" charset="-122"/>
                <a:cs typeface="Courier New" pitchFamily="34" charset="-120"/>
              </a:rPr>
              <a:t>PartnerAPIKey</a:t>
            </a:r>
            <a:endParaRPr lang="en-US" sz="900" dirty="0"/>
          </a:p>
        </p:txBody>
      </p:sp>
      <p:sp>
        <p:nvSpPr>
          <p:cNvPr id="72" name="Text 70"/>
          <p:cNvSpPr/>
          <p:nvPr/>
        </p:nvSpPr>
        <p:spPr>
          <a:xfrm>
            <a:off x="8001000" y="5440680"/>
            <a:ext cx="3657600" cy="365760"/>
          </a:xfrm>
          <a:prstGeom prst="rect">
            <a:avLst/>
          </a:prstGeom>
          <a:noFill/>
          <a:ln/>
        </p:spPr>
        <p:txBody>
          <a:bodyPr wrap="square" rtlCol="0" anchor="ctr"/>
          <a:lstStyle/>
          <a:p>
            <a:pPr indent="0" marL="0">
              <a:buNone/>
            </a:pPr>
            <a:r>
              <a:rPr lang="en-US" sz="870" dirty="0">
                <a:solidFill>
                  <a:srgbClr val="1F2937"/>
                </a:solidFill>
                <a:latin typeface="Calibri" pitchFamily="34" charset="0"/>
                <a:ea typeface="Calibri" pitchFamily="34" charset="-122"/>
                <a:cs typeface="Calibri" pitchFamily="34" charset="-120"/>
              </a:rPr>
              <a:t>apps/partners — accès API B2B</a:t>
            </a:r>
            <a:endParaRPr lang="en-US" sz="870" dirty="0"/>
          </a:p>
        </p:txBody>
      </p:sp>
      <p:sp>
        <p:nvSpPr>
          <p:cNvPr id="73" name="Text 71"/>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Annexe B — MCD détaillé</a:t>
            </a:r>
            <a:endParaRPr lang="en-US" sz="900" dirty="0"/>
          </a:p>
        </p:txBody>
      </p:sp>
      <p:sp>
        <p:nvSpPr>
          <p:cNvPr id="74" name="Text 72"/>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75" name="Text 73"/>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ANNEXE C</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RBAC détaillé — permissions.ts</a:t>
            </a:r>
            <a:endParaRPr lang="en-US" sz="2800" dirty="0"/>
          </a:p>
        </p:txBody>
      </p:sp>
      <p:sp>
        <p:nvSpPr>
          <p:cNvPr id="4" name="Shape 2"/>
          <p:cNvSpPr/>
          <p:nvPr/>
        </p:nvSpPr>
        <p:spPr>
          <a:xfrm>
            <a:off x="548640" y="1325880"/>
            <a:ext cx="5029200" cy="310896"/>
          </a:xfrm>
          <a:prstGeom prst="rect">
            <a:avLst/>
          </a:prstGeom>
          <a:solidFill>
            <a:srgbClr val="0A2C54"/>
          </a:solidFill>
          <a:ln/>
        </p:spPr>
      </p:sp>
      <p:sp>
        <p:nvSpPr>
          <p:cNvPr id="5" name="Text 3"/>
          <p:cNvSpPr/>
          <p:nvPr/>
        </p:nvSpPr>
        <p:spPr>
          <a:xfrm>
            <a:off x="640080" y="1325880"/>
            <a:ext cx="4846320" cy="310896"/>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PERMISSION</a:t>
            </a:r>
            <a:endParaRPr lang="en-US" sz="950" dirty="0"/>
          </a:p>
        </p:txBody>
      </p:sp>
      <p:sp>
        <p:nvSpPr>
          <p:cNvPr id="6" name="Shape 4"/>
          <p:cNvSpPr/>
          <p:nvPr/>
        </p:nvSpPr>
        <p:spPr>
          <a:xfrm>
            <a:off x="5577840" y="1325880"/>
            <a:ext cx="6080760" cy="310896"/>
          </a:xfrm>
          <a:prstGeom prst="rect">
            <a:avLst/>
          </a:prstGeom>
          <a:solidFill>
            <a:srgbClr val="0A2C54"/>
          </a:solidFill>
          <a:ln/>
        </p:spPr>
      </p:sp>
      <p:sp>
        <p:nvSpPr>
          <p:cNvPr id="7" name="Text 5"/>
          <p:cNvSpPr/>
          <p:nvPr/>
        </p:nvSpPr>
        <p:spPr>
          <a:xfrm>
            <a:off x="5669280" y="1325880"/>
            <a:ext cx="5897880" cy="310896"/>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RÔLES AUTORISÉS</a:t>
            </a:r>
            <a:endParaRPr lang="en-US" sz="950" dirty="0"/>
          </a:p>
        </p:txBody>
      </p:sp>
      <p:sp>
        <p:nvSpPr>
          <p:cNvPr id="8" name="Shape 6"/>
          <p:cNvSpPr/>
          <p:nvPr/>
        </p:nvSpPr>
        <p:spPr>
          <a:xfrm>
            <a:off x="548640" y="1636776"/>
            <a:ext cx="5029200" cy="260604"/>
          </a:xfrm>
          <a:prstGeom prst="rect">
            <a:avLst/>
          </a:prstGeom>
          <a:solidFill>
            <a:srgbClr val="F4F6F8"/>
          </a:solidFill>
          <a:ln/>
        </p:spPr>
      </p:sp>
      <p:sp>
        <p:nvSpPr>
          <p:cNvPr id="9" name="Text 7"/>
          <p:cNvSpPr/>
          <p:nvPr/>
        </p:nvSpPr>
        <p:spPr>
          <a:xfrm>
            <a:off x="640080" y="1636776"/>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edit_product_draft</a:t>
            </a:r>
            <a:endParaRPr lang="en-US" sz="800" dirty="0"/>
          </a:p>
        </p:txBody>
      </p:sp>
      <p:sp>
        <p:nvSpPr>
          <p:cNvPr id="10" name="Shape 8"/>
          <p:cNvSpPr/>
          <p:nvPr/>
        </p:nvSpPr>
        <p:spPr>
          <a:xfrm>
            <a:off x="5577840" y="1636776"/>
            <a:ext cx="6080760" cy="260604"/>
          </a:xfrm>
          <a:prstGeom prst="rect">
            <a:avLst/>
          </a:prstGeom>
          <a:solidFill>
            <a:srgbClr val="F4F6F8"/>
          </a:solidFill>
          <a:ln/>
        </p:spPr>
      </p:sp>
      <p:sp>
        <p:nvSpPr>
          <p:cNvPr id="11" name="Text 9"/>
          <p:cNvSpPr/>
          <p:nvPr/>
        </p:nvSpPr>
        <p:spPr>
          <a:xfrm>
            <a:off x="5669280" y="1636776"/>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 product_manager</a:t>
            </a:r>
            <a:endParaRPr lang="en-US" sz="850" dirty="0"/>
          </a:p>
        </p:txBody>
      </p:sp>
      <p:sp>
        <p:nvSpPr>
          <p:cNvPr id="12" name="Shape 10"/>
          <p:cNvSpPr/>
          <p:nvPr/>
        </p:nvSpPr>
        <p:spPr>
          <a:xfrm>
            <a:off x="548640" y="1897380"/>
            <a:ext cx="5029200" cy="260604"/>
          </a:xfrm>
          <a:prstGeom prst="rect">
            <a:avLst/>
          </a:prstGeom>
          <a:solidFill>
            <a:srgbClr val="FFFFFF"/>
          </a:solidFill>
          <a:ln/>
        </p:spPr>
      </p:sp>
      <p:sp>
        <p:nvSpPr>
          <p:cNvPr id="13" name="Text 11"/>
          <p:cNvSpPr/>
          <p:nvPr/>
        </p:nvSpPr>
        <p:spPr>
          <a:xfrm>
            <a:off x="640080" y="1897380"/>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publish_product</a:t>
            </a:r>
            <a:endParaRPr lang="en-US" sz="800" dirty="0"/>
          </a:p>
        </p:txBody>
      </p:sp>
      <p:sp>
        <p:nvSpPr>
          <p:cNvPr id="14" name="Shape 12"/>
          <p:cNvSpPr/>
          <p:nvPr/>
        </p:nvSpPr>
        <p:spPr>
          <a:xfrm>
            <a:off x="5577840" y="1897380"/>
            <a:ext cx="6080760" cy="260604"/>
          </a:xfrm>
          <a:prstGeom prst="rect">
            <a:avLst/>
          </a:prstGeom>
          <a:solidFill>
            <a:srgbClr val="FFFFFF"/>
          </a:solidFill>
          <a:ln/>
        </p:spPr>
      </p:sp>
      <p:sp>
        <p:nvSpPr>
          <p:cNvPr id="15" name="Text 13"/>
          <p:cNvSpPr/>
          <p:nvPr/>
        </p:nvSpPr>
        <p:spPr>
          <a:xfrm>
            <a:off x="5669280" y="1897380"/>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a:t>
            </a:r>
            <a:endParaRPr lang="en-US" sz="850" dirty="0"/>
          </a:p>
        </p:txBody>
      </p:sp>
      <p:sp>
        <p:nvSpPr>
          <p:cNvPr id="16" name="Shape 14"/>
          <p:cNvSpPr/>
          <p:nvPr/>
        </p:nvSpPr>
        <p:spPr>
          <a:xfrm>
            <a:off x="548640" y="2157984"/>
            <a:ext cx="5029200" cy="260604"/>
          </a:xfrm>
          <a:prstGeom prst="rect">
            <a:avLst/>
          </a:prstGeom>
          <a:solidFill>
            <a:srgbClr val="F4F6F8"/>
          </a:solidFill>
          <a:ln/>
        </p:spPr>
      </p:sp>
      <p:sp>
        <p:nvSpPr>
          <p:cNvPr id="17" name="Text 15"/>
          <p:cNvSpPr/>
          <p:nvPr/>
        </p:nvSpPr>
        <p:spPr>
          <a:xfrm>
            <a:off x="640080" y="2157984"/>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delete_product</a:t>
            </a:r>
            <a:endParaRPr lang="en-US" sz="800" dirty="0"/>
          </a:p>
        </p:txBody>
      </p:sp>
      <p:sp>
        <p:nvSpPr>
          <p:cNvPr id="18" name="Shape 16"/>
          <p:cNvSpPr/>
          <p:nvPr/>
        </p:nvSpPr>
        <p:spPr>
          <a:xfrm>
            <a:off x="5577840" y="2157984"/>
            <a:ext cx="6080760" cy="260604"/>
          </a:xfrm>
          <a:prstGeom prst="rect">
            <a:avLst/>
          </a:prstGeom>
          <a:solidFill>
            <a:srgbClr val="F4F6F8"/>
          </a:solidFill>
          <a:ln/>
        </p:spPr>
      </p:sp>
      <p:sp>
        <p:nvSpPr>
          <p:cNvPr id="19" name="Text 17"/>
          <p:cNvSpPr/>
          <p:nvPr/>
        </p:nvSpPr>
        <p:spPr>
          <a:xfrm>
            <a:off x="5669280" y="2157984"/>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a:t>
            </a:r>
            <a:endParaRPr lang="en-US" sz="850" dirty="0"/>
          </a:p>
        </p:txBody>
      </p:sp>
      <p:sp>
        <p:nvSpPr>
          <p:cNvPr id="20" name="Shape 18"/>
          <p:cNvSpPr/>
          <p:nvPr/>
        </p:nvSpPr>
        <p:spPr>
          <a:xfrm>
            <a:off x="548640" y="2418588"/>
            <a:ext cx="5029200" cy="260604"/>
          </a:xfrm>
          <a:prstGeom prst="rect">
            <a:avLst/>
          </a:prstGeom>
          <a:solidFill>
            <a:srgbClr val="FFFFFF"/>
          </a:solidFill>
          <a:ln/>
        </p:spPr>
      </p:sp>
      <p:sp>
        <p:nvSpPr>
          <p:cNvPr id="21" name="Text 19"/>
          <p:cNvSpPr/>
          <p:nvPr/>
        </p:nvSpPr>
        <p:spPr>
          <a:xfrm>
            <a:off x="640080" y="2418588"/>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manage_categories</a:t>
            </a:r>
            <a:endParaRPr lang="en-US" sz="800" dirty="0"/>
          </a:p>
        </p:txBody>
      </p:sp>
      <p:sp>
        <p:nvSpPr>
          <p:cNvPr id="22" name="Shape 20"/>
          <p:cNvSpPr/>
          <p:nvPr/>
        </p:nvSpPr>
        <p:spPr>
          <a:xfrm>
            <a:off x="5577840" y="2418588"/>
            <a:ext cx="6080760" cy="260604"/>
          </a:xfrm>
          <a:prstGeom prst="rect">
            <a:avLst/>
          </a:prstGeom>
          <a:solidFill>
            <a:srgbClr val="FFFFFF"/>
          </a:solidFill>
          <a:ln/>
        </p:spPr>
      </p:sp>
      <p:sp>
        <p:nvSpPr>
          <p:cNvPr id="23" name="Text 21"/>
          <p:cNvSpPr/>
          <p:nvPr/>
        </p:nvSpPr>
        <p:spPr>
          <a:xfrm>
            <a:off x="5669280" y="2418588"/>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a:t>
            </a:r>
            <a:endParaRPr lang="en-US" sz="850" dirty="0"/>
          </a:p>
        </p:txBody>
      </p:sp>
      <p:sp>
        <p:nvSpPr>
          <p:cNvPr id="24" name="Shape 22"/>
          <p:cNvSpPr/>
          <p:nvPr/>
        </p:nvSpPr>
        <p:spPr>
          <a:xfrm>
            <a:off x="548640" y="2679192"/>
            <a:ext cx="5029200" cy="260604"/>
          </a:xfrm>
          <a:prstGeom prst="rect">
            <a:avLst/>
          </a:prstGeom>
          <a:solidFill>
            <a:srgbClr val="F4F6F8"/>
          </a:solidFill>
          <a:ln/>
        </p:spPr>
      </p:sp>
      <p:sp>
        <p:nvSpPr>
          <p:cNvPr id="25" name="Text 23"/>
          <p:cNvSpPr/>
          <p:nvPr/>
        </p:nvSpPr>
        <p:spPr>
          <a:xfrm>
            <a:off x="640080" y="2679192"/>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edit_promotion</a:t>
            </a:r>
            <a:endParaRPr lang="en-US" sz="800" dirty="0"/>
          </a:p>
        </p:txBody>
      </p:sp>
      <p:sp>
        <p:nvSpPr>
          <p:cNvPr id="26" name="Shape 24"/>
          <p:cNvSpPr/>
          <p:nvPr/>
        </p:nvSpPr>
        <p:spPr>
          <a:xfrm>
            <a:off x="5577840" y="2679192"/>
            <a:ext cx="6080760" cy="260604"/>
          </a:xfrm>
          <a:prstGeom prst="rect">
            <a:avLst/>
          </a:prstGeom>
          <a:solidFill>
            <a:srgbClr val="F4F6F8"/>
          </a:solidFill>
          <a:ln/>
        </p:spPr>
      </p:sp>
      <p:sp>
        <p:nvSpPr>
          <p:cNvPr id="27" name="Text 25"/>
          <p:cNvSpPr/>
          <p:nvPr/>
        </p:nvSpPr>
        <p:spPr>
          <a:xfrm>
            <a:off x="5669280" y="2679192"/>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 product_manager</a:t>
            </a:r>
            <a:endParaRPr lang="en-US" sz="850" dirty="0"/>
          </a:p>
        </p:txBody>
      </p:sp>
      <p:sp>
        <p:nvSpPr>
          <p:cNvPr id="28" name="Shape 26"/>
          <p:cNvSpPr/>
          <p:nvPr/>
        </p:nvSpPr>
        <p:spPr>
          <a:xfrm>
            <a:off x="548640" y="2939796"/>
            <a:ext cx="5029200" cy="260604"/>
          </a:xfrm>
          <a:prstGeom prst="rect">
            <a:avLst/>
          </a:prstGeom>
          <a:solidFill>
            <a:srgbClr val="FFFFFF"/>
          </a:solidFill>
          <a:ln/>
        </p:spPr>
      </p:sp>
      <p:sp>
        <p:nvSpPr>
          <p:cNvPr id="29" name="Text 27"/>
          <p:cNvSpPr/>
          <p:nvPr/>
        </p:nvSpPr>
        <p:spPr>
          <a:xfrm>
            <a:off x="640080" y="2939796"/>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delete_promotion</a:t>
            </a:r>
            <a:endParaRPr lang="en-US" sz="800" dirty="0"/>
          </a:p>
        </p:txBody>
      </p:sp>
      <p:sp>
        <p:nvSpPr>
          <p:cNvPr id="30" name="Shape 28"/>
          <p:cNvSpPr/>
          <p:nvPr/>
        </p:nvSpPr>
        <p:spPr>
          <a:xfrm>
            <a:off x="5577840" y="2939796"/>
            <a:ext cx="6080760" cy="260604"/>
          </a:xfrm>
          <a:prstGeom prst="rect">
            <a:avLst/>
          </a:prstGeom>
          <a:solidFill>
            <a:srgbClr val="FFFFFF"/>
          </a:solidFill>
          <a:ln/>
        </p:spPr>
      </p:sp>
      <p:sp>
        <p:nvSpPr>
          <p:cNvPr id="31" name="Text 29"/>
          <p:cNvSpPr/>
          <p:nvPr/>
        </p:nvSpPr>
        <p:spPr>
          <a:xfrm>
            <a:off x="5669280" y="2939796"/>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 product_manager</a:t>
            </a:r>
            <a:endParaRPr lang="en-US" sz="850" dirty="0"/>
          </a:p>
        </p:txBody>
      </p:sp>
      <p:sp>
        <p:nvSpPr>
          <p:cNvPr id="32" name="Shape 30"/>
          <p:cNvSpPr/>
          <p:nvPr/>
        </p:nvSpPr>
        <p:spPr>
          <a:xfrm>
            <a:off x="548640" y="3200400"/>
            <a:ext cx="5029200" cy="260604"/>
          </a:xfrm>
          <a:prstGeom prst="rect">
            <a:avLst/>
          </a:prstGeom>
          <a:solidFill>
            <a:srgbClr val="F4F6F8"/>
          </a:solidFill>
          <a:ln/>
        </p:spPr>
      </p:sp>
      <p:sp>
        <p:nvSpPr>
          <p:cNvPr id="33" name="Text 31"/>
          <p:cNvSpPr/>
          <p:nvPr/>
        </p:nvSpPr>
        <p:spPr>
          <a:xfrm>
            <a:off x="640080" y="3200400"/>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edit_news</a:t>
            </a:r>
            <a:endParaRPr lang="en-US" sz="800" dirty="0"/>
          </a:p>
        </p:txBody>
      </p:sp>
      <p:sp>
        <p:nvSpPr>
          <p:cNvPr id="34" name="Shape 32"/>
          <p:cNvSpPr/>
          <p:nvPr/>
        </p:nvSpPr>
        <p:spPr>
          <a:xfrm>
            <a:off x="5577840" y="3200400"/>
            <a:ext cx="6080760" cy="260604"/>
          </a:xfrm>
          <a:prstGeom prst="rect">
            <a:avLst/>
          </a:prstGeom>
          <a:solidFill>
            <a:srgbClr val="F4F6F8"/>
          </a:solidFill>
          <a:ln/>
        </p:spPr>
      </p:sp>
      <p:sp>
        <p:nvSpPr>
          <p:cNvPr id="35" name="Text 33"/>
          <p:cNvSpPr/>
          <p:nvPr/>
        </p:nvSpPr>
        <p:spPr>
          <a:xfrm>
            <a:off x="5669280" y="3200400"/>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 editor</a:t>
            </a:r>
            <a:endParaRPr lang="en-US" sz="850" dirty="0"/>
          </a:p>
        </p:txBody>
      </p:sp>
      <p:sp>
        <p:nvSpPr>
          <p:cNvPr id="36" name="Shape 34"/>
          <p:cNvSpPr/>
          <p:nvPr/>
        </p:nvSpPr>
        <p:spPr>
          <a:xfrm>
            <a:off x="548640" y="3461004"/>
            <a:ext cx="5029200" cy="260604"/>
          </a:xfrm>
          <a:prstGeom prst="rect">
            <a:avLst/>
          </a:prstGeom>
          <a:solidFill>
            <a:srgbClr val="FFFFFF"/>
          </a:solidFill>
          <a:ln/>
        </p:spPr>
      </p:sp>
      <p:sp>
        <p:nvSpPr>
          <p:cNvPr id="37" name="Text 35"/>
          <p:cNvSpPr/>
          <p:nvPr/>
        </p:nvSpPr>
        <p:spPr>
          <a:xfrm>
            <a:off x="640080" y="3461004"/>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delete_news</a:t>
            </a:r>
            <a:endParaRPr lang="en-US" sz="800" dirty="0"/>
          </a:p>
        </p:txBody>
      </p:sp>
      <p:sp>
        <p:nvSpPr>
          <p:cNvPr id="38" name="Shape 36"/>
          <p:cNvSpPr/>
          <p:nvPr/>
        </p:nvSpPr>
        <p:spPr>
          <a:xfrm>
            <a:off x="5577840" y="3461004"/>
            <a:ext cx="6080760" cy="260604"/>
          </a:xfrm>
          <a:prstGeom prst="rect">
            <a:avLst/>
          </a:prstGeom>
          <a:solidFill>
            <a:srgbClr val="FFFFFF"/>
          </a:solidFill>
          <a:ln/>
        </p:spPr>
      </p:sp>
      <p:sp>
        <p:nvSpPr>
          <p:cNvPr id="39" name="Text 37"/>
          <p:cNvSpPr/>
          <p:nvPr/>
        </p:nvSpPr>
        <p:spPr>
          <a:xfrm>
            <a:off x="5669280" y="3461004"/>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a:t>
            </a:r>
            <a:endParaRPr lang="en-US" sz="850" dirty="0"/>
          </a:p>
        </p:txBody>
      </p:sp>
      <p:sp>
        <p:nvSpPr>
          <p:cNvPr id="40" name="Shape 38"/>
          <p:cNvSpPr/>
          <p:nvPr/>
        </p:nvSpPr>
        <p:spPr>
          <a:xfrm>
            <a:off x="548640" y="3721608"/>
            <a:ext cx="5029200" cy="260604"/>
          </a:xfrm>
          <a:prstGeom prst="rect">
            <a:avLst/>
          </a:prstGeom>
          <a:solidFill>
            <a:srgbClr val="F4F6F8"/>
          </a:solidFill>
          <a:ln/>
        </p:spPr>
      </p:sp>
      <p:sp>
        <p:nvSpPr>
          <p:cNvPr id="41" name="Text 39"/>
          <p:cNvSpPr/>
          <p:nvPr/>
        </p:nvSpPr>
        <p:spPr>
          <a:xfrm>
            <a:off x="640080" y="3721608"/>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upload_media</a:t>
            </a:r>
            <a:endParaRPr lang="en-US" sz="800" dirty="0"/>
          </a:p>
        </p:txBody>
      </p:sp>
      <p:sp>
        <p:nvSpPr>
          <p:cNvPr id="42" name="Shape 40"/>
          <p:cNvSpPr/>
          <p:nvPr/>
        </p:nvSpPr>
        <p:spPr>
          <a:xfrm>
            <a:off x="5577840" y="3721608"/>
            <a:ext cx="6080760" cy="260604"/>
          </a:xfrm>
          <a:prstGeom prst="rect">
            <a:avLst/>
          </a:prstGeom>
          <a:solidFill>
            <a:srgbClr val="F4F6F8"/>
          </a:solidFill>
          <a:ln/>
        </p:spPr>
      </p:sp>
      <p:sp>
        <p:nvSpPr>
          <p:cNvPr id="43" name="Text 41"/>
          <p:cNvSpPr/>
          <p:nvPr/>
        </p:nvSpPr>
        <p:spPr>
          <a:xfrm>
            <a:off x="5669280" y="3721608"/>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 product_manager, editor</a:t>
            </a:r>
            <a:endParaRPr lang="en-US" sz="850" dirty="0"/>
          </a:p>
        </p:txBody>
      </p:sp>
      <p:sp>
        <p:nvSpPr>
          <p:cNvPr id="44" name="Shape 42"/>
          <p:cNvSpPr/>
          <p:nvPr/>
        </p:nvSpPr>
        <p:spPr>
          <a:xfrm>
            <a:off x="548640" y="3982212"/>
            <a:ext cx="5029200" cy="260604"/>
          </a:xfrm>
          <a:prstGeom prst="rect">
            <a:avLst/>
          </a:prstGeom>
          <a:solidFill>
            <a:srgbClr val="FFFFFF"/>
          </a:solidFill>
          <a:ln/>
        </p:spPr>
      </p:sp>
      <p:sp>
        <p:nvSpPr>
          <p:cNvPr id="45" name="Text 43"/>
          <p:cNvSpPr/>
          <p:nvPr/>
        </p:nvSpPr>
        <p:spPr>
          <a:xfrm>
            <a:off x="640080" y="3982212"/>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delete_media</a:t>
            </a:r>
            <a:endParaRPr lang="en-US" sz="800" dirty="0"/>
          </a:p>
        </p:txBody>
      </p:sp>
      <p:sp>
        <p:nvSpPr>
          <p:cNvPr id="46" name="Shape 44"/>
          <p:cNvSpPr/>
          <p:nvPr/>
        </p:nvSpPr>
        <p:spPr>
          <a:xfrm>
            <a:off x="5577840" y="3982212"/>
            <a:ext cx="6080760" cy="260604"/>
          </a:xfrm>
          <a:prstGeom prst="rect">
            <a:avLst/>
          </a:prstGeom>
          <a:solidFill>
            <a:srgbClr val="FFFFFF"/>
          </a:solidFill>
          <a:ln/>
        </p:spPr>
      </p:sp>
      <p:sp>
        <p:nvSpPr>
          <p:cNvPr id="47" name="Text 45"/>
          <p:cNvSpPr/>
          <p:nvPr/>
        </p:nvSpPr>
        <p:spPr>
          <a:xfrm>
            <a:off x="5669280" y="3982212"/>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a:t>
            </a:r>
            <a:endParaRPr lang="en-US" sz="850" dirty="0"/>
          </a:p>
        </p:txBody>
      </p:sp>
      <p:sp>
        <p:nvSpPr>
          <p:cNvPr id="48" name="Shape 46"/>
          <p:cNvSpPr/>
          <p:nvPr/>
        </p:nvSpPr>
        <p:spPr>
          <a:xfrm>
            <a:off x="548640" y="4242816"/>
            <a:ext cx="5029200" cy="260604"/>
          </a:xfrm>
          <a:prstGeom prst="rect">
            <a:avLst/>
          </a:prstGeom>
          <a:solidFill>
            <a:srgbClr val="F4F6F8"/>
          </a:solidFill>
          <a:ln/>
        </p:spPr>
      </p:sp>
      <p:sp>
        <p:nvSpPr>
          <p:cNvPr id="49" name="Text 47"/>
          <p:cNvSpPr/>
          <p:nvPr/>
        </p:nvSpPr>
        <p:spPr>
          <a:xfrm>
            <a:off x="640080" y="4242816"/>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manage_contact</a:t>
            </a:r>
            <a:endParaRPr lang="en-US" sz="800" dirty="0"/>
          </a:p>
        </p:txBody>
      </p:sp>
      <p:sp>
        <p:nvSpPr>
          <p:cNvPr id="50" name="Shape 48"/>
          <p:cNvSpPr/>
          <p:nvPr/>
        </p:nvSpPr>
        <p:spPr>
          <a:xfrm>
            <a:off x="5577840" y="4242816"/>
            <a:ext cx="6080760" cy="260604"/>
          </a:xfrm>
          <a:prstGeom prst="rect">
            <a:avLst/>
          </a:prstGeom>
          <a:solidFill>
            <a:srgbClr val="F4F6F8"/>
          </a:solidFill>
          <a:ln/>
        </p:spPr>
      </p:sp>
      <p:sp>
        <p:nvSpPr>
          <p:cNvPr id="51" name="Text 49"/>
          <p:cNvSpPr/>
          <p:nvPr/>
        </p:nvSpPr>
        <p:spPr>
          <a:xfrm>
            <a:off x="5669280" y="4242816"/>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a:t>
            </a:r>
            <a:endParaRPr lang="en-US" sz="850" dirty="0"/>
          </a:p>
        </p:txBody>
      </p:sp>
      <p:sp>
        <p:nvSpPr>
          <p:cNvPr id="52" name="Shape 50"/>
          <p:cNvSpPr/>
          <p:nvPr/>
        </p:nvSpPr>
        <p:spPr>
          <a:xfrm>
            <a:off x="548640" y="4503420"/>
            <a:ext cx="5029200" cy="260604"/>
          </a:xfrm>
          <a:prstGeom prst="rect">
            <a:avLst/>
          </a:prstGeom>
          <a:solidFill>
            <a:srgbClr val="FFFFFF"/>
          </a:solidFill>
          <a:ln/>
        </p:spPr>
      </p:sp>
      <p:sp>
        <p:nvSpPr>
          <p:cNvPr id="53" name="Text 51"/>
          <p:cNvSpPr/>
          <p:nvPr/>
        </p:nvSpPr>
        <p:spPr>
          <a:xfrm>
            <a:off x="640080" y="4503420"/>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manage_users</a:t>
            </a:r>
            <a:endParaRPr lang="en-US" sz="800" dirty="0"/>
          </a:p>
        </p:txBody>
      </p:sp>
      <p:sp>
        <p:nvSpPr>
          <p:cNvPr id="54" name="Shape 52"/>
          <p:cNvSpPr/>
          <p:nvPr/>
        </p:nvSpPr>
        <p:spPr>
          <a:xfrm>
            <a:off x="5577840" y="4503420"/>
            <a:ext cx="6080760" cy="260604"/>
          </a:xfrm>
          <a:prstGeom prst="rect">
            <a:avLst/>
          </a:prstGeom>
          <a:solidFill>
            <a:srgbClr val="FFFFFF"/>
          </a:solidFill>
          <a:ln/>
        </p:spPr>
      </p:sp>
      <p:sp>
        <p:nvSpPr>
          <p:cNvPr id="55" name="Text 53"/>
          <p:cNvSpPr/>
          <p:nvPr/>
        </p:nvSpPr>
        <p:spPr>
          <a:xfrm>
            <a:off x="5669280" y="4503420"/>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a:t>
            </a:r>
            <a:endParaRPr lang="en-US" sz="850" dirty="0"/>
          </a:p>
        </p:txBody>
      </p:sp>
      <p:sp>
        <p:nvSpPr>
          <p:cNvPr id="56" name="Shape 54"/>
          <p:cNvSpPr/>
          <p:nvPr/>
        </p:nvSpPr>
        <p:spPr>
          <a:xfrm>
            <a:off x="548640" y="4764024"/>
            <a:ext cx="5029200" cy="260604"/>
          </a:xfrm>
          <a:prstGeom prst="rect">
            <a:avLst/>
          </a:prstGeom>
          <a:solidFill>
            <a:srgbClr val="F4F6F8"/>
          </a:solidFill>
          <a:ln/>
        </p:spPr>
      </p:sp>
      <p:sp>
        <p:nvSpPr>
          <p:cNvPr id="57" name="Text 55"/>
          <p:cNvSpPr/>
          <p:nvPr/>
        </p:nvSpPr>
        <p:spPr>
          <a:xfrm>
            <a:off x="640080" y="4764024"/>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promote_to_admin</a:t>
            </a:r>
            <a:endParaRPr lang="en-US" sz="800" dirty="0"/>
          </a:p>
        </p:txBody>
      </p:sp>
      <p:sp>
        <p:nvSpPr>
          <p:cNvPr id="58" name="Shape 56"/>
          <p:cNvSpPr/>
          <p:nvPr/>
        </p:nvSpPr>
        <p:spPr>
          <a:xfrm>
            <a:off x="5577840" y="4764024"/>
            <a:ext cx="6080760" cy="260604"/>
          </a:xfrm>
          <a:prstGeom prst="rect">
            <a:avLst/>
          </a:prstGeom>
          <a:solidFill>
            <a:srgbClr val="F4F6F8"/>
          </a:solidFill>
          <a:ln/>
        </p:spPr>
      </p:sp>
      <p:sp>
        <p:nvSpPr>
          <p:cNvPr id="59" name="Text 57"/>
          <p:cNvSpPr/>
          <p:nvPr/>
        </p:nvSpPr>
        <p:spPr>
          <a:xfrm>
            <a:off x="5669280" y="4764024"/>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(exclusif)</a:t>
            </a:r>
            <a:endParaRPr lang="en-US" sz="850" dirty="0"/>
          </a:p>
        </p:txBody>
      </p:sp>
      <p:sp>
        <p:nvSpPr>
          <p:cNvPr id="60" name="Shape 58"/>
          <p:cNvSpPr/>
          <p:nvPr/>
        </p:nvSpPr>
        <p:spPr>
          <a:xfrm>
            <a:off x="548640" y="5024628"/>
            <a:ext cx="5029200" cy="260604"/>
          </a:xfrm>
          <a:prstGeom prst="rect">
            <a:avLst/>
          </a:prstGeom>
          <a:solidFill>
            <a:srgbClr val="FFFFFF"/>
          </a:solidFill>
          <a:ln/>
        </p:spPr>
      </p:sp>
      <p:sp>
        <p:nvSpPr>
          <p:cNvPr id="61" name="Text 59"/>
          <p:cNvSpPr/>
          <p:nvPr/>
        </p:nvSpPr>
        <p:spPr>
          <a:xfrm>
            <a:off x="640080" y="5024628"/>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view_activity_log</a:t>
            </a:r>
            <a:endParaRPr lang="en-US" sz="800" dirty="0"/>
          </a:p>
        </p:txBody>
      </p:sp>
      <p:sp>
        <p:nvSpPr>
          <p:cNvPr id="62" name="Shape 60"/>
          <p:cNvSpPr/>
          <p:nvPr/>
        </p:nvSpPr>
        <p:spPr>
          <a:xfrm>
            <a:off x="5577840" y="5024628"/>
            <a:ext cx="6080760" cy="260604"/>
          </a:xfrm>
          <a:prstGeom prst="rect">
            <a:avLst/>
          </a:prstGeom>
          <a:solidFill>
            <a:srgbClr val="FFFFFF"/>
          </a:solidFill>
          <a:ln/>
        </p:spPr>
      </p:sp>
      <p:sp>
        <p:nvSpPr>
          <p:cNvPr id="63" name="Text 61"/>
          <p:cNvSpPr/>
          <p:nvPr/>
        </p:nvSpPr>
        <p:spPr>
          <a:xfrm>
            <a:off x="5669280" y="5024628"/>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(exclusif)</a:t>
            </a:r>
            <a:endParaRPr lang="en-US" sz="850" dirty="0"/>
          </a:p>
        </p:txBody>
      </p:sp>
      <p:sp>
        <p:nvSpPr>
          <p:cNvPr id="64" name="Shape 62"/>
          <p:cNvSpPr/>
          <p:nvPr/>
        </p:nvSpPr>
        <p:spPr>
          <a:xfrm>
            <a:off x="548640" y="5285232"/>
            <a:ext cx="5029200" cy="260604"/>
          </a:xfrm>
          <a:prstGeom prst="rect">
            <a:avLst/>
          </a:prstGeom>
          <a:solidFill>
            <a:srgbClr val="F4F6F8"/>
          </a:solidFill>
          <a:ln/>
        </p:spPr>
      </p:sp>
      <p:sp>
        <p:nvSpPr>
          <p:cNvPr id="65" name="Text 63"/>
          <p:cNvSpPr/>
          <p:nvPr/>
        </p:nvSpPr>
        <p:spPr>
          <a:xfrm>
            <a:off x="640080" y="5285232"/>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manage_subscriptions</a:t>
            </a:r>
            <a:endParaRPr lang="en-US" sz="800" dirty="0"/>
          </a:p>
        </p:txBody>
      </p:sp>
      <p:sp>
        <p:nvSpPr>
          <p:cNvPr id="66" name="Shape 64"/>
          <p:cNvSpPr/>
          <p:nvPr/>
        </p:nvSpPr>
        <p:spPr>
          <a:xfrm>
            <a:off x="5577840" y="5285232"/>
            <a:ext cx="6080760" cy="260604"/>
          </a:xfrm>
          <a:prstGeom prst="rect">
            <a:avLst/>
          </a:prstGeom>
          <a:solidFill>
            <a:srgbClr val="F4F6F8"/>
          </a:solidFill>
          <a:ln/>
        </p:spPr>
      </p:sp>
      <p:sp>
        <p:nvSpPr>
          <p:cNvPr id="67" name="Text 65"/>
          <p:cNvSpPr/>
          <p:nvPr/>
        </p:nvSpPr>
        <p:spPr>
          <a:xfrm>
            <a:off x="5669280" y="5285232"/>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a:t>
            </a:r>
            <a:endParaRPr lang="en-US" sz="850" dirty="0"/>
          </a:p>
        </p:txBody>
      </p:sp>
      <p:sp>
        <p:nvSpPr>
          <p:cNvPr id="68" name="Shape 66"/>
          <p:cNvSpPr/>
          <p:nvPr/>
        </p:nvSpPr>
        <p:spPr>
          <a:xfrm>
            <a:off x="548640" y="5545836"/>
            <a:ext cx="5029200" cy="260604"/>
          </a:xfrm>
          <a:prstGeom prst="rect">
            <a:avLst/>
          </a:prstGeom>
          <a:solidFill>
            <a:srgbClr val="FFFFFF"/>
          </a:solidFill>
          <a:ln/>
        </p:spPr>
      </p:sp>
      <p:sp>
        <p:nvSpPr>
          <p:cNvPr id="69" name="Text 67"/>
          <p:cNvSpPr/>
          <p:nvPr/>
        </p:nvSpPr>
        <p:spPr>
          <a:xfrm>
            <a:off x="640080" y="5545836"/>
            <a:ext cx="4846320" cy="260604"/>
          </a:xfrm>
          <a:prstGeom prst="rect">
            <a:avLst/>
          </a:prstGeom>
          <a:noFill/>
          <a:ln/>
        </p:spPr>
        <p:txBody>
          <a:bodyPr wrap="square" rtlCol="0" anchor="ctr"/>
          <a:lstStyle/>
          <a:p>
            <a:pPr indent="0" marL="0">
              <a:buNone/>
            </a:pPr>
            <a:r>
              <a:rPr lang="en-US" sz="800" dirty="0">
                <a:solidFill>
                  <a:srgbClr val="0A2C54"/>
                </a:solidFill>
                <a:latin typeface="Courier New" pitchFamily="34" charset="0"/>
                <a:ea typeface="Courier New" pitchFamily="34" charset="-122"/>
                <a:cs typeface="Courier New" pitchFamily="34" charset="-120"/>
              </a:rPr>
              <a:t>view_analytics</a:t>
            </a:r>
            <a:endParaRPr lang="en-US" sz="800" dirty="0"/>
          </a:p>
        </p:txBody>
      </p:sp>
      <p:sp>
        <p:nvSpPr>
          <p:cNvPr id="70" name="Shape 68"/>
          <p:cNvSpPr/>
          <p:nvPr/>
        </p:nvSpPr>
        <p:spPr>
          <a:xfrm>
            <a:off x="5577840" y="5545836"/>
            <a:ext cx="6080760" cy="260604"/>
          </a:xfrm>
          <a:prstGeom prst="rect">
            <a:avLst/>
          </a:prstGeom>
          <a:solidFill>
            <a:srgbClr val="FFFFFF"/>
          </a:solidFill>
          <a:ln/>
        </p:spPr>
      </p:sp>
      <p:sp>
        <p:nvSpPr>
          <p:cNvPr id="71" name="Text 69"/>
          <p:cNvSpPr/>
          <p:nvPr/>
        </p:nvSpPr>
        <p:spPr>
          <a:xfrm>
            <a:off x="5669280" y="5545836"/>
            <a:ext cx="5897880" cy="260604"/>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super_admin, admin</a:t>
            </a:r>
            <a:endParaRPr lang="en-US" sz="850" dirty="0"/>
          </a:p>
        </p:txBody>
      </p:sp>
      <p:sp>
        <p:nvSpPr>
          <p:cNvPr id="72" name="Text 70"/>
          <p:cNvSpPr/>
          <p:nvPr/>
        </p:nvSpPr>
        <p:spPr>
          <a:xfrm>
            <a:off x="548640" y="5916168"/>
            <a:ext cx="11064240" cy="320040"/>
          </a:xfrm>
          <a:prstGeom prst="rect">
            <a:avLst/>
          </a:prstGeom>
          <a:noFill/>
          <a:ln/>
        </p:spPr>
        <p:txBody>
          <a:bodyPr wrap="square" rtlCol="0" anchor="ctr"/>
          <a:lstStyle/>
          <a:p>
            <a:pPr indent="0" marL="0">
              <a:buNone/>
            </a:pPr>
            <a:r>
              <a:rPr lang="en-US" sz="900" i="1" dirty="0">
                <a:solidFill>
                  <a:srgbClr val="667085"/>
                </a:solidFill>
                <a:latin typeface="Calibri" pitchFamily="34" charset="0"/>
                <a:ea typeface="Calibri" pitchFamily="34" charset="-122"/>
                <a:cs typeface="Calibri" pitchFamily="34" charset="-120"/>
              </a:rPr>
              <a:t>Source : frontend/src/features/auth/permissions.ts — reflète la logique métier ; la vérification faisant foi reste côté serveur (core/permissions.py).</a:t>
            </a:r>
            <a:endParaRPr lang="en-US" sz="900" dirty="0"/>
          </a:p>
        </p:txBody>
      </p:sp>
      <p:sp>
        <p:nvSpPr>
          <p:cNvPr id="73" name="Text 71"/>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Annexe C — RBAC détaillé</a:t>
            </a:r>
            <a:endParaRPr lang="en-US" sz="900" dirty="0"/>
          </a:p>
        </p:txBody>
      </p:sp>
      <p:sp>
        <p:nvSpPr>
          <p:cNvPr id="74" name="Text 72"/>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75" name="Text 73"/>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ANNEXE D</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Structure backend (extrait réel)</a:t>
            </a:r>
            <a:endParaRPr lang="en-US" sz="2800" dirty="0"/>
          </a:p>
        </p:txBody>
      </p:sp>
      <p:sp>
        <p:nvSpPr>
          <p:cNvPr id="4" name="Text 2"/>
          <p:cNvSpPr/>
          <p:nvPr/>
        </p:nvSpPr>
        <p:spPr>
          <a:xfrm>
            <a:off x="640080" y="1463040"/>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backend/</a:t>
            </a:r>
            <a:endParaRPr lang="en-US" sz="1100" dirty="0"/>
          </a:p>
        </p:txBody>
      </p:sp>
      <p:sp>
        <p:nvSpPr>
          <p:cNvPr id="5" name="Text 3"/>
          <p:cNvSpPr/>
          <p:nvPr/>
        </p:nvSpPr>
        <p:spPr>
          <a:xfrm>
            <a:off x="640080" y="1773936"/>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config/            # settings (base/dev/prod), urls, wsgi/asgi</a:t>
            </a:r>
            <a:endParaRPr lang="en-US" sz="1100" dirty="0"/>
          </a:p>
        </p:txBody>
      </p:sp>
      <p:sp>
        <p:nvSpPr>
          <p:cNvPr id="6" name="Text 4"/>
          <p:cNvSpPr/>
          <p:nvPr/>
        </p:nvSpPr>
        <p:spPr>
          <a:xfrm>
            <a:off x="640080" y="2084832"/>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apps/</a:t>
            </a:r>
            <a:endParaRPr lang="en-US" sz="1100" dirty="0"/>
          </a:p>
        </p:txBody>
      </p:sp>
      <p:sp>
        <p:nvSpPr>
          <p:cNvPr id="7" name="Text 5"/>
          <p:cNvSpPr/>
          <p:nvPr/>
        </p:nvSpPr>
        <p:spPr>
          <a:xfrm>
            <a:off x="640080" y="2395728"/>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 users/         # User, RBAC (Role)</a:t>
            </a:r>
            <a:endParaRPr lang="en-US" sz="1100" dirty="0"/>
          </a:p>
        </p:txBody>
      </p:sp>
      <p:sp>
        <p:nvSpPr>
          <p:cNvPr id="8" name="Text 6"/>
          <p:cNvSpPr/>
          <p:nvPr/>
        </p:nvSpPr>
        <p:spPr>
          <a:xfrm>
            <a:off x="640080" y="2706624"/>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 products/      # Service, Segment, Product, ProductImage, ProductFAQ, ProductSource</a:t>
            </a:r>
            <a:endParaRPr lang="en-US" sz="1100" dirty="0"/>
          </a:p>
        </p:txBody>
      </p:sp>
      <p:sp>
        <p:nvSpPr>
          <p:cNvPr id="9" name="Text 7"/>
          <p:cNvSpPr/>
          <p:nvPr/>
        </p:nvSpPr>
        <p:spPr>
          <a:xfrm>
            <a:off x="640080" y="3017520"/>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 categories/    # Category</a:t>
            </a:r>
            <a:endParaRPr lang="en-US" sz="1100" dirty="0"/>
          </a:p>
        </p:txBody>
      </p:sp>
      <p:sp>
        <p:nvSpPr>
          <p:cNvPr id="10" name="Text 8"/>
          <p:cNvSpPr/>
          <p:nvPr/>
        </p:nvSpPr>
        <p:spPr>
          <a:xfrm>
            <a:off x="640080" y="3328416"/>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 subscriptions/ # ClientProfile, SubscriptionRequest, SubscriptionStatusHistory</a:t>
            </a:r>
            <a:endParaRPr lang="en-US" sz="1100" dirty="0"/>
          </a:p>
        </p:txBody>
      </p:sp>
      <p:sp>
        <p:nvSpPr>
          <p:cNvPr id="11" name="Text 9"/>
          <p:cNvSpPr/>
          <p:nvPr/>
        </p:nvSpPr>
        <p:spPr>
          <a:xfrm>
            <a:off x="640080" y="3639312"/>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 core/           # Payment, SupportTicket, TicketMessage, Notification, ActivityLog,</a:t>
            </a:r>
            <a:endParaRPr lang="en-US" sz="1100" dirty="0"/>
          </a:p>
        </p:txBody>
      </p:sp>
      <p:sp>
        <p:nvSpPr>
          <p:cNvPr id="12" name="Text 10"/>
          <p:cNvSpPr/>
          <p:nvPr/>
        </p:nvSpPr>
        <p:spPr>
          <a:xfrm>
            <a:off x="640080" y="3950208"/>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                   # AnalyticsEvent, permissions.py, payment_providers.py, providers.py,</a:t>
            </a:r>
            <a:endParaRPr lang="en-US" sz="1100" dirty="0"/>
          </a:p>
        </p:txBody>
      </p:sp>
      <p:sp>
        <p:nvSpPr>
          <p:cNvPr id="13" name="Text 11"/>
          <p:cNvSpPr/>
          <p:nvPr/>
        </p:nvSpPr>
        <p:spPr>
          <a:xfrm>
            <a:off x="640080" y="4261104"/>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                   # chatbot_service.py, analytics.py, v2_services.py, v3_services.py</a:t>
            </a:r>
            <a:endParaRPr lang="en-US" sz="1100" dirty="0"/>
          </a:p>
        </p:txBody>
      </p:sp>
      <p:sp>
        <p:nvSpPr>
          <p:cNvPr id="14" name="Text 12"/>
          <p:cNvSpPr/>
          <p:nvPr/>
        </p:nvSpPr>
        <p:spPr>
          <a:xfrm>
            <a:off x="640080" y="4572000"/>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 news/, promotions/, media/, contacts/, partners/</a:t>
            </a:r>
            <a:endParaRPr lang="en-US" sz="1100" dirty="0"/>
          </a:p>
        </p:txBody>
      </p:sp>
      <p:sp>
        <p:nvSpPr>
          <p:cNvPr id="15" name="Text 13"/>
          <p:cNvSpPr/>
          <p:nvPr/>
        </p:nvSpPr>
        <p:spPr>
          <a:xfrm>
            <a:off x="640080" y="4882896"/>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data/camtel_catalog/AAAA-MM-JJ/   # snapshots officiels (offers, services, sources)</a:t>
            </a:r>
            <a:endParaRPr lang="en-US" sz="1100" dirty="0"/>
          </a:p>
        </p:txBody>
      </p:sp>
      <p:sp>
        <p:nvSpPr>
          <p:cNvPr id="16" name="Text 14"/>
          <p:cNvSpPr/>
          <p:nvPr/>
        </p:nvSpPr>
        <p:spPr>
          <a:xfrm>
            <a:off x="640080" y="5193792"/>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requirements.txt</a:t>
            </a:r>
            <a:endParaRPr lang="en-US" sz="1100" dirty="0"/>
          </a:p>
        </p:txBody>
      </p:sp>
      <p:sp>
        <p:nvSpPr>
          <p:cNvPr id="17" name="Text 15"/>
          <p:cNvSpPr/>
          <p:nvPr/>
        </p:nvSpPr>
        <p:spPr>
          <a:xfrm>
            <a:off x="640080" y="5504688"/>
            <a:ext cx="10881360" cy="292608"/>
          </a:xfrm>
          <a:prstGeom prst="rect">
            <a:avLst/>
          </a:prstGeom>
          <a:noFill/>
          <a:ln/>
        </p:spPr>
        <p:txBody>
          <a:bodyPr wrap="square" rtlCol="0" anchor="ctr"/>
          <a:lstStyle/>
          <a:p>
            <a:pPr indent="0" marL="0">
              <a:buNone/>
            </a:pPr>
            <a:r>
              <a:rPr lang="en-US" sz="1100" dirty="0">
                <a:solidFill>
                  <a:srgbClr val="1F2937"/>
                </a:solidFill>
                <a:latin typeface="Courier New" pitchFamily="34" charset="0"/>
                <a:ea typeface="Courier New" pitchFamily="34" charset="-122"/>
                <a:cs typeface="Courier New" pitchFamily="34" charset="-120"/>
              </a:rPr>
              <a:t>└── manage.py</a:t>
            </a:r>
            <a:endParaRPr lang="en-US" sz="1100" dirty="0"/>
          </a:p>
        </p:txBody>
      </p:sp>
      <p:sp>
        <p:nvSpPr>
          <p:cNvPr id="18" name="Text 16"/>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Annexe D — Structure backend</a:t>
            </a:r>
            <a:endParaRPr lang="en-US" sz="900" dirty="0"/>
          </a:p>
        </p:txBody>
      </p:sp>
      <p:sp>
        <p:nvSpPr>
          <p:cNvPr id="19" name="Text 17"/>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20" name="Text 18"/>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ANNEXE E</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Structure des données catalogue</a:t>
            </a:r>
            <a:endParaRPr lang="en-US" sz="2800" dirty="0"/>
          </a:p>
        </p:txBody>
      </p:sp>
      <p:sp>
        <p:nvSpPr>
          <p:cNvPr id="4" name="Text 2"/>
          <p:cNvSpPr/>
          <p:nvPr/>
        </p:nvSpPr>
        <p:spPr>
          <a:xfrm>
            <a:off x="640080" y="1645920"/>
            <a:ext cx="10881360" cy="365760"/>
          </a:xfrm>
          <a:prstGeom prst="rect">
            <a:avLst/>
          </a:prstGeom>
          <a:noFill/>
          <a:ln/>
        </p:spPr>
        <p:txBody>
          <a:bodyPr wrap="square" rtlCol="0" anchor="ctr"/>
          <a:lstStyle/>
          <a:p>
            <a:pPr indent="0" marL="0">
              <a:buNone/>
            </a:pPr>
            <a:r>
              <a:rPr lang="en-US" sz="1200" dirty="0">
                <a:solidFill>
                  <a:srgbClr val="1F2937"/>
                </a:solidFill>
                <a:latin typeface="Courier New" pitchFamily="34" charset="0"/>
                <a:ea typeface="Courier New" pitchFamily="34" charset="-122"/>
                <a:cs typeface="Courier New" pitchFamily="34" charset="-120"/>
              </a:rPr>
              <a:t>data/</a:t>
            </a:r>
            <a:endParaRPr lang="en-US" sz="1200" dirty="0"/>
          </a:p>
        </p:txBody>
      </p:sp>
      <p:sp>
        <p:nvSpPr>
          <p:cNvPr id="5" name="Text 3"/>
          <p:cNvSpPr/>
          <p:nvPr/>
        </p:nvSpPr>
        <p:spPr>
          <a:xfrm>
            <a:off x="640080" y="2029968"/>
            <a:ext cx="10881360" cy="365760"/>
          </a:xfrm>
          <a:prstGeom prst="rect">
            <a:avLst/>
          </a:prstGeom>
          <a:noFill/>
          <a:ln/>
        </p:spPr>
        <p:txBody>
          <a:bodyPr wrap="square" rtlCol="0" anchor="ctr"/>
          <a:lstStyle/>
          <a:p>
            <a:pPr indent="0" marL="0">
              <a:buNone/>
            </a:pPr>
            <a:r>
              <a:rPr lang="en-US" sz="1200" dirty="0">
                <a:solidFill>
                  <a:srgbClr val="1F2937"/>
                </a:solidFill>
                <a:latin typeface="Courier New" pitchFamily="34" charset="0"/>
                <a:ea typeface="Courier New" pitchFamily="34" charset="-122"/>
                <a:cs typeface="Courier New" pitchFamily="34" charset="-120"/>
              </a:rPr>
              <a:t>├── camtel_catalog/</a:t>
            </a:r>
            <a:endParaRPr lang="en-US" sz="1200" dirty="0"/>
          </a:p>
        </p:txBody>
      </p:sp>
      <p:sp>
        <p:nvSpPr>
          <p:cNvPr id="6" name="Text 4"/>
          <p:cNvSpPr/>
          <p:nvPr/>
        </p:nvSpPr>
        <p:spPr>
          <a:xfrm>
            <a:off x="640080" y="2414016"/>
            <a:ext cx="10881360" cy="365760"/>
          </a:xfrm>
          <a:prstGeom prst="rect">
            <a:avLst/>
          </a:prstGeom>
          <a:noFill/>
          <a:ln/>
        </p:spPr>
        <p:txBody>
          <a:bodyPr wrap="square" rtlCol="0" anchor="ctr"/>
          <a:lstStyle/>
          <a:p>
            <a:pPr indent="0" marL="0">
              <a:buNone/>
            </a:pPr>
            <a:r>
              <a:rPr lang="en-US" sz="1200" dirty="0">
                <a:solidFill>
                  <a:srgbClr val="1F2937"/>
                </a:solidFill>
                <a:latin typeface="Courier New" pitchFamily="34" charset="0"/>
                <a:ea typeface="Courier New" pitchFamily="34" charset="-122"/>
                <a:cs typeface="Courier New" pitchFamily="34" charset="-120"/>
              </a:rPr>
              <a:t>│   └── 2026-08-25/                # snapshot daté (dernier import analysé)</a:t>
            </a:r>
            <a:endParaRPr lang="en-US" sz="1200" dirty="0"/>
          </a:p>
        </p:txBody>
      </p:sp>
      <p:sp>
        <p:nvSpPr>
          <p:cNvPr id="7" name="Text 5"/>
          <p:cNvSpPr/>
          <p:nvPr/>
        </p:nvSpPr>
        <p:spPr>
          <a:xfrm>
            <a:off x="640080" y="2798064"/>
            <a:ext cx="10881360" cy="365760"/>
          </a:xfrm>
          <a:prstGeom prst="rect">
            <a:avLst/>
          </a:prstGeom>
          <a:noFill/>
          <a:ln/>
        </p:spPr>
        <p:txBody>
          <a:bodyPr wrap="square" rtlCol="0" anchor="ctr"/>
          <a:lstStyle/>
          <a:p>
            <a:pPr indent="0" marL="0">
              <a:buNone/>
            </a:pPr>
            <a:r>
              <a:rPr lang="en-US" sz="1200" dirty="0">
                <a:solidFill>
                  <a:srgbClr val="1F2937"/>
                </a:solidFill>
                <a:latin typeface="Courier New" pitchFamily="34" charset="0"/>
                <a:ea typeface="Courier New" pitchFamily="34" charset="-122"/>
                <a:cs typeface="Courier New" pitchFamily="34" charset="-120"/>
              </a:rPr>
              <a:t>│       ├── offers.json            # 42 offres validées (26 avec prix, 15 « sur demande »)</a:t>
            </a:r>
            <a:endParaRPr lang="en-US" sz="1200" dirty="0"/>
          </a:p>
        </p:txBody>
      </p:sp>
      <p:sp>
        <p:nvSpPr>
          <p:cNvPr id="8" name="Text 6"/>
          <p:cNvSpPr/>
          <p:nvPr/>
        </p:nvSpPr>
        <p:spPr>
          <a:xfrm>
            <a:off x="640080" y="3182112"/>
            <a:ext cx="10881360" cy="365760"/>
          </a:xfrm>
          <a:prstGeom prst="rect">
            <a:avLst/>
          </a:prstGeom>
          <a:noFill/>
          <a:ln/>
        </p:spPr>
        <p:txBody>
          <a:bodyPr wrap="square" rtlCol="0" anchor="ctr"/>
          <a:lstStyle/>
          <a:p>
            <a:pPr indent="0" marL="0">
              <a:buNone/>
            </a:pPr>
            <a:r>
              <a:rPr lang="en-US" sz="1200" dirty="0">
                <a:solidFill>
                  <a:srgbClr val="1F2937"/>
                </a:solidFill>
                <a:latin typeface="Courier New" pitchFamily="34" charset="0"/>
                <a:ea typeface="Courier New" pitchFamily="34" charset="-122"/>
                <a:cs typeface="Courier New" pitchFamily="34" charset="-120"/>
              </a:rPr>
              <a:t>│       ├── services.json          # 4 catégories officielles</a:t>
            </a:r>
            <a:endParaRPr lang="en-US" sz="1200" dirty="0"/>
          </a:p>
        </p:txBody>
      </p:sp>
      <p:sp>
        <p:nvSpPr>
          <p:cNvPr id="9" name="Text 7"/>
          <p:cNvSpPr/>
          <p:nvPr/>
        </p:nvSpPr>
        <p:spPr>
          <a:xfrm>
            <a:off x="640080" y="3566160"/>
            <a:ext cx="10881360" cy="365760"/>
          </a:xfrm>
          <a:prstGeom prst="rect">
            <a:avLst/>
          </a:prstGeom>
          <a:noFill/>
          <a:ln/>
        </p:spPr>
        <p:txBody>
          <a:bodyPr wrap="square" rtlCol="0" anchor="ctr"/>
          <a:lstStyle/>
          <a:p>
            <a:pPr indent="0" marL="0">
              <a:buNone/>
            </a:pPr>
            <a:r>
              <a:rPr lang="en-US" sz="1200" dirty="0">
                <a:solidFill>
                  <a:srgbClr val="1F2937"/>
                </a:solidFill>
                <a:latin typeface="Courier New" pitchFamily="34" charset="0"/>
                <a:ea typeface="Courier New" pitchFamily="34" charset="-122"/>
                <a:cs typeface="Courier New" pitchFamily="34" charset="-120"/>
              </a:rPr>
              <a:t>│       ├── promotions.json</a:t>
            </a:r>
            <a:endParaRPr lang="en-US" sz="1200" dirty="0"/>
          </a:p>
        </p:txBody>
      </p:sp>
      <p:sp>
        <p:nvSpPr>
          <p:cNvPr id="10" name="Text 8"/>
          <p:cNvSpPr/>
          <p:nvPr/>
        </p:nvSpPr>
        <p:spPr>
          <a:xfrm>
            <a:off x="640080" y="3950208"/>
            <a:ext cx="10881360" cy="365760"/>
          </a:xfrm>
          <a:prstGeom prst="rect">
            <a:avLst/>
          </a:prstGeom>
          <a:noFill/>
          <a:ln/>
        </p:spPr>
        <p:txBody>
          <a:bodyPr wrap="square" rtlCol="0" anchor="ctr"/>
          <a:lstStyle/>
          <a:p>
            <a:pPr indent="0" marL="0">
              <a:buNone/>
            </a:pPr>
            <a:r>
              <a:rPr lang="en-US" sz="1200" dirty="0">
                <a:solidFill>
                  <a:srgbClr val="1F2937"/>
                </a:solidFill>
                <a:latin typeface="Courier New" pitchFamily="34" charset="0"/>
                <a:ea typeface="Courier New" pitchFamily="34" charset="-122"/>
                <a:cs typeface="Courier New" pitchFamily="34" charset="-120"/>
              </a:rPr>
              <a:t>│       └── sources.json           # traçabilité obligatoire par offre OFFICIAL</a:t>
            </a:r>
            <a:endParaRPr lang="en-US" sz="1200" dirty="0"/>
          </a:p>
        </p:txBody>
      </p:sp>
      <p:sp>
        <p:nvSpPr>
          <p:cNvPr id="11" name="Text 9"/>
          <p:cNvSpPr/>
          <p:nvPr/>
        </p:nvSpPr>
        <p:spPr>
          <a:xfrm>
            <a:off x="640080" y="4334256"/>
            <a:ext cx="10881360" cy="365760"/>
          </a:xfrm>
          <a:prstGeom prst="rect">
            <a:avLst/>
          </a:prstGeom>
          <a:noFill/>
          <a:ln/>
        </p:spPr>
        <p:txBody>
          <a:bodyPr wrap="square" rtlCol="0" anchor="ctr"/>
          <a:lstStyle/>
          <a:p>
            <a:pPr indent="0" marL="0">
              <a:buNone/>
            </a:pPr>
            <a:r>
              <a:rPr lang="en-US" sz="1200" dirty="0">
                <a:solidFill>
                  <a:srgbClr val="1F2937"/>
                </a:solidFill>
                <a:latin typeface="Courier New" pitchFamily="34" charset="0"/>
                <a:ea typeface="Courier New" pitchFamily="34" charset="-122"/>
                <a:cs typeface="Courier New" pitchFamily="34" charset="-120"/>
              </a:rPr>
              <a:t>└── incoming/                      # zone de dépôt avant validation</a:t>
            </a:r>
            <a:endParaRPr lang="en-US" sz="1200" dirty="0"/>
          </a:p>
        </p:txBody>
      </p:sp>
      <p:sp>
        <p:nvSpPr>
          <p:cNvPr id="12" name="Shape 10"/>
          <p:cNvSpPr/>
          <p:nvPr/>
        </p:nvSpPr>
        <p:spPr>
          <a:xfrm>
            <a:off x="640080" y="4901184"/>
            <a:ext cx="10607040" cy="1463040"/>
          </a:xfrm>
          <a:prstGeom prst="roundRect">
            <a:avLst>
              <a:gd name="adj" fmla="val 3750"/>
            </a:avLst>
          </a:prstGeom>
          <a:solidFill>
            <a:srgbClr val="F4F6F8"/>
          </a:solidFill>
          <a:ln/>
        </p:spPr>
      </p:sp>
      <p:sp>
        <p:nvSpPr>
          <p:cNvPr id="13" name="Text 11"/>
          <p:cNvSpPr/>
          <p:nvPr/>
        </p:nvSpPr>
        <p:spPr>
          <a:xfrm>
            <a:off x="868680" y="5038344"/>
            <a:ext cx="10058400" cy="274320"/>
          </a:xfrm>
          <a:prstGeom prst="rect">
            <a:avLst/>
          </a:prstGeom>
          <a:noFill/>
          <a:ln/>
        </p:spPr>
        <p:txBody>
          <a:bodyPr wrap="square" rtlCol="0" anchor="ctr"/>
          <a:lstStyle/>
          <a:p>
            <a:pPr indent="0" marL="0">
              <a:buNone/>
            </a:pPr>
            <a:r>
              <a:rPr lang="en-US" sz="1100" b="1" dirty="0">
                <a:solidFill>
                  <a:srgbClr val="0A2C54"/>
                </a:solidFill>
                <a:latin typeface="Calibri" pitchFamily="34" charset="0"/>
                <a:ea typeface="Calibri" pitchFamily="34" charset="-122"/>
                <a:cs typeface="Calibri" pitchFamily="34" charset="-120"/>
              </a:rPr>
              <a:t>Rapport d'import réel obtenu pendant l'analyse</a:t>
            </a:r>
            <a:endParaRPr lang="en-US" sz="1100" dirty="0"/>
          </a:p>
        </p:txBody>
      </p:sp>
      <p:sp>
        <p:nvSpPr>
          <p:cNvPr id="14" name="Text 12"/>
          <p:cNvSpPr/>
          <p:nvPr/>
        </p:nvSpPr>
        <p:spPr>
          <a:xfrm>
            <a:off x="868680" y="5358384"/>
            <a:ext cx="10058400" cy="548640"/>
          </a:xfrm>
          <a:prstGeom prst="rect">
            <a:avLst/>
          </a:prstGeom>
          <a:noFill/>
          <a:ln/>
        </p:spPr>
        <p:txBody>
          <a:bodyPr wrap="square" rtlCol="0" anchor="ctr"/>
          <a:lstStyle/>
          <a:p>
            <a:pPr indent="0" marL="0">
              <a:buNone/>
            </a:pPr>
            <a:r>
              <a:rPr lang="en-US" sz="1050" dirty="0">
                <a:solidFill>
                  <a:srgbClr val="1F2937"/>
                </a:solidFill>
                <a:latin typeface="Courier New" pitchFamily="34" charset="0"/>
                <a:ea typeface="Courier New" pitchFamily="34" charset="-122"/>
                <a:cs typeface="Courier New" pitchFamily="34" charset="-120"/>
              </a:rPr>
              <a:t>Entrées validées : 42   ·   Créées : 48   ·   Offres OFFICIAL en base : 42   ·   Avec prix : 26   ·   Prix sur demande : 15   ·   REQUIRES_VERIFICATION : 1</a:t>
            </a:r>
            <a:endParaRPr lang="en-US" sz="1050" dirty="0"/>
          </a:p>
        </p:txBody>
      </p:sp>
      <p:sp>
        <p:nvSpPr>
          <p:cNvPr id="15" name="Text 13"/>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Annexe E — Structure data</a:t>
            </a:r>
            <a:endParaRPr lang="en-US" sz="900" dirty="0"/>
          </a:p>
        </p:txBody>
      </p:sp>
      <p:sp>
        <p:nvSpPr>
          <p:cNvPr id="16" name="Text 14"/>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17" name="Text 15"/>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601200" cy="274320"/>
          </a:xfrm>
          <a:prstGeom prst="rect">
            <a:avLst/>
          </a:prstGeom>
          <a:noFill/>
          <a:ln/>
        </p:spPr>
        <p:txBody>
          <a:bodyPr wrap="square" rtlCol="0" anchor="ctr"/>
          <a:lstStyle/>
          <a:p>
            <a:pPr indent="0" marL="0">
              <a:buNone/>
            </a:pPr>
            <a:r>
              <a:rPr lang="en-US" sz="1200" b="1" spc="150" kern="0" dirty="0">
                <a:solidFill>
                  <a:srgbClr val="0B57A4"/>
                </a:solidFill>
                <a:latin typeface="Calibri" pitchFamily="34" charset="0"/>
                <a:ea typeface="Calibri" pitchFamily="34" charset="-122"/>
                <a:cs typeface="Calibri" pitchFamily="34" charset="-120"/>
              </a:rPr>
              <a:t>ANNEXE F</a:t>
            </a:r>
            <a:endParaRPr lang="en-US" sz="1200" dirty="0"/>
          </a:p>
        </p:txBody>
      </p:sp>
      <p:sp>
        <p:nvSpPr>
          <p:cNvPr id="3" name="Text 1"/>
          <p:cNvSpPr/>
          <p:nvPr/>
        </p:nvSpPr>
        <p:spPr>
          <a:xfrm>
            <a:off x="548640" y="640080"/>
            <a:ext cx="10789920" cy="621792"/>
          </a:xfrm>
          <a:prstGeom prst="rect">
            <a:avLst/>
          </a:prstGeom>
          <a:noFill/>
          <a:ln/>
        </p:spPr>
        <p:txBody>
          <a:bodyPr wrap="square" rtlCol="0" anchor="ctr"/>
          <a:lstStyle/>
          <a:p>
            <a:pPr indent="0" marL="0">
              <a:buNone/>
            </a:pPr>
            <a:r>
              <a:rPr lang="en-US" sz="2800" b="1" dirty="0">
                <a:solidFill>
                  <a:srgbClr val="0A2C54"/>
                </a:solidFill>
                <a:latin typeface="Cambria" pitchFamily="34" charset="0"/>
                <a:ea typeface="Cambria" pitchFamily="34" charset="-122"/>
                <a:cs typeface="Cambria" pitchFamily="34" charset="-120"/>
              </a:rPr>
              <a:t>Technologies (avec versions réelles)</a:t>
            </a:r>
            <a:endParaRPr lang="en-US" sz="2800" dirty="0"/>
          </a:p>
        </p:txBody>
      </p:sp>
      <p:sp>
        <p:nvSpPr>
          <p:cNvPr id="4" name="Shape 2"/>
          <p:cNvSpPr/>
          <p:nvPr/>
        </p:nvSpPr>
        <p:spPr>
          <a:xfrm>
            <a:off x="548640" y="1463040"/>
            <a:ext cx="2103120" cy="777240"/>
          </a:xfrm>
          <a:prstGeom prst="roundRect">
            <a:avLst>
              <a:gd name="adj" fmla="val 5882"/>
            </a:avLst>
          </a:prstGeom>
          <a:solidFill>
            <a:srgbClr val="0B57A4"/>
          </a:solidFill>
          <a:ln/>
        </p:spPr>
      </p:sp>
      <p:sp>
        <p:nvSpPr>
          <p:cNvPr id="5" name="Text 3"/>
          <p:cNvSpPr/>
          <p:nvPr/>
        </p:nvSpPr>
        <p:spPr>
          <a:xfrm>
            <a:off x="640080" y="1463040"/>
            <a:ext cx="1920240" cy="7772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p:txBody>
      </p:sp>
      <p:sp>
        <p:nvSpPr>
          <p:cNvPr id="6" name="Text 4"/>
          <p:cNvSpPr/>
          <p:nvPr/>
        </p:nvSpPr>
        <p:spPr>
          <a:xfrm>
            <a:off x="2788920" y="1463040"/>
            <a:ext cx="8869680" cy="77724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React 18.3   ·   TypeScript 5.5   ·   Vite 8.2   ·   React Router 7.18   ·   TanStack Query 5.56   ·   TailwindCSS 3.4   ·   react-hook-form 7.53 + Zod 3.23   ·   i18next / react-i18next   ·   Framer Motion 11.5   ·   Recharts 2.12</a:t>
            </a:r>
            <a:endParaRPr lang="en-US" sz="950" dirty="0"/>
          </a:p>
        </p:txBody>
      </p:sp>
      <p:sp>
        <p:nvSpPr>
          <p:cNvPr id="7" name="Shape 5"/>
          <p:cNvSpPr/>
          <p:nvPr/>
        </p:nvSpPr>
        <p:spPr>
          <a:xfrm>
            <a:off x="548640" y="2377440"/>
            <a:ext cx="2103120" cy="777240"/>
          </a:xfrm>
          <a:prstGeom prst="roundRect">
            <a:avLst>
              <a:gd name="adj" fmla="val 5882"/>
            </a:avLst>
          </a:prstGeom>
          <a:solidFill>
            <a:srgbClr val="0A2C54"/>
          </a:solidFill>
          <a:ln/>
        </p:spPr>
      </p:sp>
      <p:sp>
        <p:nvSpPr>
          <p:cNvPr id="8" name="Text 6"/>
          <p:cNvSpPr/>
          <p:nvPr/>
        </p:nvSpPr>
        <p:spPr>
          <a:xfrm>
            <a:off x="640080" y="2377440"/>
            <a:ext cx="1920240" cy="7772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BACKEND</a:t>
            </a:r>
            <a:endParaRPr lang="en-US" sz="1100" dirty="0"/>
          </a:p>
        </p:txBody>
      </p:sp>
      <p:sp>
        <p:nvSpPr>
          <p:cNvPr id="9" name="Text 7"/>
          <p:cNvSpPr/>
          <p:nvPr/>
        </p:nvSpPr>
        <p:spPr>
          <a:xfrm>
            <a:off x="2788920" y="2377440"/>
            <a:ext cx="8869680" cy="77724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Django 6.0.7   ·   Django REST Framework 3.17.1   ·   djangorestframework-simplejwt 5.5.1   ·   drf-spectacular 0.30 (OpenAPI)   ·   Celery 5.5 + Redis (tâches async)   ·   Gunicorn 23 (prod)   ·   ReportLab (export PDF)</a:t>
            </a:r>
            <a:endParaRPr lang="en-US" sz="950" dirty="0"/>
          </a:p>
        </p:txBody>
      </p:sp>
      <p:sp>
        <p:nvSpPr>
          <p:cNvPr id="10" name="Shape 8"/>
          <p:cNvSpPr/>
          <p:nvPr/>
        </p:nvSpPr>
        <p:spPr>
          <a:xfrm>
            <a:off x="548640" y="3291840"/>
            <a:ext cx="2103120" cy="777240"/>
          </a:xfrm>
          <a:prstGeom prst="roundRect">
            <a:avLst>
              <a:gd name="adj" fmla="val 5882"/>
            </a:avLst>
          </a:prstGeom>
          <a:solidFill>
            <a:srgbClr val="1AA260"/>
          </a:solidFill>
          <a:ln/>
        </p:spPr>
      </p:sp>
      <p:sp>
        <p:nvSpPr>
          <p:cNvPr id="11" name="Text 9"/>
          <p:cNvSpPr/>
          <p:nvPr/>
        </p:nvSpPr>
        <p:spPr>
          <a:xfrm>
            <a:off x="640080" y="3291840"/>
            <a:ext cx="1920240" cy="7772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DONNÉES &amp; STOCKAGE</a:t>
            </a:r>
            <a:endParaRPr lang="en-US" sz="1100" dirty="0"/>
          </a:p>
        </p:txBody>
      </p:sp>
      <p:sp>
        <p:nvSpPr>
          <p:cNvPr id="12" name="Text 10"/>
          <p:cNvSpPr/>
          <p:nvPr/>
        </p:nvSpPr>
        <p:spPr>
          <a:xfrm>
            <a:off x="2788920" y="3291840"/>
            <a:ext cx="8869680" cy="77724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SQLite (dev/CI)   ·   PostgreSQL (prod, testé en CI)   ·   django-storages + boto3 (S3-ready)   ·   Pillow (traitement images)</a:t>
            </a:r>
            <a:endParaRPr lang="en-US" sz="950" dirty="0"/>
          </a:p>
        </p:txBody>
      </p:sp>
      <p:sp>
        <p:nvSpPr>
          <p:cNvPr id="13" name="Shape 11"/>
          <p:cNvSpPr/>
          <p:nvPr/>
        </p:nvSpPr>
        <p:spPr>
          <a:xfrm>
            <a:off x="548640" y="4206240"/>
            <a:ext cx="2103120" cy="777240"/>
          </a:xfrm>
          <a:prstGeom prst="roundRect">
            <a:avLst>
              <a:gd name="adj" fmla="val 5882"/>
            </a:avLst>
          </a:prstGeom>
          <a:solidFill>
            <a:srgbClr val="E8892E"/>
          </a:solidFill>
          <a:ln/>
        </p:spPr>
      </p:sp>
      <p:sp>
        <p:nvSpPr>
          <p:cNvPr id="14" name="Text 12"/>
          <p:cNvSpPr/>
          <p:nvPr/>
        </p:nvSpPr>
        <p:spPr>
          <a:xfrm>
            <a:off x="640080" y="4206240"/>
            <a:ext cx="1920240" cy="7772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IA / PAIEMENT / INFRA</a:t>
            </a:r>
            <a:endParaRPr lang="en-US" sz="1100" dirty="0"/>
          </a:p>
        </p:txBody>
      </p:sp>
      <p:sp>
        <p:nvSpPr>
          <p:cNvPr id="15" name="Text 13"/>
          <p:cNvSpPr/>
          <p:nvPr/>
        </p:nvSpPr>
        <p:spPr>
          <a:xfrm>
            <a:off x="2788920" y="4206240"/>
            <a:ext cx="8869680" cy="77724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google-generativeai (Gemini), openai, Ollama (IA — CHATBOT_PROVIDER)   ·   Orange Money / MTN MoMo (payment_providers.py)   ·   Docker + Docker Compose, Nginx   ·   GitHub Actions (CI : tests, pip-audit, npm audit)</a:t>
            </a:r>
            <a:endParaRPr lang="en-US" sz="950" dirty="0"/>
          </a:p>
        </p:txBody>
      </p:sp>
      <p:sp>
        <p:nvSpPr>
          <p:cNvPr id="16" name="Text 14"/>
          <p:cNvSpPr/>
          <p:nvPr/>
        </p:nvSpPr>
        <p:spPr>
          <a:xfrm>
            <a:off x="548640" y="5212080"/>
            <a:ext cx="11064240" cy="320040"/>
          </a:xfrm>
          <a:prstGeom prst="rect">
            <a:avLst/>
          </a:prstGeom>
          <a:noFill/>
          <a:ln/>
        </p:spPr>
        <p:txBody>
          <a:bodyPr wrap="square"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Versions extraites de requirements.txt et package.json au moment de l'analyse.</a:t>
            </a:r>
            <a:endParaRPr lang="en-US" sz="950" dirty="0"/>
          </a:p>
        </p:txBody>
      </p:sp>
      <p:sp>
        <p:nvSpPr>
          <p:cNvPr id="17" name="Text 15"/>
          <p:cNvSpPr/>
          <p:nvPr/>
        </p:nvSpPr>
        <p:spPr>
          <a:xfrm>
            <a:off x="457200" y="6492240"/>
            <a:ext cx="64008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Annexe F — Technologies</a:t>
            </a:r>
            <a:endParaRPr lang="en-US" sz="900" dirty="0"/>
          </a:p>
        </p:txBody>
      </p:sp>
      <p:sp>
        <p:nvSpPr>
          <p:cNvPr id="18" name="Text 16"/>
          <p:cNvSpPr/>
          <p:nvPr/>
        </p:nvSpPr>
        <p:spPr>
          <a:xfrm>
            <a:off x="8991295" y="6492240"/>
            <a:ext cx="201168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CAMTEL-OnePortal</a:t>
            </a:r>
            <a:endParaRPr lang="en-US" sz="900" dirty="0"/>
          </a:p>
        </p:txBody>
      </p:sp>
      <p:sp>
        <p:nvSpPr>
          <p:cNvPr id="19" name="Text 17"/>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2026-09-01T08:52:42Z</dcterms:created>
  <dcterms:modified xsi:type="dcterms:W3CDTF">2026-09-01T08:52:42Z</dcterms:modified>
</cp:coreProperties>
</file>